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 are Ordinal: Mehul Arora, who leads, and Jayadratha. Our product is Kirchhoff.</a:t>
            </a:r>
          </a:p>
          <a:p/>
          <a:p>
            <a:r>
              <a:t>The problem has three parts. First, AI halls couple two disciplines that are usually designed apart: the electrical chain and the liquid-cooling loop. Racks now run far denser than older halls; Vertiv's own reference designs span 20 to 142 kW per rack.² Our sample hall runs 132 kW per rack. Second, the supply chain now shapes the design. Transformer lead times are long enough that Hitachi's standardisation push talks about getting them down to "as little as 12 months".³ A design that specifies equipment nobody can deliver is a design you redo. Third, the people who do this work are scarce, and Hitachi's HMAX Energy launch names workforce shortages directly.⁴</a:t>
            </a:r>
          </a:p>
          <a:p/>
          <a:p>
            <a:r>
              <a:t>AI can draft, but engineers don't trust it, and they are right not to. Only 6% trust AI results without verification and 89% check by hand.¹ When six AI models were asked for one pump station's heating load, they answered anywhere from 25 to 150 MBH.⁵ A general-purpose model reported a voltage drop as 5% when it was 1.76%.⁶ The question has moved from "Should I use AI?" to "How do we control it?"⁷</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Kirchhoff turns weeks of scarce senior-engineer work into one reviewed, signed design session.</a:t>
            </a:r>
          </a:p>
          <a:p/>
          <a:p>
            <a:r>
              <a:t>Meet Priya, our persona: lead electrical engineer at a data-centre EPC contractor, with a small team and several hall packages due this month. Today she drafts. With Kirchhoff she reviews.</a:t>
            </a:r>
          </a:p>
          <a:p/>
          <a:p>
            <a:r>
              <a:t>Here is the flow. Gemini agents read the tender, cite every requirement, and flag where the client contradicts itself. They lay out 48 racks of 132 kW in a 60 × 36 m hall, then design the 2N power chain and the liquid-cooling loop together. Procurement reads the ERP, and when a transformer can't ship in time, the engine swaps it for one that can. A deterministic checker, with no LLM in the verdict path, runs the clause-cited rule pack. The agents fix what fails, and the engineer signs. Approval raises purchase requisitions in the ERP and moves the deal in the CRM.</a:t>
            </a:r>
          </a:p>
          <a:p/>
          <a:p>
            <a:r>
              <a:t>This maps onto the theme. Knowledge: every number links to its tender sentence and its clause. Collaboration: humans and agents share one workspace. Decisions: costed options and what-ifs come before you commit. Workflow: the path runs from tender PDF to signed revision to purchase requisitions to the CRM update. In short, one senior engineer supervises a team of design agents.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market is moving fast. Endra raised $50M in June 2026, and the press framed the round as data-centre design automation.⁸ Its Power Studio circuits a whole building in about a second (spec, from the team's competitor research). Yet its violation flags are generic, it cites no clauses, it checks itself, and no Endra demo shows busways, CDUs or 2N topologies. ArchiLabs pairs web CAD and agentic chat with data-centre layouts and SLDs, but no public video shows calculation depth.⁹ Augmenta routes conduit, and data centres are its most common project type, but runs take 26 minutes to 12 hours and it doesn't cite the code.¹⁰ ETAP's 2026 copilot runs studies from chat inside a dense desktop app.¹¹</a:t>
            </a:r>
          </a:p>
          <a:p/>
          <a:p>
            <a:r>
              <a:t>We compete on three things nobody shows publicly:</a:t>
            </a:r>
          </a:p>
          <a:p>
            <a:r>
              <a:t>1. An independent checker that cites clauses. The checker is deterministic code, separate from the agents that design, so the AI can't mark its own homework. Every finding carries its rule, its tender clause, its formula and inputs, and its value against its limit.</a:t>
            </a:r>
          </a:p>
          <a:p>
            <a:r>
              <a:t>2. Power and cooling in one model. The checker catches coolant piping routed above a live busway feeder, a clash no single-discipline tool sees.</a:t>
            </a:r>
          </a:p>
          <a:p>
            <a:r>
              <a:t>3. Design around what can ship. Lead time is a checked rule (R15) fed by ERP data. Speed-to-power needs speed-to-design.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 Intake. Gemini reads the tender PDF natively. A requirement is accepted only if pdfplumber finds its quote on the cited page. Intake also flags contradictions, such as §4.2 "2N" against Appendix B "block or distributed redundancy acceptable". Gemini reads the drawing, and the engine cross-checks it against the DXF.</a:t>
            </a:r>
          </a:p>
          <a:p>
            <a:r>
              <a:t>- Gates and autonomy. Each run passes three gates: plan, option and review (spec). In Ask mode the engineer decides at every gate. In Auto, the tender's main clauses decide, but the review gate always waits for a human.</a:t>
            </a:r>
          </a:p>
          <a:p>
            <a:r>
              <a:t>- Design. Layout places racks. Power offers three costed topologies: 2N, distributed redundant and block redundant (spec). Cooling sizes CDUs, hydraulic zones and pipes. In the sample hall, the 2N transformers run at 47.97% normal and 95.95% in N-1, against R01's limits of 80% normal and 100% N-1 (spec, tender §4.3). The design uses 9 CDUs of 1.2 MW.</a:t>
            </a:r>
          </a:p>
          <a:p>
            <a:r>
              <a:t>- Checker. The checker runs the R01–R15 and R04b rule pack. Each finding shows its rule, clause chip, tender chip, formula, and a value-against-limit bar. The engine offers a fix only after re-running the full rule pack on it, and the owning agent then chooses on cost and margin.</a:t>
            </a:r>
          </a:p>
          <a:p>
            <a:r>
              <a:t>- Lead-time redesign. The ERP shows the 2.5 MVA transformer with 0 in stock and a 98-week lead time, against the tender's 26-week limit. The engine swaps to a 3.15 MVA unit, with 6 in stock, and re-checks the fault level.</a:t>
            </a:r>
          </a:p>
          <a:p>
            <a:r>
              <a:t>- What-if. Change rack kW, liquid fraction, the ΔV limit or the loading cap. The engine reruns every rule without saving and draws the impact chain across both disciplines.</a:t>
            </a:r>
          </a:p>
          <a:p>
            <a:r>
              <a:t>- Voice. Gemini Live can call what_if, explain_finding and focus_element. If Live can't connect, push-to-talk takes over.</a:t>
            </a:r>
          </a:p>
          <a:p>
            <a:r>
              <a:t>- Review. The review page shows the diff, the assumptions ledger (including what we don't check), and the findings summary. Approval stamps name, role, time and revision hash.</a:t>
            </a:r>
          </a:p>
          <a:p>
            <a:r>
              <a:t>- Handoff. Approval raises purchase requisitions in the ERP sandbox, re-checks that SLD, BOQ and PR lines agree (R12), and moves the CRM opportunity. Exports cover a PDF calc report and a BOQ CSV.</a:t>
            </a:r>
          </a:p>
          <a:p>
            <a:r>
              <a:t>- Asset packs. The Grid pack covers a 132 kV line. The Solar pack lays out a PV field. Both reuse the same shell and checker.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run has four phases (spec).</a:t>
            </a:r>
          </a:p>
          <a:p/>
          <a:p>
            <a:r>
              <a:t>1. P1: Intake and Orchestrator. Agents extract requirements and open questions. At the plan gate the engineer approves the plan, or Auto resolves it: a numbered clause beats an appendix, so the run proceeds as 2N.</a:t>
            </a:r>
          </a:p>
          <a:p>
            <a:r>
              <a:t>2. P2: design. Layout places the racks. Power and Cooling then work in parallel. Procurement annotates the options with ERP lead times and applies the deterministic in-stock swap, and Power re-checks the fault level. At the option gate the engineer picks a topology.</a:t>
            </a:r>
          </a:p>
          <a:p>
            <a:r>
              <a:t>3. P3: route and check. Layout routes the busways and Cooling routes the pipes. The engine derives the BOQ and draft PR lines, and the checker runs. The owning agents fix what fails, for at most 2 iterations (spec), and the checker re-runs after each. The run stops at the review gate, which is always human.</a:t>
            </a:r>
          </a:p>
          <a:p>
            <a:r>
              <a:t>4. P4: handoff. On approval, PRs go to the ERP, R12 re-checks them against the SLD and BOQ, the CRM stage moves, and an audit entry is written.</a:t>
            </a:r>
          </a:p>
          <a:p/>
          <a:p>
            <a:r>
              <a:t>Each phase runs in the background on Cloud Run and streams through Firestore, so you watch the agents work live.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slide shows our trust model as the engineer sees it.</a:t>
            </a:r>
          </a:p>
          <a:p/>
          <a:p>
            <a:r>
              <a:t>- Numbers. Every number on screen comes from the engine, which is pure Python with no LLM calls.</a:t>
            </a:r>
          </a:p>
          <a:p>
            <a:r>
              <a:t>- Citations. Gemini returns a page, a verbatim quote and a value. We accept the requirement only if pdfplumber finds that quote on that page and the quote contains the value. Clicking the chip opens the PDF at the highlighted box.</a:t>
            </a:r>
          </a:p>
          <a:p>
            <a:r>
              <a:t>- Digit filter. LLM text may contain digits only through placeholders that the engine fills, or through allowlisted ids such as FA-01, R11, §4.6 or 2N. Any other digit replaces the sentence with a template. A model can't invent a number on our screen.</a:t>
            </a:r>
          </a:p>
          <a:p>
            <a:r>
              <a:t>- Ledger. Agents log the assumptions they make, and the ledger also lists what v0.1 does not check: earth-fault loop impedance, selectivity, arc flash and harmonics, for example.</a:t>
            </a:r>
          </a:p>
          <a:p>
            <a:r>
              <a:t>- Accountability. An agent can't be held accountable, so only the engineer approves, and the stamp records name, role, time and the SHA-256 revision hash.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Read it left to right.</a:t>
            </a:r>
          </a:p>
          <a:p/>
          <a:p>
            <a:r>
              <a:t>- Browser. A React 19 app runs on Firebase Hosting. The demo world is static JSON, so browsing works even with the backend down. Anonymous Firebase Auth gives each visitor a private workspace, and App Check attests the app. The client reads Firestore through live listeners and never writes to it. Voice goes through Firebase AI Logic to the Gemini Live native-audio model in us-central1, and its tool calls come back to our API.</a:t>
            </a:r>
          </a:p>
          <a:p>
            <a:r>
              <a:t>- kirchhoff-api on Cloud Run (public, behind the Hosting rewrite). FastAPI verifies the Firebase ID token, the App Check token and workspace ownership on every call. ADK 2.x agents (LlmAgent + function tools) run on Gemini 3.8 Flash through Vertex AI (global), with structured outputs and function calling. The tools call kirchhoff_engine, which uses pandapower for IEC 60909 short circuit, shapely for geometry and ezdxf for drawings, plus the rule pack. That box is the trust boundary: no LLM inside.</a:t>
            </a:r>
          </a:p>
          <a:p>
            <a:r>
              <a:t>- Firestore holds run state, leases, the live event stream, revisions, findings, approvals and the sandbox seed. Cloud Storage holds tenders, drawings and exports, served through signed URLs.</a:t>
            </a:r>
          </a:p>
          <a:p>
            <a:r>
              <a:t>- kirchhoff-enterprise on Cloud Run (private). The ERP and CRM sandbox runs from the same image. Only our dedicated, least-privilege service account can invoke it, using a Google ID token.</a:t>
            </a:r>
          </a:p>
          <a:p>
            <a:r>
              <a:t>- Cloud Build builds one image that deploys as both services.</a:t>
            </a:r>
          </a:p>
          <a:p/>
          <a:p>
            <a:r>
              <a:t>We chose Cloud Run over a managed agent runtime because the engine needs native scientific Python and runs execute as long background phases.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Every Google service in this list carries load.</a:t>
            </a:r>
          </a:p>
          <a:p/>
          <a:p>
            <a:r>
              <a:t>- Gemini does the reading, the citations, the planning, the choices with reasons, the explanations and the voice.</a:t>
            </a:r>
          </a:p>
          <a:p>
            <a:r>
              <a:t>- ADK agents call engine tools; the run orchestrator orders the phases, the gates and the fix loop.</a:t>
            </a:r>
          </a:p>
          <a:p>
            <a:r>
              <a:t>- Cloud Run hosts the agent and engine API and the private enterprise sandbox.</a:t>
            </a:r>
          </a:p>
          <a:p>
            <a:r>
              <a:t>- Firestore is the live event bus and the audit trail.</a:t>
            </a:r>
          </a:p>
          <a:p>
            <a:r>
              <a:t>- Firebase serves the app, gives every visitor an anonymous workspace, attests requests with App Check, and connects the browser to Gemini Live.</a:t>
            </a:r>
          </a:p>
          <a:p/>
          <a:p>
            <a:r>
              <a:t>The engine stands on open-source physics. pandapower runs IEC 60909 short circuit, shapely handles clash and clearance geometry, ezdxf reads the hall DXF, and pdfplumber verifies quotes. The interface uses React Flow with ELK layout for the single-line diagram and react-three-fiber for the 3D hall.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Cost. The prototype runs on one warm API instance with no CPU throttling, scaling to a maximum of 3 (spec). The enterprise sandbox is a second small service. Gemini 3.8 Flash costs $0.75 per million input tokens and $3.75 per million output tokens through 31 December 2026, and the price doubles from 1 January 2027.¹² The engine does the heavy work without tokens. A what-if runs in about 8 ms and makes no LLM call. Budget alerts fire at 50% and 90% (spec). Measured on a live run, 15 Oct 2026: a full P1→P4 run on Vertex AI took 176.5 s and used 10,432 input tokens and 12,991 output tokens, about $0.057 per design at $0.75 per million input and $3.75 per million output tokens. The golden capture may replace this figure.</a:t>
            </a:r>
          </a:p>
          <a:p/>
          <a:p>
            <a:r>
              <a:t>Business model (proposed). We sell to data-centre EPC contractors and design consultancies, where the buyer is the engineering lead whose senior hours are the bottleneck. Design teams pay per seat. The enterprise tier adds real ERP and CRM connectors on the same API contract our sandbox uses today, and later an on-prem model option. We start with design partners before setting public prices.</a:t>
            </a:r>
          </a:p>
          <a:p/>
          <a:p>
            <a:r>
              <a:t>Enterprise integration. Kirchhoff already talks to an ERP and a CRM through APIs: a separate private Cloud Run service seeded with 60 materials, 9 CRM opportunities and 3 historical PRs. Approval raises purchase requisitions, re-checks them against the SLD and BOQ, and moves the opportunity to "Design approved". Swapping the sandbox for SAP or Salesforce changes the adapter, not the workflow.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These come from the live product at kirchhoff.web.app. Every company and person in the demo world is fictional.</a:t>
            </a:r>
          </a:p>
          <a:p/>
          <a:p>
            <a:r>
              <a:t>1. The projects dashboard for Meridian Power Engineering, a fictional EPC firm, with data-hall, grid and solar projects in different states.</a:t>
            </a:r>
          </a:p>
          <a:p>
            <a:r>
              <a:t>2. Agent lanes during a live Hall B run. The footage is time-compressed and carries an elapsed-time clock.</a:t>
            </a:r>
          </a:p>
          <a:p>
            <a:r>
              <a:t>3. The finding drawer for R11. Header H-Z2 runs above feeder FB-03 at y ≈ 24 m, breaking tender §6.3.4. The engine offers two verified fixes: a local drop (+$420, 1 pipe changed) or a reroute (−$910, 2 pipes changed).</a:t>
            </a:r>
          </a:p>
          <a:p>
            <a:r>
              <a:t>4. Option cards after the R15 swap. The 2.5 MVA unit has 0 in stock and a 98-week lead time, so the engine picks the 3.15 MVA unit, with 6 in stock, which runs at 38.07% normal and 76.15% in N-1. The fault level moves from 60.45 to 65.42 kA and is re-checked.</a:t>
            </a:r>
          </a:p>
          <a:p>
            <a:r>
              <a:t>5. The what-if at 200 kW per rack. R01 fails at 113.6%, R02 at 2,343 A, and R08 at 2,560 kW against 2,400 kW; R03, R05, R07 and R09 also fail. That is 60 findings in 18 impact chains.</a:t>
            </a:r>
          </a:p>
          <a:p>
            <a:r>
              <a:t>6. The review page with the diff, the assumptions ledger and the approval stamp.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What we measured on 14 Oct.</a:t>
            </a:r>
          </a:p>
          <a:p>
            <a:r>
              <a:t>- Checker benchmark. We seeded 35 mutations into the design, covering the rule pack. The checker caught all 35, with zero false positives.</a:t>
            </a:r>
          </a:p>
          <a:p>
            <a:r>
              <a:t>- First pass on the golden 2N design. It produced 149 findings: 147 pass and 2 fail. Feeder FA-01 (82 m) drops 2.16% against the 2.0% limit (R05). The fixes are a 2,000 A busway (1.66%, +$11,480) or a parallel cable (0.84%, +$15,580). Header H-Z2 runs above FB-03 (R11). The fixes are a local drop (+$420) or a reroute (−$910).</a:t>
            </a:r>
          </a:p>
          <a:p>
            <a:r>
              <a:t>- What-if at 200 kW per rack. Seven rules fail, producing 60 findings in 18 impact chains, in about 8 ms after warm-up.</a:t>
            </a:r>
          </a:p>
          <a:p>
            <a:r>
              <a:t>- Determinism. Output is byte-identical across Python hash seeds, so the same design always gives the same verdict.</a:t>
            </a:r>
          </a:p>
          <a:p>
            <a:r>
              <a:t>- Business result in the sandbox. A 98-week transformer becomes a 3.15 MVA unit shipped from stock, at 38.07% / 76.15% loading.</a:t>
            </a:r>
          </a:p>
          <a:p/>
          <a:p>
            <a:r>
              <a:t>Impact estimate, labelled as an estimate. We estimate about 10 engineer-hours saved per design-change iteration. The basis is the industry's own figure for reworking a design change by hand: "10+ hours", from Endra's September 2026 launch demo.¹³ That figure is unaudited and comes from commercial buildings.¹⁴ Kirchhoff re-checks every rule in milliseconds, and the engineer's time goes to review rather than recalculation. The spec's first-design baseline is 4–8 weeks for a first coordinated electrical package (spec; [TBD: source citation]). Kirchhoff produces a checked concept design, not construction drawings, so the honest comparison is first checked concept against first concept. [TBD: measured time from upload to a checker-clean revision, median of 5 live runs, excluding time at human gates (spec §4, metric 1).] Measured on a live intake run on Vertex AI, 15 Oct 2026: requirement recall 0.84 against our hand-labelled ground truth for the Hall A tender, with 27 of 28 extracted quotes verified word for word against the tender PDF; the one unverified quote was shown as unverified, never as fact.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Asset packs today. Both packs reuse the shell, the checker and the finding drawer, run by one Asset agent.</a:t>
            </a:r>
          </a:p>
          <a:p>
            <a:r>
              <a:t>- Grid. A 132 kV double-circuit line of about 18 km (spec) to the campus substation. It compares three ACSR conductors (spec) on ampacity, voltage regulation and I²R losses, and computes the fault level at the connection.</a:t>
            </a:r>
          </a:p>
          <a:p>
            <a:r>
              <a:t>- Solar. A ground-mount field next to the hall. The engine recommends string option STR-28: 327 tables, about 5,036 kWp, DC/AC ratio 1.26. Its clear-sky yield is about 2,639 kWh/kWp, a clear-sky figure only, with no weather losses.</a:t>
            </a:r>
          </a:p>
          <a:p/>
          <a:p>
            <a:r>
              <a:t>Roadmap. We cut these from the hackathon build, and they come next: real ERP and CRM connectors, Revit/IFC round-trip, PLM integration, 800 VDC architectures, auto-layout from messy drawings, Gemma on-prem, live multi-user presence, and drawing render review.</a:t>
            </a:r>
          </a:p>
          <a:p/>
          <a:p>
            <a:r>
              <a:t>Smart engineering (Hitachi-relevant). Hitachi's Smart Engineering track asks for solutions that "connect engineering data across the product lifecycle, automate the processing of legacy documents and requirements, and speed up design with AI agents".¹⁵ Kirchhoff already links tender clauses to design, checks, purchase requisitions and CRM in one audited thread. Hitachi Energy is designing an 800 VDC grid-to-rack system with NVIDIA.¹⁶ An 800 VDC topology pack and the Grid pack extend that thread from the substation to the rack.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live URL opens on a landing page with one primary button. The welcome screen offers a short guided tour. To see a live run, open Hall B and choose "Run it live", or replay a recorded run. The repository README has the architecture, the trust model and the local quick start.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Mehul Arora built Kirchhoff's agent layer, its deterministic engine and the web app. He builds production multi-agent LLM systems on Gemini, Google ADK and Cloud Run, and earlier did graph neural network research for his MS by Research at IIIT Hyderabad and data science on US power-market datasets. Jayadratha Gayen built the bids inbox, the asset agent and the end-to-end test suite, and ran Kirchhoff's cloud deployments and golden capture. He is a graph neural networks researcher and previously worked at Vikram Solar, bringing solar and energy-sector experience. We built Kirchhoff from scratch during the hackathon window, on Google Cloud end to end.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Thank you. Try it at kirchhoff.web.app; there's no login, and a guided tour walks you through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1.png"/><Relationship Id="rId6"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10.png"/><Relationship Id="rId10"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0.png"/><Relationship Id="rId6" Type="http://schemas.openxmlformats.org/officeDocument/2006/relationships/hyperlink" Target="https://github.com/mehular0ra/kirchhoff" TargetMode="External"/><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hyperlink" Target="https://kirchhoff.web.app" TargetMode="External"/><Relationship Id="rId11"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5.jpg"/><Relationship Id="rId6" Type="http://schemas.openxmlformats.org/officeDocument/2006/relationships/image" Target="../media/image3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kirchhoff.web.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304" y="2798064"/>
            <a:ext cx="5486400" cy="197510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500"/>
              </a:spcAft>
              <a:buNone/>
            </a:pPr>
            <a:r>
              <a:rPr lang="en-GB" sz="1800">
                <a:latin typeface="Google Sans Flex SemiBold"/>
                <a:ea typeface="Google Sans Flex SemiBold"/>
                <a:cs typeface="Google Sans Flex SemiBold"/>
                <a:sym typeface="Google Sans Flex SemiBold"/>
              </a:rPr>
              <a:t>Team Details</a:t>
            </a:r>
            <a:endParaRPr sz="1800">
              <a:latin typeface="Google Sans Flex SemiBold"/>
              <a:ea typeface="Google Sans Flex SemiBold"/>
              <a:cs typeface="Google Sans Flex SemiBold"/>
              <a:sym typeface="Google Sans Flex SemiBold"/>
            </a:endParaRPr>
          </a:p>
          <a:p>
            <a:pPr indent="-246888" lvl="1" marL="457200" rtl="0" algn="l">
              <a:spcBef>
                <a:spcPts val="0"/>
              </a:spcBef>
              <a:spcAft>
                <a:spcPts val="300"/>
              </a:spcAft>
              <a:buSzPts val="1250"/>
              <a:buFont typeface="Google Sans Flex"/>
              <a:buAutoNum type="alphaLcPeriod"/>
            </a:pPr>
            <a:r>
              <a:rPr lang="en-GB" sz="1250">
                <a:latin typeface="Google Sans Flex Medium"/>
                <a:ea typeface="Google Sans Flex Medium"/>
                <a:cs typeface="Google Sans Flex Medium"/>
                <a:sym typeface="Google Sans Flex Medium"/>
              </a:rPr>
              <a:t>Team name: </a:t>
            </a:r>
            <a:r>
              <a:rPr sz="1250" lang="en-GB">
                <a:solidFill>
                  <a:srgbClr val="202124"/>
                </a:solidFill>
                <a:latin typeface="Google Sans Flex SemiBold"/>
              </a:rPr>
              <a:t>Ordinal</a:t>
            </a:r>
            <a:endParaRPr sz="1250">
              <a:latin typeface="Google Sans Flex"/>
              <a:ea typeface="Google Sans Flex"/>
              <a:cs typeface="Google Sans Flex"/>
              <a:sym typeface="Google Sans Flex"/>
            </a:endParaRPr>
          </a:p>
          <a:p>
            <a:pPr indent="-246888" lvl="1" marL="457200" rtl="0" algn="l">
              <a:spcBef>
                <a:spcPts val="0"/>
              </a:spcBef>
              <a:spcAft>
                <a:spcPts val="300"/>
              </a:spcAft>
              <a:buSzPts val="1250"/>
              <a:buFont typeface="Google Sans Flex"/>
              <a:buAutoNum type="alphaLcPeriod"/>
            </a:pPr>
            <a:r>
              <a:rPr lang="en-GB" sz="1250">
                <a:latin typeface="Google Sans Flex Medium"/>
                <a:ea typeface="Google Sans Flex Medium"/>
                <a:cs typeface="Google Sans Flex Medium"/>
                <a:sym typeface="Google Sans Flex Medium"/>
              </a:rPr>
              <a:t>Team leader name: </a:t>
            </a:r>
            <a:r>
              <a:rPr sz="1250" lang="en-GB">
                <a:solidFill>
                  <a:srgbClr val="202124"/>
                </a:solidFill>
                <a:latin typeface="Google Sans Flex SemiBold"/>
              </a:rPr>
              <a:t>Mehul Arora (with Jayadratha)</a:t>
            </a:r>
            <a:endParaRPr sz="1250">
              <a:latin typeface="Google Sans Flex"/>
              <a:ea typeface="Google Sans Flex"/>
              <a:cs typeface="Google Sans Flex"/>
              <a:sym typeface="Google Sans Flex"/>
            </a:endParaRPr>
          </a:p>
          <a:p>
            <a:pPr indent="-246888" lvl="1" marL="457200" rtl="0" algn="l">
              <a:spcBef>
                <a:spcPts val="0"/>
              </a:spcBef>
              <a:spcAft>
                <a:spcPts val="300"/>
              </a:spcAft>
              <a:buSzPts val="1250"/>
              <a:buFont typeface="Google Sans Flex"/>
              <a:buAutoNum type="alphaLcPeriod"/>
            </a:pPr>
            <a:r>
              <a:rPr lang="en-GB" sz="1250">
                <a:latin typeface="Google Sans Flex Medium"/>
                <a:ea typeface="Google Sans Flex Medium"/>
                <a:cs typeface="Google Sans Flex Medium"/>
                <a:sym typeface="Google Sans Flex Medium"/>
              </a:rPr>
              <a:t>Problem Statement: </a:t>
            </a:r>
            <a:r>
              <a:rPr sz="1250" lang="en-GB">
                <a:solidFill>
                  <a:srgbClr val="3C4043"/>
                </a:solidFill>
                <a:latin typeface="Google Sans Flex"/>
              </a:rPr>
              <a:t>AI data halls need power and liquid cooling designed together, around equipment that can actually ship, by senior engineers in short supply. And only 6% of engineers trust AI results without checking.¹</a:t>
            </a:r>
            <a:endParaRPr sz="1250">
              <a:latin typeface="Google Sans Flex"/>
              <a:ea typeface="Google Sans Flex"/>
              <a:cs typeface="Google Sans Flex"/>
              <a:sym typeface="Google Sans Flex"/>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cxnSp>
        <p:nvCxnSpPr>
          <p:cNvPr id="57" name="divider"/>
          <p:cNvCxnSpPr/>
          <p:nvPr/>
        </p:nvCxnSpPr>
        <p:spPr>
          <a:xfrm>
            <a:off x="5870448" y="3017520"/>
            <a:ext cx="0" cy="1627632"/>
          </a:xfrm>
          <a:prstGeom prst="line">
            <a:avLst/>
          </a:prstGeom>
          <a:ln w="9525">
            <a:solidFill>
              <a:srgbClr val="DADCE0"/>
            </a:solidFill>
          </a:ln>
        </p:spPr>
      </p:cxnSp>
      <p:sp>
        <p:nvSpPr>
          <p:cNvPr id="58" name="wordmark"/>
          <p:cNvSpPr txBox="1"/>
          <p:nvPr/>
        </p:nvSpPr>
        <p:spPr>
          <a:xfrm>
            <a:off x="6144768" y="2926080"/>
            <a:ext cx="2651760" cy="502920"/>
          </a:xfrm>
          <a:prstGeom prst="rect">
            <a:avLst/>
          </a:prstGeom>
          <a:noFill/>
        </p:spPr>
        <p:txBody>
          <a:bodyPr wrap="square" lIns="0" tIns="0" rIns="0" bIns="0" anchor="b">
            <a:noAutofit/>
          </a:bodyPr>
          <a:lstStyle/>
          <a:p>
            <a:pPr algn="l" marL="0" indent="0">
              <a:lnSpc>
                <a:spcPct val="100000"/>
              </a:lnSpc>
              <a:buNone/>
            </a:pPr>
            <a:r>
              <a:rPr sz="3000" b="0" lang="en-GB">
                <a:solidFill>
                  <a:srgbClr val="202124"/>
                </a:solidFill>
                <a:latin typeface="Google Sans Flex SemiBold"/>
              </a:rPr>
              <a:t>Kirchhoff</a:t>
            </a:r>
          </a:p>
        </p:txBody>
      </p:sp>
      <p:sp>
        <p:nvSpPr>
          <p:cNvPr id="59" name="by line"/>
          <p:cNvSpPr txBox="1"/>
          <p:nvPr/>
        </p:nvSpPr>
        <p:spPr>
          <a:xfrm>
            <a:off x="6163056" y="3456432"/>
            <a:ext cx="2651760" cy="228600"/>
          </a:xfrm>
          <a:prstGeom prst="rect">
            <a:avLst/>
          </a:prstGeom>
          <a:noFill/>
        </p:spPr>
        <p:txBody>
          <a:bodyPr wrap="square" lIns="0" tIns="0" rIns="0" bIns="0" anchor="t">
            <a:noAutofit/>
          </a:bodyPr>
          <a:lstStyle/>
          <a:p>
            <a:pPr algn="l" marL="0" indent="0">
              <a:lnSpc>
                <a:spcPct val="100000"/>
              </a:lnSpc>
              <a:buNone/>
            </a:pPr>
            <a:r>
              <a:rPr sz="1100" b="0" lang="en-GB">
                <a:solidFill>
                  <a:srgbClr val="5F6368"/>
                </a:solidFill>
                <a:latin typeface="Google Sans Flex"/>
              </a:rPr>
              <a:t>by Ordinal</a:t>
            </a:r>
          </a:p>
        </p:txBody>
      </p:sp>
      <p:sp>
        <p:nvSpPr>
          <p:cNvPr id="60" name="tagline dot"/>
          <p:cNvSpPr/>
          <p:nvPr/>
        </p:nvSpPr>
        <p:spPr>
          <a:xfrm>
            <a:off x="6172200" y="3918204"/>
            <a:ext cx="82296" cy="82296"/>
          </a:xfrm>
          <a:prstGeom prst="ellipse">
            <a:avLst/>
          </a:prstGeom>
          <a:solidFill>
            <a:srgbClr val="1A73E8"/>
          </a:solidFill>
          <a:ln>
            <a:noFill/>
          </a:ln>
        </p:spPr>
        <p:txBody>
          <a:bodyPr rtlCol="0" anchor="ctr" lIns="0" rIns="0" tIns="0" bIns="0"/>
          <a:lstStyle/>
          <a:p>
            <a:pPr algn="ctr"/>
          </a:p>
        </p:txBody>
      </p:sp>
      <p:sp>
        <p:nvSpPr>
          <p:cNvPr id="61" name="tagline"/>
          <p:cNvSpPr txBox="1"/>
          <p:nvPr/>
        </p:nvSpPr>
        <p:spPr>
          <a:xfrm>
            <a:off x="6355080" y="3840480"/>
            <a:ext cx="2468880" cy="246888"/>
          </a:xfrm>
          <a:prstGeom prst="rect">
            <a:avLst/>
          </a:prstGeom>
          <a:noFill/>
        </p:spPr>
        <p:txBody>
          <a:bodyPr wrap="square" lIns="0" tIns="0" rIns="0" bIns="0" anchor="ctr">
            <a:noAutofit/>
          </a:bodyPr>
          <a:lstStyle/>
          <a:p>
            <a:pPr algn="l" marL="0" indent="0">
              <a:lnSpc>
                <a:spcPct val="100000"/>
              </a:lnSpc>
              <a:buNone/>
            </a:pPr>
            <a:r>
              <a:rPr sz="1300" b="0" lang="en-GB">
                <a:solidFill>
                  <a:srgbClr val="3C4043"/>
                </a:solidFill>
                <a:latin typeface="Google Sans Flex Medium"/>
              </a:rPr>
              <a:t>AI designs.</a:t>
            </a:r>
          </a:p>
        </p:txBody>
      </p:sp>
      <p:sp>
        <p:nvSpPr>
          <p:cNvPr id="62" name="tagline dot"/>
          <p:cNvSpPr/>
          <p:nvPr/>
        </p:nvSpPr>
        <p:spPr>
          <a:xfrm>
            <a:off x="6172200" y="4183380"/>
            <a:ext cx="82296" cy="82296"/>
          </a:xfrm>
          <a:prstGeom prst="ellipse">
            <a:avLst/>
          </a:prstGeom>
          <a:solidFill>
            <a:srgbClr val="188038"/>
          </a:solidFill>
          <a:ln>
            <a:noFill/>
          </a:ln>
        </p:spPr>
        <p:txBody>
          <a:bodyPr rtlCol="0" anchor="ctr" lIns="0" rIns="0" tIns="0" bIns="0"/>
          <a:lstStyle/>
          <a:p>
            <a:pPr algn="ctr"/>
          </a:p>
        </p:txBody>
      </p:sp>
      <p:sp>
        <p:nvSpPr>
          <p:cNvPr id="63" name="tagline"/>
          <p:cNvSpPr txBox="1"/>
          <p:nvPr/>
        </p:nvSpPr>
        <p:spPr>
          <a:xfrm>
            <a:off x="6355080" y="4105656"/>
            <a:ext cx="2468880" cy="246888"/>
          </a:xfrm>
          <a:prstGeom prst="rect">
            <a:avLst/>
          </a:prstGeom>
          <a:noFill/>
        </p:spPr>
        <p:txBody>
          <a:bodyPr wrap="square" lIns="0" tIns="0" rIns="0" bIns="0" anchor="ctr">
            <a:noAutofit/>
          </a:bodyPr>
          <a:lstStyle/>
          <a:p>
            <a:pPr algn="l" marL="0" indent="0">
              <a:lnSpc>
                <a:spcPct val="100000"/>
              </a:lnSpc>
              <a:buNone/>
            </a:pPr>
            <a:r>
              <a:rPr sz="1300" b="0" lang="en-GB">
                <a:solidFill>
                  <a:srgbClr val="3C4043"/>
                </a:solidFill>
                <a:latin typeface="Google Sans Flex Medium"/>
              </a:rPr>
              <a:t>Physics checks.</a:t>
            </a:r>
          </a:p>
        </p:txBody>
      </p:sp>
      <p:sp>
        <p:nvSpPr>
          <p:cNvPr id="64" name="tagline dot"/>
          <p:cNvSpPr/>
          <p:nvPr/>
        </p:nvSpPr>
        <p:spPr>
          <a:xfrm>
            <a:off x="6172200" y="4448556"/>
            <a:ext cx="82296" cy="82296"/>
          </a:xfrm>
          <a:prstGeom prst="ellipse">
            <a:avLst/>
          </a:prstGeom>
          <a:solidFill>
            <a:srgbClr val="202124"/>
          </a:solidFill>
          <a:ln>
            <a:noFill/>
          </a:ln>
        </p:spPr>
        <p:txBody>
          <a:bodyPr rtlCol="0" anchor="ctr" lIns="0" rIns="0" tIns="0" bIns="0"/>
          <a:lstStyle/>
          <a:p>
            <a:pPr algn="ctr"/>
          </a:p>
        </p:txBody>
      </p:sp>
      <p:sp>
        <p:nvSpPr>
          <p:cNvPr id="65" name="tagline"/>
          <p:cNvSpPr txBox="1"/>
          <p:nvPr/>
        </p:nvSpPr>
        <p:spPr>
          <a:xfrm>
            <a:off x="6355080" y="4370832"/>
            <a:ext cx="2468880" cy="246888"/>
          </a:xfrm>
          <a:prstGeom prst="rect">
            <a:avLst/>
          </a:prstGeom>
          <a:noFill/>
        </p:spPr>
        <p:txBody>
          <a:bodyPr wrap="square" lIns="0" tIns="0" rIns="0" bIns="0" anchor="ctr">
            <a:noAutofit/>
          </a:bodyPr>
          <a:lstStyle/>
          <a:p>
            <a:pPr algn="l" marL="0" indent="0">
              <a:lnSpc>
                <a:spcPct val="100000"/>
              </a:lnSpc>
              <a:buNone/>
            </a:pPr>
            <a:r>
              <a:rPr sz="1300" b="0" lang="en-GB">
                <a:solidFill>
                  <a:srgbClr val="3C4043"/>
                </a:solidFill>
                <a:latin typeface="Google Sans Flex Medium"/>
              </a:rPr>
              <a:t>An engineer signs.</a:t>
            </a:r>
          </a:p>
        </p:txBody>
      </p:sp>
      <p:sp>
        <p:nvSpPr>
          <p:cNvPr id="66"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¹ Omni Calculator, AI adoption in engineering.</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headline"/>
          <p:cNvSpPr txBox="1"/>
          <p:nvPr/>
        </p:nvSpPr>
        <p:spPr>
          <a:xfrm>
            <a:off x="356616" y="1170432"/>
            <a:ext cx="3429000" cy="658368"/>
          </a:xfrm>
          <a:prstGeom prst="rect">
            <a:avLst/>
          </a:prstGeom>
          <a:noFill/>
        </p:spPr>
        <p:txBody>
          <a:bodyPr wrap="square" lIns="0" tIns="0" rIns="0" bIns="0" anchor="t">
            <a:noAutofit/>
          </a:bodyPr>
          <a:lstStyle/>
          <a:p>
            <a:pPr algn="l" marL="0" indent="0">
              <a:lnSpc>
                <a:spcPct val="100000"/>
              </a:lnSpc>
              <a:buNone/>
            </a:pPr>
            <a:r>
              <a:rPr sz="1800" b="0" lang="en-GB">
                <a:solidFill>
                  <a:srgbClr val="202124"/>
                </a:solidFill>
                <a:latin typeface="Google Sans Flex Medium"/>
              </a:rPr>
              <a:t>Start with a tender.</a:t>
            </a:r>
          </a:p>
          <a:p>
            <a:pPr algn="l" marL="0" indent="0">
              <a:lnSpc>
                <a:spcPct val="100000"/>
              </a:lnSpc>
              <a:buNone/>
            </a:pPr>
            <a:r>
              <a:rPr sz="1800" b="0" lang="en-GB">
                <a:solidFill>
                  <a:srgbClr val="202124"/>
                </a:solidFill>
                <a:latin typeface="Google Sans Flex Medium"/>
              </a:rPr>
              <a:t>Finish with a signed design.</a:t>
            </a:r>
          </a:p>
        </p:txBody>
      </p:sp>
      <p:sp>
        <p:nvSpPr>
          <p:cNvPr id="73" name="badge sparkles"/>
          <p:cNvSpPr/>
          <p:nvPr/>
        </p:nvSpPr>
        <p:spPr>
          <a:xfrm>
            <a:off x="356616" y="2029968"/>
            <a:ext cx="329184" cy="329184"/>
          </a:xfrm>
          <a:prstGeom prst="ellipse">
            <a:avLst/>
          </a:prstGeom>
          <a:solidFill>
            <a:srgbClr val="F1F3F4"/>
          </a:solidFill>
          <a:ln>
            <a:noFill/>
          </a:ln>
        </p:spPr>
        <p:txBody>
          <a:bodyPr rtlCol="0" anchor="ctr" lIns="0" rIns="0" tIns="0" bIns="0"/>
          <a:lstStyle/>
          <a:p>
            <a:pPr algn="ctr"/>
          </a:p>
        </p:txBody>
      </p:sp>
      <p:pic>
        <p:nvPicPr>
          <p:cNvPr id="74" name="icon sparkles" descr=""/>
          <p:cNvPicPr>
            <a:picLocks noChangeAspect="1"/>
          </p:cNvPicPr>
          <p:nvPr/>
        </p:nvPicPr>
        <p:blipFill>
          <a:blip r:embed="rId4"/>
          <a:stretch>
            <a:fillRect/>
          </a:stretch>
        </p:blipFill>
        <p:spPr>
          <a:xfrm>
            <a:off x="435620" y="2108972"/>
            <a:ext cx="171176" cy="171176"/>
          </a:xfrm>
          <a:prstGeom prst="rect">
            <a:avLst/>
          </a:prstGeom>
        </p:spPr>
      </p:pic>
      <p:sp>
        <p:nvSpPr>
          <p:cNvPr id="75" name="brief row"/>
          <p:cNvSpPr txBox="1"/>
          <p:nvPr/>
        </p:nvSpPr>
        <p:spPr>
          <a:xfrm>
            <a:off x="813816" y="1993392"/>
            <a:ext cx="2971800" cy="420624"/>
          </a:xfrm>
          <a:prstGeom prst="rect">
            <a:avLst/>
          </a:prstGeom>
          <a:noFill/>
        </p:spPr>
        <p:txBody>
          <a:bodyPr wrap="square" lIns="0" tIns="0" rIns="0" bIns="0" anchor="ctr">
            <a:noAutofit/>
          </a:bodyPr>
          <a:lstStyle/>
          <a:p>
            <a:pPr algn="l" marL="0" indent="0">
              <a:lnSpc>
                <a:spcPct val="100000"/>
              </a:lnSpc>
              <a:buNone/>
            </a:pPr>
            <a:r>
              <a:rPr sz="1150" b="0" lang="en-GB">
                <a:solidFill>
                  <a:srgbClr val="3C4043"/>
                </a:solidFill>
                <a:latin typeface="Google Sans Flex"/>
              </a:rPr>
              <a:t>Gemini agents design power and liquid cooling for AI data halls.</a:t>
            </a:r>
          </a:p>
        </p:txBody>
      </p:sp>
      <p:sp>
        <p:nvSpPr>
          <p:cNvPr id="76" name="badge shield-check"/>
          <p:cNvSpPr/>
          <p:nvPr/>
        </p:nvSpPr>
        <p:spPr>
          <a:xfrm>
            <a:off x="356616" y="2596896"/>
            <a:ext cx="329184" cy="329184"/>
          </a:xfrm>
          <a:prstGeom prst="ellipse">
            <a:avLst/>
          </a:prstGeom>
          <a:solidFill>
            <a:srgbClr val="F1F3F4"/>
          </a:solidFill>
          <a:ln>
            <a:noFill/>
          </a:ln>
        </p:spPr>
        <p:txBody>
          <a:bodyPr rtlCol="0" anchor="ctr" lIns="0" rIns="0" tIns="0" bIns="0"/>
          <a:lstStyle/>
          <a:p>
            <a:pPr algn="ctr"/>
          </a:p>
        </p:txBody>
      </p:sp>
      <p:pic>
        <p:nvPicPr>
          <p:cNvPr id="77" name="icon shield-check" descr=""/>
          <p:cNvPicPr>
            <a:picLocks noChangeAspect="1"/>
          </p:cNvPicPr>
          <p:nvPr/>
        </p:nvPicPr>
        <p:blipFill>
          <a:blip r:embed="rId5"/>
          <a:stretch>
            <a:fillRect/>
          </a:stretch>
        </p:blipFill>
        <p:spPr>
          <a:xfrm>
            <a:off x="435620" y="2675900"/>
            <a:ext cx="171176" cy="171176"/>
          </a:xfrm>
          <a:prstGeom prst="rect">
            <a:avLst/>
          </a:prstGeom>
        </p:spPr>
      </p:pic>
      <p:sp>
        <p:nvSpPr>
          <p:cNvPr id="78" name="brief row"/>
          <p:cNvSpPr txBox="1"/>
          <p:nvPr/>
        </p:nvSpPr>
        <p:spPr>
          <a:xfrm>
            <a:off x="813816" y="2560320"/>
            <a:ext cx="2971800" cy="420624"/>
          </a:xfrm>
          <a:prstGeom prst="rect">
            <a:avLst/>
          </a:prstGeom>
          <a:noFill/>
        </p:spPr>
        <p:txBody>
          <a:bodyPr wrap="square" lIns="0" tIns="0" rIns="0" bIns="0" anchor="ctr">
            <a:noAutofit/>
          </a:bodyPr>
          <a:lstStyle/>
          <a:p>
            <a:pPr algn="l" marL="0" indent="0">
              <a:lnSpc>
                <a:spcPct val="100000"/>
              </a:lnSpc>
              <a:buNone/>
            </a:pPr>
            <a:r>
              <a:rPr sz="1150" b="0" lang="en-GB">
                <a:solidFill>
                  <a:srgbClr val="3C4043"/>
                </a:solidFill>
                <a:latin typeface="Google Sans Flex"/>
              </a:rPr>
              <a:t>A deterministic checker proves every number against cited clauses.</a:t>
            </a:r>
          </a:p>
        </p:txBody>
      </p:sp>
      <p:sp>
        <p:nvSpPr>
          <p:cNvPr id="79" name="badge package"/>
          <p:cNvSpPr/>
          <p:nvPr/>
        </p:nvSpPr>
        <p:spPr>
          <a:xfrm>
            <a:off x="356616" y="3163824"/>
            <a:ext cx="329184" cy="329184"/>
          </a:xfrm>
          <a:prstGeom prst="ellipse">
            <a:avLst/>
          </a:prstGeom>
          <a:solidFill>
            <a:srgbClr val="F1F3F4"/>
          </a:solidFill>
          <a:ln>
            <a:noFill/>
          </a:ln>
        </p:spPr>
        <p:txBody>
          <a:bodyPr rtlCol="0" anchor="ctr" lIns="0" rIns="0" tIns="0" bIns="0"/>
          <a:lstStyle/>
          <a:p>
            <a:pPr algn="ctr"/>
          </a:p>
        </p:txBody>
      </p:sp>
      <p:pic>
        <p:nvPicPr>
          <p:cNvPr id="80" name="icon package" descr=""/>
          <p:cNvPicPr>
            <a:picLocks noChangeAspect="1"/>
          </p:cNvPicPr>
          <p:nvPr/>
        </p:nvPicPr>
        <p:blipFill>
          <a:blip r:embed="rId6"/>
          <a:stretch>
            <a:fillRect/>
          </a:stretch>
        </p:blipFill>
        <p:spPr>
          <a:xfrm>
            <a:off x="435620" y="3242828"/>
            <a:ext cx="171176" cy="171176"/>
          </a:xfrm>
          <a:prstGeom prst="rect">
            <a:avLst/>
          </a:prstGeom>
        </p:spPr>
      </p:pic>
      <p:sp>
        <p:nvSpPr>
          <p:cNvPr id="81" name="brief row"/>
          <p:cNvSpPr txBox="1"/>
          <p:nvPr/>
        </p:nvSpPr>
        <p:spPr>
          <a:xfrm>
            <a:off x="813816" y="3127248"/>
            <a:ext cx="2971800" cy="420624"/>
          </a:xfrm>
          <a:prstGeom prst="rect">
            <a:avLst/>
          </a:prstGeom>
          <a:noFill/>
        </p:spPr>
        <p:txBody>
          <a:bodyPr wrap="square" lIns="0" tIns="0" rIns="0" bIns="0" anchor="ctr">
            <a:noAutofit/>
          </a:bodyPr>
          <a:lstStyle/>
          <a:p>
            <a:pPr algn="l" marL="0" indent="0">
              <a:lnSpc>
                <a:spcPct val="100000"/>
              </a:lnSpc>
              <a:buNone/>
            </a:pPr>
            <a:r>
              <a:rPr sz="1150" b="0" lang="en-GB">
                <a:solidFill>
                  <a:srgbClr val="3C4043"/>
                </a:solidFill>
                <a:latin typeface="Google Sans Flex"/>
              </a:rPr>
              <a:t>ERP lead times shape the equipment.</a:t>
            </a:r>
          </a:p>
        </p:txBody>
      </p:sp>
      <p:sp>
        <p:nvSpPr>
          <p:cNvPr id="82" name="badge signature"/>
          <p:cNvSpPr/>
          <p:nvPr/>
        </p:nvSpPr>
        <p:spPr>
          <a:xfrm>
            <a:off x="356616" y="3730752"/>
            <a:ext cx="329184" cy="329184"/>
          </a:xfrm>
          <a:prstGeom prst="ellipse">
            <a:avLst/>
          </a:prstGeom>
          <a:solidFill>
            <a:srgbClr val="F1F3F4"/>
          </a:solidFill>
          <a:ln>
            <a:noFill/>
          </a:ln>
        </p:spPr>
        <p:txBody>
          <a:bodyPr rtlCol="0" anchor="ctr" lIns="0" rIns="0" tIns="0" bIns="0"/>
          <a:lstStyle/>
          <a:p>
            <a:pPr algn="ctr"/>
          </a:p>
        </p:txBody>
      </p:sp>
      <p:pic>
        <p:nvPicPr>
          <p:cNvPr id="83" name="icon signature" descr=""/>
          <p:cNvPicPr>
            <a:picLocks noChangeAspect="1"/>
          </p:cNvPicPr>
          <p:nvPr/>
        </p:nvPicPr>
        <p:blipFill>
          <a:blip r:embed="rId7"/>
          <a:stretch>
            <a:fillRect/>
          </a:stretch>
        </p:blipFill>
        <p:spPr>
          <a:xfrm>
            <a:off x="435620" y="3809756"/>
            <a:ext cx="171176" cy="171176"/>
          </a:xfrm>
          <a:prstGeom prst="rect">
            <a:avLst/>
          </a:prstGeom>
        </p:spPr>
      </p:pic>
      <p:sp>
        <p:nvSpPr>
          <p:cNvPr id="84" name="brief row"/>
          <p:cNvSpPr txBox="1"/>
          <p:nvPr/>
        </p:nvSpPr>
        <p:spPr>
          <a:xfrm>
            <a:off x="813816" y="3694176"/>
            <a:ext cx="2971800" cy="420624"/>
          </a:xfrm>
          <a:prstGeom prst="rect">
            <a:avLst/>
          </a:prstGeom>
          <a:noFill/>
        </p:spPr>
        <p:txBody>
          <a:bodyPr wrap="square" lIns="0" tIns="0" rIns="0" bIns="0" anchor="ctr">
            <a:noAutofit/>
          </a:bodyPr>
          <a:lstStyle/>
          <a:p>
            <a:pPr algn="l" marL="0" indent="0">
              <a:lnSpc>
                <a:spcPct val="100000"/>
              </a:lnSpc>
              <a:buNone/>
            </a:pPr>
            <a:r>
              <a:rPr sz="1150" b="0" lang="en-GB">
                <a:solidFill>
                  <a:srgbClr val="3C4043"/>
                </a:solidFill>
                <a:latin typeface="Google Sans Flex"/>
              </a:rPr>
              <a:t>An engineer signs off.</a:t>
            </a:r>
          </a:p>
        </p:txBody>
      </p:sp>
      <p:sp>
        <p:nvSpPr>
          <p:cNvPr id="85" name="lockup"/>
          <p:cNvSpPr txBox="1"/>
          <p:nvPr/>
        </p:nvSpPr>
        <p:spPr>
          <a:xfrm>
            <a:off x="4041648" y="1133856"/>
            <a:ext cx="4745736" cy="274320"/>
          </a:xfrm>
          <a:prstGeom prst="rect">
            <a:avLst/>
          </a:prstGeom>
          <a:noFill/>
        </p:spPr>
        <p:txBody>
          <a:bodyPr wrap="square" lIns="0" tIns="0" rIns="0" bIns="0" anchor="ctr">
            <a:noAutofit/>
          </a:bodyPr>
          <a:lstStyle/>
          <a:p>
            <a:pPr algn="l" marL="0" indent="0">
              <a:lnSpc>
                <a:spcPct val="100000"/>
              </a:lnSpc>
              <a:buNone/>
            </a:pPr>
            <a:r>
              <a:rPr sz="1100" b="0" lang="en-GB">
                <a:solidFill>
                  <a:srgbClr val="202124"/>
                </a:solidFill>
                <a:latin typeface="Google Sans Flex SemiBold"/>
              </a:rPr>
              <a:t>Kirchhoff</a:t>
            </a:r>
            <a:r>
              <a:rPr sz="1100" b="0" lang="en-GB">
                <a:solidFill>
                  <a:srgbClr val="202124"/>
                </a:solidFill>
                <a:latin typeface="Google Sans Flex"/>
              </a:rPr>
              <a:t>   </a:t>
            </a:r>
            <a:r>
              <a:rPr sz="1100" b="0" lang="en-GB">
                <a:solidFill>
                  <a:srgbClr val="5F6368"/>
                </a:solidFill>
                <a:latin typeface="Google Sans Flex"/>
              </a:rPr>
              <a:t>AI designs. Physics checks. An engineer signs.</a:t>
            </a:r>
          </a:p>
        </p:txBody>
      </p:sp>
      <p:sp>
        <p:nvSpPr>
          <p:cNvPr id="86" name="SHOT placeholder shots/s03-workspace-signed.png"/>
          <p:cNvSpPr/>
          <p:nvPr/>
        </p:nvSpPr>
        <p:spPr>
          <a:xfrm>
            <a:off x="4041648" y="1499616"/>
            <a:ext cx="4745736" cy="2669476"/>
          </a:xfrm>
          <a:prstGeom prst="roundRect">
            <a:avLst>
              <a:gd name="adj" fmla="val 2055"/>
            </a:avLst>
          </a:prstGeom>
          <a:solidFill>
            <a:srgbClr val="FFF4EC"/>
          </a:solidFill>
          <a:ln w="12700">
            <a:solidFill>
              <a:srgbClr val="C2410C"/>
            </a:solidFill>
            <a:prstDash val="dash"/>
          </a:ln>
        </p:spPr>
        <p:txBody>
          <a:bodyPr rtlCol="0" anchor="ctr" lIns="0" rIns="0" tIns="0" bIns="0"/>
          <a:lstStyle/>
          <a:p>
            <a:pPr algn="ctr"/>
          </a:p>
        </p:txBody>
      </p:sp>
      <p:pic>
        <p:nvPicPr>
          <p:cNvPr id="87" name="icon camera" descr=""/>
          <p:cNvPicPr>
            <a:picLocks noChangeAspect="1"/>
          </p:cNvPicPr>
          <p:nvPr/>
        </p:nvPicPr>
        <p:blipFill>
          <a:blip r:embed="rId8"/>
          <a:stretch>
            <a:fillRect/>
          </a:stretch>
        </p:blipFill>
        <p:spPr>
          <a:xfrm>
            <a:off x="4151376" y="1609344"/>
            <a:ext cx="201168" cy="201168"/>
          </a:xfrm>
          <a:prstGeom prst="rect">
            <a:avLst/>
          </a:prstGeom>
        </p:spPr>
      </p:pic>
      <p:sp>
        <p:nvSpPr>
          <p:cNvPr id="88" name="SHOT label"/>
          <p:cNvSpPr txBox="1"/>
          <p:nvPr/>
        </p:nvSpPr>
        <p:spPr>
          <a:xfrm>
            <a:off x="4407408" y="1600200"/>
            <a:ext cx="4270248"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shots/s03-workspace-signed.png</a:t>
            </a:r>
          </a:p>
        </p:txBody>
      </p:sp>
      <p:sp>
        <p:nvSpPr>
          <p:cNvPr id="89" name="SHOT text"/>
          <p:cNvSpPr txBox="1"/>
          <p:nvPr/>
        </p:nvSpPr>
        <p:spPr>
          <a:xfrm>
            <a:off x="4151376" y="1856232"/>
            <a:ext cx="4526280" cy="2203132"/>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Workspace, Hall A (signed). 3D hall all green; agent lanes on the left all ✓; co-pilot on the right; revision bar reads "r1 (2 fail) → r2 ✓ → signed by Priya Raman (Reviewer)".</a:t>
            </a:r>
          </a:p>
        </p:txBody>
      </p:sp>
      <p:sp>
        <p:nvSpPr>
          <p:cNvPr id="90"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Demo: Priya Raman and all companies, people and data are fictional. IEC-based, illustrative values, not for construction.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6235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Opportunities</a:t>
            </a:r>
            <a:endParaRPr sz="1600">
              <a:latin typeface="Google Sans Flex Medium"/>
              <a:ea typeface="Google Sans Flex Medium"/>
              <a:cs typeface="Google Sans Flex Medium"/>
              <a:sym typeface="Google Sans Flex Medium"/>
            </a:endParaRPr>
          </a:p>
        </p:txBody>
      </p:sp>
      <p:sp>
        <p:nvSpPr>
          <p:cNvPr id="80" name="question card"/>
          <p:cNvSpPr/>
          <p:nvPr/>
        </p:nvSpPr>
        <p:spPr>
          <a:xfrm>
            <a:off x="356616" y="1133856"/>
            <a:ext cx="3566160" cy="1298448"/>
          </a:xfrm>
          <a:prstGeom prst="roundRect">
            <a:avLst>
              <a:gd name="adj" fmla="val 5633"/>
            </a:avLst>
          </a:prstGeom>
          <a:solidFill>
            <a:srgbClr val="F8F9FA"/>
          </a:solidFill>
          <a:ln w="9525">
            <a:solidFill>
              <a:srgbClr val="E8EAED"/>
            </a:solidFill>
          </a:ln>
        </p:spPr>
        <p:txBody>
          <a:bodyPr rtlCol="0" anchor="ctr" lIns="0" rIns="0" tIns="0" bIns="0"/>
          <a:lstStyle/>
          <a:p>
            <a:pPr algn="ctr"/>
          </a:p>
        </p:txBody>
      </p:sp>
      <p:sp>
        <p:nvSpPr>
          <p:cNvPr id="81" name="template prompt"/>
          <p:cNvSpPr txBox="1"/>
          <p:nvPr/>
        </p:nvSpPr>
        <p:spPr>
          <a:xfrm>
            <a:off x="502920" y="1225296"/>
            <a:ext cx="3273552" cy="310896"/>
          </a:xfrm>
          <a:prstGeom prst="rect">
            <a:avLst/>
          </a:prstGeom>
          <a:noFill/>
        </p:spPr>
        <p:txBody>
          <a:bodyPr wrap="square" lIns="0" tIns="0" rIns="0" bIns="0" anchor="ctr">
            <a:noAutofit/>
          </a:bodyPr>
          <a:lstStyle/>
          <a:p>
            <a:pPr algn="l" marL="0" indent="0">
              <a:lnSpc>
                <a:spcPct val="100000"/>
              </a:lnSpc>
              <a:buNone/>
            </a:pPr>
            <a:r>
              <a:rPr sz="900" b="0" lang="en-GB">
                <a:solidFill>
                  <a:srgbClr val="5F6368"/>
                </a:solidFill>
                <a:latin typeface="Google Sans Flex"/>
              </a:rPr>
              <a:t>How different is it from any of the other existing ideas?</a:t>
            </a:r>
          </a:p>
        </p:txBody>
      </p:sp>
      <p:sp>
        <p:nvSpPr>
          <p:cNvPr id="82" name="answer"/>
          <p:cNvSpPr txBox="1"/>
          <p:nvPr/>
        </p:nvSpPr>
        <p:spPr>
          <a:xfrm>
            <a:off x="502920" y="1591056"/>
            <a:ext cx="3273552" cy="768096"/>
          </a:xfrm>
          <a:prstGeom prst="rect">
            <a:avLst/>
          </a:prstGeom>
          <a:noFill/>
        </p:spPr>
        <p:txBody>
          <a:bodyPr wrap="square" lIns="0" tIns="0" rIns="0" bIns="0" anchor="t">
            <a:noAutofit/>
          </a:bodyPr>
          <a:lstStyle/>
          <a:p>
            <a:pPr algn="l" marL="0" indent="0">
              <a:lnSpc>
                <a:spcPct val="100000"/>
              </a:lnSpc>
              <a:buNone/>
            </a:pPr>
            <a:r>
              <a:rPr sz="1150" b="0" lang="en-GB">
                <a:solidFill>
                  <a:srgbClr val="202124"/>
                </a:solidFill>
                <a:latin typeface="Google Sans Flex"/>
              </a:rPr>
              <a:t>Endra, ArchiLabs and Augmenta generate designs. None publicly shows an independent clause-cited checker, coupled power and liquid cooling, or ERP lead-time-aware design.</a:t>
            </a:r>
          </a:p>
        </p:txBody>
      </p:sp>
      <p:sp>
        <p:nvSpPr>
          <p:cNvPr id="83" name="question card"/>
          <p:cNvSpPr/>
          <p:nvPr/>
        </p:nvSpPr>
        <p:spPr>
          <a:xfrm>
            <a:off x="4059936" y="1133856"/>
            <a:ext cx="2295144" cy="1298448"/>
          </a:xfrm>
          <a:prstGeom prst="roundRect">
            <a:avLst>
              <a:gd name="adj" fmla="val 5633"/>
            </a:avLst>
          </a:prstGeom>
          <a:solidFill>
            <a:srgbClr val="F8F9FA"/>
          </a:solidFill>
          <a:ln w="9525">
            <a:solidFill>
              <a:srgbClr val="E8EAED"/>
            </a:solidFill>
          </a:ln>
        </p:spPr>
        <p:txBody>
          <a:bodyPr rtlCol="0" anchor="ctr" lIns="0" rIns="0" tIns="0" bIns="0"/>
          <a:lstStyle/>
          <a:p>
            <a:pPr algn="ctr"/>
          </a:p>
        </p:txBody>
      </p:sp>
      <p:sp>
        <p:nvSpPr>
          <p:cNvPr id="84" name="template prompt"/>
          <p:cNvSpPr txBox="1"/>
          <p:nvPr/>
        </p:nvSpPr>
        <p:spPr>
          <a:xfrm>
            <a:off x="4206240" y="1225296"/>
            <a:ext cx="2002536" cy="310896"/>
          </a:xfrm>
          <a:prstGeom prst="rect">
            <a:avLst/>
          </a:prstGeom>
          <a:noFill/>
        </p:spPr>
        <p:txBody>
          <a:bodyPr wrap="square" lIns="0" tIns="0" rIns="0" bIns="0" anchor="ctr">
            <a:noAutofit/>
          </a:bodyPr>
          <a:lstStyle/>
          <a:p>
            <a:pPr algn="l" marL="0" indent="0">
              <a:lnSpc>
                <a:spcPct val="100000"/>
              </a:lnSpc>
              <a:buNone/>
            </a:pPr>
            <a:r>
              <a:rPr sz="900" b="0" lang="en-GB">
                <a:solidFill>
                  <a:srgbClr val="5F6368"/>
                </a:solidFill>
                <a:latin typeface="Google Sans Flex"/>
              </a:rPr>
              <a:t>How will it be able to solve the problem?</a:t>
            </a:r>
          </a:p>
        </p:txBody>
      </p:sp>
      <p:sp>
        <p:nvSpPr>
          <p:cNvPr id="85" name="answer"/>
          <p:cNvSpPr txBox="1"/>
          <p:nvPr/>
        </p:nvSpPr>
        <p:spPr>
          <a:xfrm>
            <a:off x="4206240" y="1591056"/>
            <a:ext cx="2002536" cy="768096"/>
          </a:xfrm>
          <a:prstGeom prst="rect">
            <a:avLst/>
          </a:prstGeom>
          <a:noFill/>
        </p:spPr>
        <p:txBody>
          <a:bodyPr wrap="square" lIns="0" tIns="0" rIns="0" bIns="0" anchor="t">
            <a:noAutofit/>
          </a:bodyPr>
          <a:lstStyle/>
          <a:p>
            <a:pPr algn="l" marL="0" indent="0">
              <a:lnSpc>
                <a:spcPct val="100000"/>
              </a:lnSpc>
              <a:buNone/>
            </a:pPr>
            <a:r>
              <a:rPr sz="1350" b="0" lang="en-GB">
                <a:solidFill>
                  <a:srgbClr val="202124"/>
                </a:solidFill>
                <a:latin typeface="Google Sans Flex Medium"/>
              </a:rPr>
              <a:t>Agents draft.</a:t>
            </a:r>
          </a:p>
          <a:p>
            <a:pPr algn="l" marL="0" indent="0">
              <a:lnSpc>
                <a:spcPct val="100000"/>
              </a:lnSpc>
              <a:buNone/>
            </a:pPr>
            <a:r>
              <a:rPr sz="1350" b="0" lang="en-GB">
                <a:solidFill>
                  <a:srgbClr val="202124"/>
                </a:solidFill>
                <a:latin typeface="Google Sans Flex Medium"/>
              </a:rPr>
              <a:t>Physics verifies.</a:t>
            </a:r>
          </a:p>
          <a:p>
            <a:pPr algn="l" marL="0" indent="0">
              <a:lnSpc>
                <a:spcPct val="100000"/>
              </a:lnSpc>
              <a:buNone/>
            </a:pPr>
            <a:r>
              <a:rPr sz="1350" b="0" lang="en-GB">
                <a:solidFill>
                  <a:srgbClr val="202124"/>
                </a:solidFill>
                <a:latin typeface="Google Sans Flex Medium"/>
              </a:rPr>
              <a:t>Engineers review.</a:t>
            </a:r>
          </a:p>
        </p:txBody>
      </p:sp>
      <p:sp>
        <p:nvSpPr>
          <p:cNvPr id="86" name="question card"/>
          <p:cNvSpPr/>
          <p:nvPr/>
        </p:nvSpPr>
        <p:spPr>
          <a:xfrm>
            <a:off x="6492240" y="1133856"/>
            <a:ext cx="2295144" cy="1298448"/>
          </a:xfrm>
          <a:prstGeom prst="roundRect">
            <a:avLst>
              <a:gd name="adj" fmla="val 5633"/>
            </a:avLst>
          </a:prstGeom>
          <a:solidFill>
            <a:srgbClr val="F8F9FA"/>
          </a:solidFill>
          <a:ln w="9525">
            <a:solidFill>
              <a:srgbClr val="E8EAED"/>
            </a:solidFill>
          </a:ln>
        </p:spPr>
        <p:txBody>
          <a:bodyPr rtlCol="0" anchor="ctr" lIns="0" rIns="0" tIns="0" bIns="0"/>
          <a:lstStyle/>
          <a:p>
            <a:pPr algn="ctr"/>
          </a:p>
        </p:txBody>
      </p:sp>
      <p:sp>
        <p:nvSpPr>
          <p:cNvPr id="87" name="template prompt"/>
          <p:cNvSpPr txBox="1"/>
          <p:nvPr/>
        </p:nvSpPr>
        <p:spPr>
          <a:xfrm>
            <a:off x="6638544" y="1225296"/>
            <a:ext cx="2002536" cy="310896"/>
          </a:xfrm>
          <a:prstGeom prst="rect">
            <a:avLst/>
          </a:prstGeom>
          <a:noFill/>
        </p:spPr>
        <p:txBody>
          <a:bodyPr wrap="square" lIns="0" tIns="0" rIns="0" bIns="0" anchor="ctr">
            <a:noAutofit/>
          </a:bodyPr>
          <a:lstStyle/>
          <a:p>
            <a:pPr algn="l" marL="0" indent="0">
              <a:lnSpc>
                <a:spcPct val="100000"/>
              </a:lnSpc>
              <a:buNone/>
            </a:pPr>
            <a:r>
              <a:rPr sz="900" b="0" lang="en-GB">
                <a:solidFill>
                  <a:srgbClr val="5F6368"/>
                </a:solidFill>
                <a:latin typeface="Google Sans Flex"/>
              </a:rPr>
              <a:t>USP of the proposed solution</a:t>
            </a:r>
          </a:p>
        </p:txBody>
      </p:sp>
      <p:sp>
        <p:nvSpPr>
          <p:cNvPr id="88" name="answer"/>
          <p:cNvSpPr txBox="1"/>
          <p:nvPr/>
        </p:nvSpPr>
        <p:spPr>
          <a:xfrm>
            <a:off x="6638544" y="1591056"/>
            <a:ext cx="2002536" cy="768096"/>
          </a:xfrm>
          <a:prstGeom prst="rect">
            <a:avLst/>
          </a:prstGeom>
          <a:noFill/>
        </p:spPr>
        <p:txBody>
          <a:bodyPr wrap="square" lIns="0" tIns="0" rIns="0" bIns="0" anchor="t">
            <a:noAutofit/>
          </a:bodyPr>
          <a:lstStyle/>
          <a:p>
            <a:pPr algn="l" marL="0" indent="0">
              <a:lnSpc>
                <a:spcPct val="100000"/>
              </a:lnSpc>
              <a:buNone/>
            </a:pPr>
            <a:r>
              <a:rPr sz="1350" b="0" lang="en-GB">
                <a:solidFill>
                  <a:srgbClr val="202124"/>
                </a:solidFill>
                <a:latin typeface="Google Sans Flex Medium"/>
              </a:rPr>
              <a:t>AI designs.</a:t>
            </a:r>
          </a:p>
          <a:p>
            <a:pPr algn="l" marL="0" indent="0">
              <a:lnSpc>
                <a:spcPct val="100000"/>
              </a:lnSpc>
              <a:buNone/>
            </a:pPr>
            <a:r>
              <a:rPr sz="1350" b="0" lang="en-GB">
                <a:solidFill>
                  <a:srgbClr val="202124"/>
                </a:solidFill>
                <a:latin typeface="Google Sans Flex Medium"/>
              </a:rPr>
              <a:t>Physics checks.</a:t>
            </a:r>
          </a:p>
          <a:p>
            <a:pPr algn="l" marL="0" indent="0">
              <a:lnSpc>
                <a:spcPct val="100000"/>
              </a:lnSpc>
              <a:buNone/>
            </a:pPr>
            <a:r>
              <a:rPr sz="1350" b="0" lang="en-GB">
                <a:solidFill>
                  <a:srgbClr val="202124"/>
                </a:solidFill>
                <a:latin typeface="Google Sans Flex Medium"/>
              </a:rPr>
              <a:t>An engineer signs.</a:t>
            </a:r>
          </a:p>
        </p:txBody>
      </p:sp>
      <p:sp>
        <p:nvSpPr>
          <p:cNvPr id="89" name="Kirchhoff column"/>
          <p:cNvSpPr/>
          <p:nvPr/>
        </p:nvSpPr>
        <p:spPr>
          <a:xfrm>
            <a:off x="2432304" y="2578608"/>
            <a:ext cx="1316736" cy="1965960"/>
          </a:xfrm>
          <a:prstGeom prst="roundRect">
            <a:avLst>
              <a:gd name="adj" fmla="val 4166"/>
            </a:avLst>
          </a:prstGeom>
          <a:solidFill>
            <a:srgbClr val="E8F0FE"/>
          </a:solidFill>
          <a:ln>
            <a:noFill/>
          </a:ln>
        </p:spPr>
        <p:txBody>
          <a:bodyPr rtlCol="0" anchor="ctr" lIns="0" rIns="0" tIns="0" bIns="0"/>
          <a:lstStyle/>
          <a:p>
            <a:pPr algn="ctr"/>
          </a:p>
        </p:txBody>
      </p:sp>
      <p:sp>
        <p:nvSpPr>
          <p:cNvPr id="90" name="grid header"/>
          <p:cNvSpPr txBox="1"/>
          <p:nvPr/>
        </p:nvSpPr>
        <p:spPr>
          <a:xfrm>
            <a:off x="2496312" y="2615184"/>
            <a:ext cx="1188720" cy="292608"/>
          </a:xfrm>
          <a:prstGeom prst="rect">
            <a:avLst/>
          </a:prstGeom>
          <a:noFill/>
        </p:spPr>
        <p:txBody>
          <a:bodyPr wrap="square" lIns="0" tIns="0" rIns="0" bIns="0" anchor="ctr">
            <a:noAutofit/>
          </a:bodyPr>
          <a:lstStyle/>
          <a:p>
            <a:pPr algn="l" marL="0" indent="0">
              <a:lnSpc>
                <a:spcPct val="100000"/>
              </a:lnSpc>
              <a:buNone/>
            </a:pPr>
            <a:r>
              <a:rPr sz="850" b="0" lang="en-GB">
                <a:solidFill>
                  <a:srgbClr val="1A73E8"/>
                </a:solidFill>
                <a:latin typeface="Google Sans Flex SemiBold"/>
              </a:rPr>
              <a:t>Kirchhoff</a:t>
            </a:r>
          </a:p>
        </p:txBody>
      </p:sp>
      <p:sp>
        <p:nvSpPr>
          <p:cNvPr id="91" name="grid header"/>
          <p:cNvSpPr txBox="1"/>
          <p:nvPr/>
        </p:nvSpPr>
        <p:spPr>
          <a:xfrm>
            <a:off x="3867912" y="2615184"/>
            <a:ext cx="1069848" cy="292608"/>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Medium"/>
              </a:rPr>
              <a:t>Endra Power Studio</a:t>
            </a:r>
          </a:p>
        </p:txBody>
      </p:sp>
      <p:sp>
        <p:nvSpPr>
          <p:cNvPr id="92" name="grid header"/>
          <p:cNvSpPr txBox="1"/>
          <p:nvPr/>
        </p:nvSpPr>
        <p:spPr>
          <a:xfrm>
            <a:off x="5120640" y="2615184"/>
            <a:ext cx="1069848" cy="292608"/>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Medium"/>
              </a:rPr>
              <a:t>ArchiLabs</a:t>
            </a:r>
          </a:p>
        </p:txBody>
      </p:sp>
      <p:sp>
        <p:nvSpPr>
          <p:cNvPr id="93" name="grid header"/>
          <p:cNvSpPr txBox="1"/>
          <p:nvPr/>
        </p:nvSpPr>
        <p:spPr>
          <a:xfrm>
            <a:off x="6373368" y="2615184"/>
            <a:ext cx="1069848" cy="292608"/>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Medium"/>
              </a:rPr>
              <a:t>Augmenta</a:t>
            </a:r>
          </a:p>
        </p:txBody>
      </p:sp>
      <p:sp>
        <p:nvSpPr>
          <p:cNvPr id="94" name="grid header"/>
          <p:cNvSpPr txBox="1"/>
          <p:nvPr/>
        </p:nvSpPr>
        <p:spPr>
          <a:xfrm>
            <a:off x="7626096" y="2615184"/>
            <a:ext cx="1069848" cy="292608"/>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Medium"/>
              </a:rPr>
              <a:t>ETAP 2026 Copilot</a:t>
            </a:r>
          </a:p>
        </p:txBody>
      </p:sp>
      <p:sp>
        <p:nvSpPr>
          <p:cNvPr id="95" name="grid rule"/>
          <p:cNvSpPr/>
          <p:nvPr/>
        </p:nvSpPr>
        <p:spPr>
          <a:xfrm>
            <a:off x="356616" y="2907792"/>
            <a:ext cx="8430768" cy="9144"/>
          </a:xfrm>
          <a:prstGeom prst="rect">
            <a:avLst/>
          </a:prstGeom>
          <a:solidFill>
            <a:srgbClr val="E8EAED"/>
          </a:solidFill>
          <a:ln>
            <a:noFill/>
          </a:ln>
        </p:spPr>
        <p:txBody>
          <a:bodyPr rtlCol="0" anchor="ctr" lIns="0" rIns="0" tIns="0" bIns="0"/>
          <a:lstStyle/>
          <a:p>
            <a:pPr algn="ctr"/>
          </a:p>
        </p:txBody>
      </p:sp>
      <p:sp>
        <p:nvSpPr>
          <p:cNvPr id="96" name="grid row label"/>
          <p:cNvSpPr txBox="1"/>
          <p:nvPr/>
        </p:nvSpPr>
        <p:spPr>
          <a:xfrm>
            <a:off x="356616" y="2907792"/>
            <a:ext cx="1956816" cy="320040"/>
          </a:xfrm>
          <a:prstGeom prst="rect">
            <a:avLst/>
          </a:prstGeom>
          <a:noFill/>
        </p:spPr>
        <p:txBody>
          <a:bodyPr wrap="square" lIns="0" tIns="0" rIns="0" bIns="0" anchor="ctr">
            <a:noAutofit/>
          </a:bodyPr>
          <a:lstStyle/>
          <a:p>
            <a:pPr algn="l" marL="0" indent="0">
              <a:lnSpc>
                <a:spcPct val="100000"/>
              </a:lnSpc>
              <a:buNone/>
            </a:pPr>
            <a:r>
              <a:rPr sz="850" b="0" lang="en-GB">
                <a:solidFill>
                  <a:srgbClr val="202124"/>
                </a:solidFill>
                <a:latin typeface="Google Sans Flex"/>
              </a:rPr>
              <a:t>Independent checker, clause-cited findings</a:t>
            </a:r>
          </a:p>
        </p:txBody>
      </p:sp>
      <p:pic>
        <p:nvPicPr>
          <p:cNvPr id="97" name="icon check" descr=""/>
          <p:cNvPicPr>
            <a:picLocks noChangeAspect="1"/>
          </p:cNvPicPr>
          <p:nvPr/>
        </p:nvPicPr>
        <p:blipFill>
          <a:blip r:embed="rId5"/>
          <a:stretch>
            <a:fillRect/>
          </a:stretch>
        </p:blipFill>
        <p:spPr>
          <a:xfrm>
            <a:off x="2496312" y="2994660"/>
            <a:ext cx="146304" cy="146304"/>
          </a:xfrm>
          <a:prstGeom prst="rect">
            <a:avLst/>
          </a:prstGeom>
        </p:spPr>
      </p:pic>
      <p:sp>
        <p:nvSpPr>
          <p:cNvPr id="98" name="grid cell"/>
          <p:cNvSpPr txBox="1"/>
          <p:nvPr/>
        </p:nvSpPr>
        <p:spPr>
          <a:xfrm>
            <a:off x="3867912" y="290779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 (generic flags)</a:t>
            </a:r>
          </a:p>
        </p:txBody>
      </p:sp>
      <p:sp>
        <p:nvSpPr>
          <p:cNvPr id="99" name="grid cell"/>
          <p:cNvSpPr txBox="1"/>
          <p:nvPr/>
        </p:nvSpPr>
        <p:spPr>
          <a:xfrm>
            <a:off x="5120640" y="290779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00" name="grid cell"/>
          <p:cNvSpPr txBox="1"/>
          <p:nvPr/>
        </p:nvSpPr>
        <p:spPr>
          <a:xfrm>
            <a:off x="6373368" y="290779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01" name="grid cell"/>
          <p:cNvSpPr txBox="1"/>
          <p:nvPr/>
        </p:nvSpPr>
        <p:spPr>
          <a:xfrm>
            <a:off x="7626096" y="290779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02" name="grid rule"/>
          <p:cNvSpPr/>
          <p:nvPr/>
        </p:nvSpPr>
        <p:spPr>
          <a:xfrm>
            <a:off x="356616" y="3227832"/>
            <a:ext cx="8430768" cy="9144"/>
          </a:xfrm>
          <a:prstGeom prst="rect">
            <a:avLst/>
          </a:prstGeom>
          <a:solidFill>
            <a:srgbClr val="E8EAED"/>
          </a:solidFill>
          <a:ln>
            <a:noFill/>
          </a:ln>
        </p:spPr>
        <p:txBody>
          <a:bodyPr rtlCol="0" anchor="ctr" lIns="0" rIns="0" tIns="0" bIns="0"/>
          <a:lstStyle/>
          <a:p>
            <a:pPr algn="ctr"/>
          </a:p>
        </p:txBody>
      </p:sp>
      <p:sp>
        <p:nvSpPr>
          <p:cNvPr id="103" name="grid row label"/>
          <p:cNvSpPr txBox="1"/>
          <p:nvPr/>
        </p:nvSpPr>
        <p:spPr>
          <a:xfrm>
            <a:off x="356616" y="3227832"/>
            <a:ext cx="1956816" cy="320040"/>
          </a:xfrm>
          <a:prstGeom prst="rect">
            <a:avLst/>
          </a:prstGeom>
          <a:noFill/>
        </p:spPr>
        <p:txBody>
          <a:bodyPr wrap="square" lIns="0" tIns="0" rIns="0" bIns="0" anchor="ctr">
            <a:noAutofit/>
          </a:bodyPr>
          <a:lstStyle/>
          <a:p>
            <a:pPr algn="l" marL="0" indent="0">
              <a:lnSpc>
                <a:spcPct val="100000"/>
              </a:lnSpc>
              <a:buNone/>
            </a:pPr>
            <a:r>
              <a:rPr sz="850" b="0" lang="en-GB">
                <a:solidFill>
                  <a:srgbClr val="202124"/>
                </a:solidFill>
                <a:latin typeface="Google Sans Flex"/>
              </a:rPr>
              <a:t>Power + liquid cooling in one model</a:t>
            </a:r>
          </a:p>
        </p:txBody>
      </p:sp>
      <p:pic>
        <p:nvPicPr>
          <p:cNvPr id="104" name="icon check" descr=""/>
          <p:cNvPicPr>
            <a:picLocks noChangeAspect="1"/>
          </p:cNvPicPr>
          <p:nvPr/>
        </p:nvPicPr>
        <p:blipFill>
          <a:blip r:embed="rId5"/>
          <a:stretch>
            <a:fillRect/>
          </a:stretch>
        </p:blipFill>
        <p:spPr>
          <a:xfrm>
            <a:off x="2496312" y="3314700"/>
            <a:ext cx="146304" cy="146304"/>
          </a:xfrm>
          <a:prstGeom prst="rect">
            <a:avLst/>
          </a:prstGeom>
        </p:spPr>
      </p:pic>
      <p:sp>
        <p:nvSpPr>
          <p:cNvPr id="105" name="grid cell"/>
          <p:cNvSpPr txBox="1"/>
          <p:nvPr/>
        </p:nvSpPr>
        <p:spPr>
          <a:xfrm>
            <a:off x="3867912" y="322783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06" name="grid cell"/>
          <p:cNvSpPr txBox="1"/>
          <p:nvPr/>
        </p:nvSpPr>
        <p:spPr>
          <a:xfrm>
            <a:off x="5120640" y="322783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07" name="grid cell"/>
          <p:cNvSpPr txBox="1"/>
          <p:nvPr/>
        </p:nvSpPr>
        <p:spPr>
          <a:xfrm>
            <a:off x="6373368" y="322783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08" name="grid cell"/>
          <p:cNvSpPr txBox="1"/>
          <p:nvPr/>
        </p:nvSpPr>
        <p:spPr>
          <a:xfrm>
            <a:off x="7626096" y="322783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09" name="grid rule"/>
          <p:cNvSpPr/>
          <p:nvPr/>
        </p:nvSpPr>
        <p:spPr>
          <a:xfrm>
            <a:off x="356616" y="3547872"/>
            <a:ext cx="8430768" cy="9144"/>
          </a:xfrm>
          <a:prstGeom prst="rect">
            <a:avLst/>
          </a:prstGeom>
          <a:solidFill>
            <a:srgbClr val="E8EAED"/>
          </a:solidFill>
          <a:ln>
            <a:noFill/>
          </a:ln>
        </p:spPr>
        <p:txBody>
          <a:bodyPr rtlCol="0" anchor="ctr" lIns="0" rIns="0" tIns="0" bIns="0"/>
          <a:lstStyle/>
          <a:p>
            <a:pPr algn="ctr"/>
          </a:p>
        </p:txBody>
      </p:sp>
      <p:sp>
        <p:nvSpPr>
          <p:cNvPr id="110" name="grid row label"/>
          <p:cNvSpPr txBox="1"/>
          <p:nvPr/>
        </p:nvSpPr>
        <p:spPr>
          <a:xfrm>
            <a:off x="356616" y="3547872"/>
            <a:ext cx="1956816" cy="320040"/>
          </a:xfrm>
          <a:prstGeom prst="rect">
            <a:avLst/>
          </a:prstGeom>
          <a:noFill/>
        </p:spPr>
        <p:txBody>
          <a:bodyPr wrap="square" lIns="0" tIns="0" rIns="0" bIns="0" anchor="ctr">
            <a:noAutofit/>
          </a:bodyPr>
          <a:lstStyle/>
          <a:p>
            <a:pPr algn="l" marL="0" indent="0">
              <a:lnSpc>
                <a:spcPct val="100000"/>
              </a:lnSpc>
              <a:buNone/>
            </a:pPr>
            <a:r>
              <a:rPr sz="850" b="0" lang="en-GB">
                <a:solidFill>
                  <a:srgbClr val="202124"/>
                </a:solidFill>
                <a:latin typeface="Google Sans Flex"/>
              </a:rPr>
              <a:t>ERP lead time as a checked rule</a:t>
            </a:r>
          </a:p>
        </p:txBody>
      </p:sp>
      <p:pic>
        <p:nvPicPr>
          <p:cNvPr id="111" name="icon check" descr=""/>
          <p:cNvPicPr>
            <a:picLocks noChangeAspect="1"/>
          </p:cNvPicPr>
          <p:nvPr/>
        </p:nvPicPr>
        <p:blipFill>
          <a:blip r:embed="rId5"/>
          <a:stretch>
            <a:fillRect/>
          </a:stretch>
        </p:blipFill>
        <p:spPr>
          <a:xfrm>
            <a:off x="2496312" y="3634740"/>
            <a:ext cx="146304" cy="146304"/>
          </a:xfrm>
          <a:prstGeom prst="rect">
            <a:avLst/>
          </a:prstGeom>
        </p:spPr>
      </p:pic>
      <p:sp>
        <p:nvSpPr>
          <p:cNvPr id="112" name="grid cell"/>
          <p:cNvSpPr txBox="1"/>
          <p:nvPr/>
        </p:nvSpPr>
        <p:spPr>
          <a:xfrm>
            <a:off x="3867912" y="354787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13" name="grid cell"/>
          <p:cNvSpPr txBox="1"/>
          <p:nvPr/>
        </p:nvSpPr>
        <p:spPr>
          <a:xfrm>
            <a:off x="5120640" y="354787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14" name="grid cell"/>
          <p:cNvSpPr txBox="1"/>
          <p:nvPr/>
        </p:nvSpPr>
        <p:spPr>
          <a:xfrm>
            <a:off x="6373368" y="354787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15" name="grid cell"/>
          <p:cNvSpPr txBox="1"/>
          <p:nvPr/>
        </p:nvSpPr>
        <p:spPr>
          <a:xfrm>
            <a:off x="7626096" y="354787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16" name="grid rule"/>
          <p:cNvSpPr/>
          <p:nvPr/>
        </p:nvSpPr>
        <p:spPr>
          <a:xfrm>
            <a:off x="356616" y="3867912"/>
            <a:ext cx="8430768" cy="9144"/>
          </a:xfrm>
          <a:prstGeom prst="rect">
            <a:avLst/>
          </a:prstGeom>
          <a:solidFill>
            <a:srgbClr val="E8EAED"/>
          </a:solidFill>
          <a:ln>
            <a:noFill/>
          </a:ln>
        </p:spPr>
        <p:txBody>
          <a:bodyPr rtlCol="0" anchor="ctr" lIns="0" rIns="0" tIns="0" bIns="0"/>
          <a:lstStyle/>
          <a:p>
            <a:pPr algn="ctr"/>
          </a:p>
        </p:txBody>
      </p:sp>
      <p:sp>
        <p:nvSpPr>
          <p:cNvPr id="117" name="grid row label"/>
          <p:cNvSpPr txBox="1"/>
          <p:nvPr/>
        </p:nvSpPr>
        <p:spPr>
          <a:xfrm>
            <a:off x="356616" y="3867912"/>
            <a:ext cx="1956816" cy="320040"/>
          </a:xfrm>
          <a:prstGeom prst="rect">
            <a:avLst/>
          </a:prstGeom>
          <a:noFill/>
        </p:spPr>
        <p:txBody>
          <a:bodyPr wrap="square" lIns="0" tIns="0" rIns="0" bIns="0" anchor="ctr">
            <a:noAutofit/>
          </a:bodyPr>
          <a:lstStyle/>
          <a:p>
            <a:pPr algn="l" marL="0" indent="0">
              <a:lnSpc>
                <a:spcPct val="100000"/>
              </a:lnSpc>
              <a:buNone/>
            </a:pPr>
            <a:r>
              <a:rPr sz="850" b="0" lang="en-GB">
                <a:solidFill>
                  <a:srgbClr val="202124"/>
                </a:solidFill>
                <a:latin typeface="Google Sans Flex"/>
              </a:rPr>
              <a:t>Data-centre power design</a:t>
            </a:r>
          </a:p>
        </p:txBody>
      </p:sp>
      <p:pic>
        <p:nvPicPr>
          <p:cNvPr id="118" name="icon check" descr=""/>
          <p:cNvPicPr>
            <a:picLocks noChangeAspect="1"/>
          </p:cNvPicPr>
          <p:nvPr/>
        </p:nvPicPr>
        <p:blipFill>
          <a:blip r:embed="rId5"/>
          <a:stretch>
            <a:fillRect/>
          </a:stretch>
        </p:blipFill>
        <p:spPr>
          <a:xfrm>
            <a:off x="2496312" y="3954780"/>
            <a:ext cx="146304" cy="146304"/>
          </a:xfrm>
          <a:prstGeom prst="rect">
            <a:avLst/>
          </a:prstGeom>
        </p:spPr>
      </p:pic>
      <p:sp>
        <p:nvSpPr>
          <p:cNvPr id="119" name="grid cell"/>
          <p:cNvSpPr txBox="1"/>
          <p:nvPr/>
        </p:nvSpPr>
        <p:spPr>
          <a:xfrm>
            <a:off x="2679192" y="3867912"/>
            <a:ext cx="1005840" cy="320040"/>
          </a:xfrm>
          <a:prstGeom prst="rect">
            <a:avLst/>
          </a:prstGeom>
          <a:noFill/>
        </p:spPr>
        <p:txBody>
          <a:bodyPr wrap="square" lIns="0" tIns="0" rIns="0" bIns="0" anchor="ctr">
            <a:noAutofit/>
          </a:bodyPr>
          <a:lstStyle/>
          <a:p>
            <a:pPr algn="l" marL="0" indent="0">
              <a:lnSpc>
                <a:spcPct val="100000"/>
              </a:lnSpc>
              <a:buNone/>
            </a:pPr>
            <a:r>
              <a:rPr sz="850" b="0" lang="en-GB">
                <a:solidFill>
                  <a:srgbClr val="202124"/>
                </a:solidFill>
                <a:latin typeface="Google Sans Flex Medium"/>
              </a:rPr>
              <a:t>2N, DR, block</a:t>
            </a:r>
            <a:r>
              <a:rPr sz="650" b="0" lang="en-GB">
                <a:solidFill>
                  <a:srgbClr val="8A4B00"/>
                </a:solidFill>
                <a:highlight>
                  <a:srgbClr val="FDEBD0"/>
                </a:highlight>
                <a:latin typeface="Google Sans Flex Medium"/>
              </a:rPr>
              <a:t> (spec)</a:t>
            </a:r>
          </a:p>
        </p:txBody>
      </p:sp>
      <p:sp>
        <p:nvSpPr>
          <p:cNvPr id="120" name="grid cell"/>
          <p:cNvSpPr txBox="1"/>
          <p:nvPr/>
        </p:nvSpPr>
        <p:spPr>
          <a:xfrm>
            <a:off x="3867912" y="386791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80868B"/>
                </a:solidFill>
                <a:latin typeface="Google Sans Flex"/>
              </a:rPr>
              <a:t>not shown</a:t>
            </a:r>
          </a:p>
        </p:txBody>
      </p:sp>
      <p:sp>
        <p:nvSpPr>
          <p:cNvPr id="121" name="grid cell"/>
          <p:cNvSpPr txBox="1"/>
          <p:nvPr/>
        </p:nvSpPr>
        <p:spPr>
          <a:xfrm>
            <a:off x="5120640" y="386791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a:rPr>
              <a:t>layouts + SLDs</a:t>
            </a:r>
          </a:p>
        </p:txBody>
      </p:sp>
      <p:sp>
        <p:nvSpPr>
          <p:cNvPr id="122" name="grid cell"/>
          <p:cNvSpPr txBox="1"/>
          <p:nvPr/>
        </p:nvSpPr>
        <p:spPr>
          <a:xfrm>
            <a:off x="6373368" y="386791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a:rPr>
              <a:t>conduit routing</a:t>
            </a:r>
          </a:p>
        </p:txBody>
      </p:sp>
      <p:sp>
        <p:nvSpPr>
          <p:cNvPr id="123" name="grid cell"/>
          <p:cNvSpPr txBox="1"/>
          <p:nvPr/>
        </p:nvSpPr>
        <p:spPr>
          <a:xfrm>
            <a:off x="7626096" y="386791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a:rPr>
              <a:t>studies from chat</a:t>
            </a:r>
          </a:p>
        </p:txBody>
      </p:sp>
      <p:sp>
        <p:nvSpPr>
          <p:cNvPr id="124" name="grid rule"/>
          <p:cNvSpPr/>
          <p:nvPr/>
        </p:nvSpPr>
        <p:spPr>
          <a:xfrm>
            <a:off x="356616" y="4187952"/>
            <a:ext cx="8430768" cy="9144"/>
          </a:xfrm>
          <a:prstGeom prst="rect">
            <a:avLst/>
          </a:prstGeom>
          <a:solidFill>
            <a:srgbClr val="E8EAED"/>
          </a:solidFill>
          <a:ln>
            <a:noFill/>
          </a:ln>
        </p:spPr>
        <p:txBody>
          <a:bodyPr rtlCol="0" anchor="ctr" lIns="0" rIns="0" tIns="0" bIns="0"/>
          <a:lstStyle/>
          <a:p>
            <a:pPr algn="ctr"/>
          </a:p>
        </p:txBody>
      </p:sp>
      <p:sp>
        <p:nvSpPr>
          <p:cNvPr id="125" name="grid row label"/>
          <p:cNvSpPr txBox="1"/>
          <p:nvPr/>
        </p:nvSpPr>
        <p:spPr>
          <a:xfrm>
            <a:off x="356616" y="4187952"/>
            <a:ext cx="1956816" cy="320040"/>
          </a:xfrm>
          <a:prstGeom prst="rect">
            <a:avLst/>
          </a:prstGeom>
          <a:noFill/>
        </p:spPr>
        <p:txBody>
          <a:bodyPr wrap="square" lIns="0" tIns="0" rIns="0" bIns="0" anchor="ctr">
            <a:noAutofit/>
          </a:bodyPr>
          <a:lstStyle/>
          <a:p>
            <a:pPr algn="l" marL="0" indent="0">
              <a:lnSpc>
                <a:spcPct val="100000"/>
              </a:lnSpc>
              <a:buNone/>
            </a:pPr>
            <a:r>
              <a:rPr sz="850" b="0" lang="en-GB">
                <a:solidFill>
                  <a:srgbClr val="202124"/>
                </a:solidFill>
                <a:latin typeface="Google Sans Flex"/>
              </a:rPr>
              <a:t>Where it runs</a:t>
            </a:r>
          </a:p>
        </p:txBody>
      </p:sp>
      <p:sp>
        <p:nvSpPr>
          <p:cNvPr id="126" name="grid cell"/>
          <p:cNvSpPr txBox="1"/>
          <p:nvPr/>
        </p:nvSpPr>
        <p:spPr>
          <a:xfrm>
            <a:off x="2496312" y="4187952"/>
            <a:ext cx="1188720" cy="320040"/>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a:rPr>
              <a:t>browser</a:t>
            </a:r>
          </a:p>
        </p:txBody>
      </p:sp>
      <p:sp>
        <p:nvSpPr>
          <p:cNvPr id="127" name="grid cell"/>
          <p:cNvSpPr txBox="1"/>
          <p:nvPr/>
        </p:nvSpPr>
        <p:spPr>
          <a:xfrm>
            <a:off x="3867912" y="418795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a:rPr>
              <a:t>browser</a:t>
            </a:r>
          </a:p>
        </p:txBody>
      </p:sp>
      <p:sp>
        <p:nvSpPr>
          <p:cNvPr id="128" name="grid cell"/>
          <p:cNvSpPr txBox="1"/>
          <p:nvPr/>
        </p:nvSpPr>
        <p:spPr>
          <a:xfrm>
            <a:off x="5120640" y="418795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a:rPr>
              <a:t>browser</a:t>
            </a:r>
          </a:p>
        </p:txBody>
      </p:sp>
      <p:sp>
        <p:nvSpPr>
          <p:cNvPr id="129" name="grid cell"/>
          <p:cNvSpPr txBox="1"/>
          <p:nvPr/>
        </p:nvSpPr>
        <p:spPr>
          <a:xfrm>
            <a:off x="6373368" y="418795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a:rPr>
              <a:t>inside Revit</a:t>
            </a:r>
          </a:p>
        </p:txBody>
      </p:sp>
      <p:sp>
        <p:nvSpPr>
          <p:cNvPr id="130" name="grid cell"/>
          <p:cNvSpPr txBox="1"/>
          <p:nvPr/>
        </p:nvSpPr>
        <p:spPr>
          <a:xfrm>
            <a:off x="7626096" y="4187952"/>
            <a:ext cx="1069848" cy="320040"/>
          </a:xfrm>
          <a:prstGeom prst="rect">
            <a:avLst/>
          </a:prstGeom>
          <a:noFill/>
        </p:spPr>
        <p:txBody>
          <a:bodyPr wrap="square" lIns="0" tIns="0" rIns="0" bIns="0" anchor="ctr">
            <a:noAutofit/>
          </a:bodyPr>
          <a:lstStyle/>
          <a:p>
            <a:pPr algn="l" marL="0" indent="0">
              <a:lnSpc>
                <a:spcPct val="100000"/>
              </a:lnSpc>
              <a:buNone/>
            </a:pPr>
            <a:r>
              <a:rPr sz="850" b="0" lang="en-GB">
                <a:solidFill>
                  <a:srgbClr val="3C4043"/>
                </a:solidFill>
                <a:latin typeface="Google Sans Flex"/>
              </a:rPr>
              <a:t>desktop</a:t>
            </a:r>
          </a:p>
        </p:txBody>
      </p:sp>
      <p:sp>
        <p:nvSpPr>
          <p:cNvPr id="131" name="grid rule"/>
          <p:cNvSpPr/>
          <p:nvPr/>
        </p:nvSpPr>
        <p:spPr>
          <a:xfrm>
            <a:off x="356616" y="4507992"/>
            <a:ext cx="8430768" cy="9144"/>
          </a:xfrm>
          <a:prstGeom prst="rect">
            <a:avLst/>
          </a:prstGeom>
          <a:solidFill>
            <a:srgbClr val="E8EAED"/>
          </a:solidFill>
          <a:ln>
            <a:noFill/>
          </a:ln>
        </p:spPr>
        <p:txBody>
          <a:bodyPr rtlCol="0" anchor="ctr" lIns="0" rIns="0" tIns="0" bIns="0"/>
          <a:lstStyle/>
          <a:p>
            <a:pPr algn="ctr"/>
          </a:p>
        </p:txBody>
      </p:sp>
      <p:sp>
        <p:nvSpPr>
          <p:cNvPr id="132"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Based on public demos and material reviewed 13 Oct 2026.</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feature tile"/>
          <p:cNvSpPr/>
          <p:nvPr/>
        </p:nvSpPr>
        <p:spPr>
          <a:xfrm>
            <a:off x="356616" y="1133856"/>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89" name="badge file-check"/>
          <p:cNvSpPr/>
          <p:nvPr/>
        </p:nvSpPr>
        <p:spPr>
          <a:xfrm>
            <a:off x="466344" y="1243584"/>
            <a:ext cx="310896" cy="310896"/>
          </a:xfrm>
          <a:prstGeom prst="ellipse">
            <a:avLst/>
          </a:prstGeom>
          <a:solidFill>
            <a:srgbClr val="FFFFFF"/>
          </a:solidFill>
          <a:ln>
            <a:noFill/>
          </a:ln>
        </p:spPr>
        <p:txBody>
          <a:bodyPr rtlCol="0" anchor="ctr" lIns="0" rIns="0" tIns="0" bIns="0"/>
          <a:lstStyle/>
          <a:p>
            <a:pPr algn="ctr"/>
          </a:p>
        </p:txBody>
      </p:sp>
      <p:pic>
        <p:nvPicPr>
          <p:cNvPr id="90" name="icon file-check" descr=""/>
          <p:cNvPicPr>
            <a:picLocks noChangeAspect="1"/>
          </p:cNvPicPr>
          <p:nvPr/>
        </p:nvPicPr>
        <p:blipFill>
          <a:blip r:embed="rId5"/>
          <a:stretch>
            <a:fillRect/>
          </a:stretch>
        </p:blipFill>
        <p:spPr>
          <a:xfrm>
            <a:off x="540959" y="1318199"/>
            <a:ext cx="161666" cy="161666"/>
          </a:xfrm>
          <a:prstGeom prst="rect">
            <a:avLst/>
          </a:prstGeom>
        </p:spPr>
      </p:pic>
      <p:sp>
        <p:nvSpPr>
          <p:cNvPr id="91" name="feature label"/>
          <p:cNvSpPr txBox="1"/>
          <p:nvPr/>
        </p:nvSpPr>
        <p:spPr>
          <a:xfrm>
            <a:off x="466344" y="1609344"/>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Tender intake with verified quotes</a:t>
            </a:r>
          </a:p>
        </p:txBody>
      </p:sp>
      <p:sp>
        <p:nvSpPr>
          <p:cNvPr id="92" name="SHOT placeholder shots/s05-1-intake-quotes.png"/>
          <p:cNvSpPr/>
          <p:nvPr/>
        </p:nvSpPr>
        <p:spPr>
          <a:xfrm>
            <a:off x="1600200" y="1207008"/>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93" name="icon camera" descr=""/>
          <p:cNvPicPr>
            <a:picLocks noChangeAspect="1"/>
          </p:cNvPicPr>
          <p:nvPr/>
        </p:nvPicPr>
        <p:blipFill>
          <a:blip r:embed="rId6"/>
          <a:stretch>
            <a:fillRect/>
          </a:stretch>
        </p:blipFill>
        <p:spPr>
          <a:xfrm>
            <a:off x="1664208" y="1271016"/>
            <a:ext cx="146304" cy="146304"/>
          </a:xfrm>
          <a:prstGeom prst="rect">
            <a:avLst/>
          </a:prstGeom>
        </p:spPr>
      </p:pic>
      <p:sp>
        <p:nvSpPr>
          <p:cNvPr id="94" name="SHOT label"/>
          <p:cNvSpPr txBox="1"/>
          <p:nvPr/>
        </p:nvSpPr>
        <p:spPr>
          <a:xfrm>
            <a:off x="1865376" y="1261872"/>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shots/s05-1-intake-quotes.png</a:t>
            </a:r>
          </a:p>
        </p:txBody>
      </p:sp>
      <p:sp>
        <p:nvSpPr>
          <p:cNvPr id="95" name="SHOT text"/>
          <p:cNvSpPr txBox="1"/>
          <p:nvPr/>
        </p:nvSpPr>
        <p:spPr>
          <a:xfrm>
            <a:off x="1664208" y="1463040"/>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Intake lane, "✓ quote verified" cards</a:t>
            </a:r>
          </a:p>
        </p:txBody>
      </p:sp>
      <p:sp>
        <p:nvSpPr>
          <p:cNvPr id="96" name="feature tile"/>
          <p:cNvSpPr/>
          <p:nvPr/>
        </p:nvSpPr>
        <p:spPr>
          <a:xfrm>
            <a:off x="3209544" y="1133856"/>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97" name="badge plug-zap"/>
          <p:cNvSpPr/>
          <p:nvPr/>
        </p:nvSpPr>
        <p:spPr>
          <a:xfrm>
            <a:off x="3319272" y="1243584"/>
            <a:ext cx="310896" cy="310896"/>
          </a:xfrm>
          <a:prstGeom prst="ellipse">
            <a:avLst/>
          </a:prstGeom>
          <a:solidFill>
            <a:srgbClr val="FFFFFF"/>
          </a:solidFill>
          <a:ln>
            <a:noFill/>
          </a:ln>
        </p:spPr>
        <p:txBody>
          <a:bodyPr rtlCol="0" anchor="ctr" lIns="0" rIns="0" tIns="0" bIns="0"/>
          <a:lstStyle/>
          <a:p>
            <a:pPr algn="ctr"/>
          </a:p>
        </p:txBody>
      </p:sp>
      <p:pic>
        <p:nvPicPr>
          <p:cNvPr id="98" name="icon plug-zap" descr=""/>
          <p:cNvPicPr>
            <a:picLocks noChangeAspect="1"/>
          </p:cNvPicPr>
          <p:nvPr/>
        </p:nvPicPr>
        <p:blipFill>
          <a:blip r:embed="rId7"/>
          <a:stretch>
            <a:fillRect/>
          </a:stretch>
        </p:blipFill>
        <p:spPr>
          <a:xfrm>
            <a:off x="3393887" y="1318199"/>
            <a:ext cx="161666" cy="161666"/>
          </a:xfrm>
          <a:prstGeom prst="rect">
            <a:avLst/>
          </a:prstGeom>
        </p:spPr>
      </p:pic>
      <p:sp>
        <p:nvSpPr>
          <p:cNvPr id="99" name="feature label"/>
          <p:cNvSpPr txBox="1"/>
          <p:nvPr/>
        </p:nvSpPr>
        <p:spPr>
          <a:xfrm>
            <a:off x="3319272" y="1609344"/>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Power and liquid cooling, one model</a:t>
            </a:r>
          </a:p>
        </p:txBody>
      </p:sp>
      <p:sp>
        <p:nvSpPr>
          <p:cNvPr id="100" name="SHOT placeholder shots/s05-2-hall-3d-tiers.png"/>
          <p:cNvSpPr/>
          <p:nvPr/>
        </p:nvSpPr>
        <p:spPr>
          <a:xfrm>
            <a:off x="4453128" y="1207008"/>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101" name="icon camera" descr=""/>
          <p:cNvPicPr>
            <a:picLocks noChangeAspect="1"/>
          </p:cNvPicPr>
          <p:nvPr/>
        </p:nvPicPr>
        <p:blipFill>
          <a:blip r:embed="rId6"/>
          <a:stretch>
            <a:fillRect/>
          </a:stretch>
        </p:blipFill>
        <p:spPr>
          <a:xfrm>
            <a:off x="4517136" y="1271016"/>
            <a:ext cx="146304" cy="146304"/>
          </a:xfrm>
          <a:prstGeom prst="rect">
            <a:avLst/>
          </a:prstGeom>
        </p:spPr>
      </p:pic>
      <p:sp>
        <p:nvSpPr>
          <p:cNvPr id="102" name="SHOT label"/>
          <p:cNvSpPr txBox="1"/>
          <p:nvPr/>
        </p:nvSpPr>
        <p:spPr>
          <a:xfrm>
            <a:off x="4718304" y="1261872"/>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shots/s05-2-hall-3d-tiers.png</a:t>
            </a:r>
          </a:p>
        </p:txBody>
      </p:sp>
      <p:sp>
        <p:nvSpPr>
          <p:cNvPr id="103" name="SHOT text"/>
          <p:cNvSpPr txBox="1"/>
          <p:nvPr/>
        </p:nvSpPr>
        <p:spPr>
          <a:xfrm>
            <a:off x="4517136" y="1463040"/>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3D hall, busways and pipes on their tiers</a:t>
            </a:r>
          </a:p>
        </p:txBody>
      </p:sp>
      <p:sp>
        <p:nvSpPr>
          <p:cNvPr id="104" name="feature tile"/>
          <p:cNvSpPr/>
          <p:nvPr/>
        </p:nvSpPr>
        <p:spPr>
          <a:xfrm>
            <a:off x="6062472" y="1133856"/>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105" name="badge shield-check"/>
          <p:cNvSpPr/>
          <p:nvPr/>
        </p:nvSpPr>
        <p:spPr>
          <a:xfrm>
            <a:off x="6172200" y="1243584"/>
            <a:ext cx="310896" cy="310896"/>
          </a:xfrm>
          <a:prstGeom prst="ellipse">
            <a:avLst/>
          </a:prstGeom>
          <a:solidFill>
            <a:srgbClr val="FFFFFF"/>
          </a:solidFill>
          <a:ln>
            <a:noFill/>
          </a:ln>
        </p:spPr>
        <p:txBody>
          <a:bodyPr rtlCol="0" anchor="ctr" lIns="0" rIns="0" tIns="0" bIns="0"/>
          <a:lstStyle/>
          <a:p>
            <a:pPr algn="ctr"/>
          </a:p>
        </p:txBody>
      </p:sp>
      <p:pic>
        <p:nvPicPr>
          <p:cNvPr id="106" name="icon shield-check" descr=""/>
          <p:cNvPicPr>
            <a:picLocks noChangeAspect="1"/>
          </p:cNvPicPr>
          <p:nvPr/>
        </p:nvPicPr>
        <p:blipFill>
          <a:blip r:embed="rId8"/>
          <a:stretch>
            <a:fillRect/>
          </a:stretch>
        </p:blipFill>
        <p:spPr>
          <a:xfrm>
            <a:off x="6246815" y="1318199"/>
            <a:ext cx="161666" cy="161666"/>
          </a:xfrm>
          <a:prstGeom prst="rect">
            <a:avLst/>
          </a:prstGeom>
        </p:spPr>
      </p:pic>
      <p:sp>
        <p:nvSpPr>
          <p:cNvPr id="107" name="feature label"/>
          <p:cNvSpPr txBox="1"/>
          <p:nvPr/>
        </p:nvSpPr>
        <p:spPr>
          <a:xfrm>
            <a:off x="6172200" y="1609344"/>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Clause-cited checker: R01–R15, R04b</a:t>
            </a:r>
          </a:p>
        </p:txBody>
      </p:sp>
      <p:sp>
        <p:nvSpPr>
          <p:cNvPr id="108" name="SHOT placeholder shots/s05-3-compliance-matrix.png"/>
          <p:cNvSpPr/>
          <p:nvPr/>
        </p:nvSpPr>
        <p:spPr>
          <a:xfrm>
            <a:off x="7306056" y="1207008"/>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109" name="icon camera" descr=""/>
          <p:cNvPicPr>
            <a:picLocks noChangeAspect="1"/>
          </p:cNvPicPr>
          <p:nvPr/>
        </p:nvPicPr>
        <p:blipFill>
          <a:blip r:embed="rId6"/>
          <a:stretch>
            <a:fillRect/>
          </a:stretch>
        </p:blipFill>
        <p:spPr>
          <a:xfrm>
            <a:off x="7370064" y="1271016"/>
            <a:ext cx="146304" cy="146304"/>
          </a:xfrm>
          <a:prstGeom prst="rect">
            <a:avLst/>
          </a:prstGeom>
        </p:spPr>
      </p:pic>
      <p:sp>
        <p:nvSpPr>
          <p:cNvPr id="110" name="SHOT label"/>
          <p:cNvSpPr txBox="1"/>
          <p:nvPr/>
        </p:nvSpPr>
        <p:spPr>
          <a:xfrm>
            <a:off x="7571232" y="1261872"/>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shots/s05-3-compliance-matrix.png</a:t>
            </a:r>
          </a:p>
        </p:txBody>
      </p:sp>
      <p:sp>
        <p:nvSpPr>
          <p:cNvPr id="111" name="SHOT text"/>
          <p:cNvSpPr txBox="1"/>
          <p:nvPr/>
        </p:nvSpPr>
        <p:spPr>
          <a:xfrm>
            <a:off x="7370064" y="1463040"/>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compliance matrix</a:t>
            </a:r>
          </a:p>
        </p:txBody>
      </p:sp>
      <p:sp>
        <p:nvSpPr>
          <p:cNvPr id="112" name="feature tile"/>
          <p:cNvSpPr/>
          <p:nvPr/>
        </p:nvSpPr>
        <p:spPr>
          <a:xfrm>
            <a:off x="356616" y="2362200"/>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113" name="badge truck"/>
          <p:cNvSpPr/>
          <p:nvPr/>
        </p:nvSpPr>
        <p:spPr>
          <a:xfrm>
            <a:off x="466344" y="2471928"/>
            <a:ext cx="310896" cy="310896"/>
          </a:xfrm>
          <a:prstGeom prst="ellipse">
            <a:avLst/>
          </a:prstGeom>
          <a:solidFill>
            <a:srgbClr val="FFFFFF"/>
          </a:solidFill>
          <a:ln>
            <a:noFill/>
          </a:ln>
        </p:spPr>
        <p:txBody>
          <a:bodyPr rtlCol="0" anchor="ctr" lIns="0" rIns="0" tIns="0" bIns="0"/>
          <a:lstStyle/>
          <a:p>
            <a:pPr algn="ctr"/>
          </a:p>
        </p:txBody>
      </p:sp>
      <p:pic>
        <p:nvPicPr>
          <p:cNvPr id="114" name="icon truck" descr=""/>
          <p:cNvPicPr>
            <a:picLocks noChangeAspect="1"/>
          </p:cNvPicPr>
          <p:nvPr/>
        </p:nvPicPr>
        <p:blipFill>
          <a:blip r:embed="rId9"/>
          <a:stretch>
            <a:fillRect/>
          </a:stretch>
        </p:blipFill>
        <p:spPr>
          <a:xfrm>
            <a:off x="540959" y="2546543"/>
            <a:ext cx="161666" cy="161666"/>
          </a:xfrm>
          <a:prstGeom prst="rect">
            <a:avLst/>
          </a:prstGeom>
        </p:spPr>
      </p:pic>
      <p:sp>
        <p:nvSpPr>
          <p:cNvPr id="115" name="feature label"/>
          <p:cNvSpPr txBox="1"/>
          <p:nvPr/>
        </p:nvSpPr>
        <p:spPr>
          <a:xfrm>
            <a:off x="466344" y="2837688"/>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ERP lead-time-aware redesign</a:t>
            </a:r>
          </a:p>
        </p:txBody>
      </p:sp>
      <p:sp>
        <p:nvSpPr>
          <p:cNvPr id="116" name="SHOT placeholder shots/s05-4-option-r15-swap.png"/>
          <p:cNvSpPr/>
          <p:nvPr/>
        </p:nvSpPr>
        <p:spPr>
          <a:xfrm>
            <a:off x="1600200" y="2435352"/>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117" name="icon camera" descr=""/>
          <p:cNvPicPr>
            <a:picLocks noChangeAspect="1"/>
          </p:cNvPicPr>
          <p:nvPr/>
        </p:nvPicPr>
        <p:blipFill>
          <a:blip r:embed="rId6"/>
          <a:stretch>
            <a:fillRect/>
          </a:stretch>
        </p:blipFill>
        <p:spPr>
          <a:xfrm>
            <a:off x="1664208" y="2499360"/>
            <a:ext cx="146304" cy="146304"/>
          </a:xfrm>
          <a:prstGeom prst="rect">
            <a:avLst/>
          </a:prstGeom>
        </p:spPr>
      </p:pic>
      <p:sp>
        <p:nvSpPr>
          <p:cNvPr id="118" name="SHOT label"/>
          <p:cNvSpPr txBox="1"/>
          <p:nvPr/>
        </p:nvSpPr>
        <p:spPr>
          <a:xfrm>
            <a:off x="1865376" y="2490216"/>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shots/s05-4-option-r15-swap.png</a:t>
            </a:r>
          </a:p>
        </p:txBody>
      </p:sp>
      <p:sp>
        <p:nvSpPr>
          <p:cNvPr id="119" name="SHOT text"/>
          <p:cNvSpPr txBox="1"/>
          <p:nvPr/>
        </p:nvSpPr>
        <p:spPr>
          <a:xfrm>
            <a:off x="1664208" y="2691384"/>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option card showing the R15 swap</a:t>
            </a:r>
          </a:p>
        </p:txBody>
      </p:sp>
      <p:sp>
        <p:nvSpPr>
          <p:cNvPr id="120" name="feature tile"/>
          <p:cNvSpPr/>
          <p:nvPr/>
        </p:nvSpPr>
        <p:spPr>
          <a:xfrm>
            <a:off x="3209544" y="2362200"/>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121" name="badge waypoints"/>
          <p:cNvSpPr/>
          <p:nvPr/>
        </p:nvSpPr>
        <p:spPr>
          <a:xfrm>
            <a:off x="3319272" y="2471928"/>
            <a:ext cx="310896" cy="310896"/>
          </a:xfrm>
          <a:prstGeom prst="ellipse">
            <a:avLst/>
          </a:prstGeom>
          <a:solidFill>
            <a:srgbClr val="FFFFFF"/>
          </a:solidFill>
          <a:ln>
            <a:noFill/>
          </a:ln>
        </p:spPr>
        <p:txBody>
          <a:bodyPr rtlCol="0" anchor="ctr" lIns="0" rIns="0" tIns="0" bIns="0"/>
          <a:lstStyle/>
          <a:p>
            <a:pPr algn="ctr"/>
          </a:p>
        </p:txBody>
      </p:sp>
      <p:pic>
        <p:nvPicPr>
          <p:cNvPr id="122" name="icon waypoints" descr=""/>
          <p:cNvPicPr>
            <a:picLocks noChangeAspect="1"/>
          </p:cNvPicPr>
          <p:nvPr/>
        </p:nvPicPr>
        <p:blipFill>
          <a:blip r:embed="rId10"/>
          <a:stretch>
            <a:fillRect/>
          </a:stretch>
        </p:blipFill>
        <p:spPr>
          <a:xfrm>
            <a:off x="3393887" y="2546543"/>
            <a:ext cx="161666" cy="161666"/>
          </a:xfrm>
          <a:prstGeom prst="rect">
            <a:avLst/>
          </a:prstGeom>
        </p:spPr>
      </p:pic>
      <p:sp>
        <p:nvSpPr>
          <p:cNvPr id="123" name="feature label"/>
          <p:cNvSpPr txBox="1"/>
          <p:nvPr/>
        </p:nvSpPr>
        <p:spPr>
          <a:xfrm>
            <a:off x="3319272" y="2837688"/>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What-if impact chains</a:t>
            </a:r>
          </a:p>
        </p:txBody>
      </p:sp>
      <p:sp>
        <p:nvSpPr>
          <p:cNvPr id="124" name="SHOT placeholder shots/s05-5-impact-chain.png"/>
          <p:cNvSpPr/>
          <p:nvPr/>
        </p:nvSpPr>
        <p:spPr>
          <a:xfrm>
            <a:off x="4453128" y="2435352"/>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125" name="icon camera" descr=""/>
          <p:cNvPicPr>
            <a:picLocks noChangeAspect="1"/>
          </p:cNvPicPr>
          <p:nvPr/>
        </p:nvPicPr>
        <p:blipFill>
          <a:blip r:embed="rId6"/>
          <a:stretch>
            <a:fillRect/>
          </a:stretch>
        </p:blipFill>
        <p:spPr>
          <a:xfrm>
            <a:off x="4517136" y="2499360"/>
            <a:ext cx="146304" cy="146304"/>
          </a:xfrm>
          <a:prstGeom prst="rect">
            <a:avLst/>
          </a:prstGeom>
        </p:spPr>
      </p:pic>
      <p:sp>
        <p:nvSpPr>
          <p:cNvPr id="126" name="SHOT label"/>
          <p:cNvSpPr txBox="1"/>
          <p:nvPr/>
        </p:nvSpPr>
        <p:spPr>
          <a:xfrm>
            <a:off x="4718304" y="2490216"/>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shots/s05-5-impact-chain.png</a:t>
            </a:r>
          </a:p>
        </p:txBody>
      </p:sp>
      <p:sp>
        <p:nvSpPr>
          <p:cNvPr id="127" name="SHOT text"/>
          <p:cNvSpPr txBox="1"/>
          <p:nvPr/>
        </p:nvSpPr>
        <p:spPr>
          <a:xfrm>
            <a:off x="4517136" y="2691384"/>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impact chain lit in two colours</a:t>
            </a:r>
          </a:p>
        </p:txBody>
      </p:sp>
      <p:sp>
        <p:nvSpPr>
          <p:cNvPr id="128" name="feature tile"/>
          <p:cNvSpPr/>
          <p:nvPr/>
        </p:nvSpPr>
        <p:spPr>
          <a:xfrm>
            <a:off x="6062472" y="2362200"/>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129" name="badge mic"/>
          <p:cNvSpPr/>
          <p:nvPr/>
        </p:nvSpPr>
        <p:spPr>
          <a:xfrm>
            <a:off x="6172200" y="2471928"/>
            <a:ext cx="310896" cy="310896"/>
          </a:xfrm>
          <a:prstGeom prst="ellipse">
            <a:avLst/>
          </a:prstGeom>
          <a:solidFill>
            <a:srgbClr val="FFFFFF"/>
          </a:solidFill>
          <a:ln>
            <a:noFill/>
          </a:ln>
        </p:spPr>
        <p:txBody>
          <a:bodyPr rtlCol="0" anchor="ctr" lIns="0" rIns="0" tIns="0" bIns="0"/>
          <a:lstStyle/>
          <a:p>
            <a:pPr algn="ctr"/>
          </a:p>
        </p:txBody>
      </p:sp>
      <p:pic>
        <p:nvPicPr>
          <p:cNvPr id="130" name="icon mic" descr=""/>
          <p:cNvPicPr>
            <a:picLocks noChangeAspect="1"/>
          </p:cNvPicPr>
          <p:nvPr/>
        </p:nvPicPr>
        <p:blipFill>
          <a:blip r:embed="rId11"/>
          <a:stretch>
            <a:fillRect/>
          </a:stretch>
        </p:blipFill>
        <p:spPr>
          <a:xfrm>
            <a:off x="6246815" y="2546543"/>
            <a:ext cx="161666" cy="161666"/>
          </a:xfrm>
          <a:prstGeom prst="rect">
            <a:avLst/>
          </a:prstGeom>
        </p:spPr>
      </p:pic>
      <p:sp>
        <p:nvSpPr>
          <p:cNvPr id="131" name="feature label"/>
          <p:cNvSpPr txBox="1"/>
          <p:nvPr/>
        </p:nvSpPr>
        <p:spPr>
          <a:xfrm>
            <a:off x="6172200" y="2837688"/>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Live voice co-pilot</a:t>
            </a:r>
          </a:p>
        </p:txBody>
      </p:sp>
      <p:sp>
        <p:nvSpPr>
          <p:cNvPr id="132" name="SHOT placeholder shots/s05-6-copilot-voice.png"/>
          <p:cNvSpPr/>
          <p:nvPr/>
        </p:nvSpPr>
        <p:spPr>
          <a:xfrm>
            <a:off x="7306056" y="2435352"/>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133" name="icon camera" descr=""/>
          <p:cNvPicPr>
            <a:picLocks noChangeAspect="1"/>
          </p:cNvPicPr>
          <p:nvPr/>
        </p:nvPicPr>
        <p:blipFill>
          <a:blip r:embed="rId6"/>
          <a:stretch>
            <a:fillRect/>
          </a:stretch>
        </p:blipFill>
        <p:spPr>
          <a:xfrm>
            <a:off x="7370064" y="2499360"/>
            <a:ext cx="146304" cy="146304"/>
          </a:xfrm>
          <a:prstGeom prst="rect">
            <a:avLst/>
          </a:prstGeom>
        </p:spPr>
      </p:pic>
      <p:sp>
        <p:nvSpPr>
          <p:cNvPr id="134" name="SHOT label"/>
          <p:cNvSpPr txBox="1"/>
          <p:nvPr/>
        </p:nvSpPr>
        <p:spPr>
          <a:xfrm>
            <a:off x="7571232" y="2490216"/>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shots/s05-6-copilot-voice.png</a:t>
            </a:r>
          </a:p>
        </p:txBody>
      </p:sp>
      <p:sp>
        <p:nvSpPr>
          <p:cNvPr id="135" name="SHOT text"/>
          <p:cNvSpPr txBox="1"/>
          <p:nvPr/>
        </p:nvSpPr>
        <p:spPr>
          <a:xfrm>
            <a:off x="7370064" y="2691384"/>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co-pilot voice button with on-screen transcript</a:t>
            </a:r>
          </a:p>
        </p:txBody>
      </p:sp>
      <p:sp>
        <p:nvSpPr>
          <p:cNvPr id="136" name="feature tile"/>
          <p:cNvSpPr/>
          <p:nvPr/>
        </p:nvSpPr>
        <p:spPr>
          <a:xfrm>
            <a:off x="356616" y="3590544"/>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137" name="badge stamp"/>
          <p:cNvSpPr/>
          <p:nvPr/>
        </p:nvSpPr>
        <p:spPr>
          <a:xfrm>
            <a:off x="466344" y="3700272"/>
            <a:ext cx="310896" cy="310896"/>
          </a:xfrm>
          <a:prstGeom prst="ellipse">
            <a:avLst/>
          </a:prstGeom>
          <a:solidFill>
            <a:srgbClr val="FFFFFF"/>
          </a:solidFill>
          <a:ln>
            <a:noFill/>
          </a:ln>
        </p:spPr>
        <p:txBody>
          <a:bodyPr rtlCol="0" anchor="ctr" lIns="0" rIns="0" tIns="0" bIns="0"/>
          <a:lstStyle/>
          <a:p>
            <a:pPr algn="ctr"/>
          </a:p>
        </p:txBody>
      </p:sp>
      <p:pic>
        <p:nvPicPr>
          <p:cNvPr id="138" name="icon stamp" descr=""/>
          <p:cNvPicPr>
            <a:picLocks noChangeAspect="1"/>
          </p:cNvPicPr>
          <p:nvPr/>
        </p:nvPicPr>
        <p:blipFill>
          <a:blip r:embed="rId12"/>
          <a:stretch>
            <a:fillRect/>
          </a:stretch>
        </p:blipFill>
        <p:spPr>
          <a:xfrm>
            <a:off x="540959" y="3774887"/>
            <a:ext cx="161666" cy="161666"/>
          </a:xfrm>
          <a:prstGeom prst="rect">
            <a:avLst/>
          </a:prstGeom>
        </p:spPr>
      </p:pic>
      <p:sp>
        <p:nvSpPr>
          <p:cNvPr id="139" name="feature label"/>
          <p:cNvSpPr txBox="1"/>
          <p:nvPr/>
        </p:nvSpPr>
        <p:spPr>
          <a:xfrm>
            <a:off x="466344" y="4066032"/>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Review and sign-off with revision hash</a:t>
            </a:r>
          </a:p>
        </p:txBody>
      </p:sp>
      <p:sp>
        <p:nvSpPr>
          <p:cNvPr id="140" name="SHOT placeholder shots/s05-7-review-stamp.png"/>
          <p:cNvSpPr/>
          <p:nvPr/>
        </p:nvSpPr>
        <p:spPr>
          <a:xfrm>
            <a:off x="1600200" y="3663696"/>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141" name="icon camera" descr=""/>
          <p:cNvPicPr>
            <a:picLocks noChangeAspect="1"/>
          </p:cNvPicPr>
          <p:nvPr/>
        </p:nvPicPr>
        <p:blipFill>
          <a:blip r:embed="rId6"/>
          <a:stretch>
            <a:fillRect/>
          </a:stretch>
        </p:blipFill>
        <p:spPr>
          <a:xfrm>
            <a:off x="1664208" y="3727704"/>
            <a:ext cx="146304" cy="146304"/>
          </a:xfrm>
          <a:prstGeom prst="rect">
            <a:avLst/>
          </a:prstGeom>
        </p:spPr>
      </p:pic>
      <p:sp>
        <p:nvSpPr>
          <p:cNvPr id="142" name="SHOT label"/>
          <p:cNvSpPr txBox="1"/>
          <p:nvPr/>
        </p:nvSpPr>
        <p:spPr>
          <a:xfrm>
            <a:off x="1865376" y="3718560"/>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shots/s05-7-review-stamp.png</a:t>
            </a:r>
          </a:p>
        </p:txBody>
      </p:sp>
      <p:sp>
        <p:nvSpPr>
          <p:cNvPr id="143" name="SHOT text"/>
          <p:cNvSpPr txBox="1"/>
          <p:nvPr/>
        </p:nvSpPr>
        <p:spPr>
          <a:xfrm>
            <a:off x="1664208" y="3919728"/>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review stamp with hash</a:t>
            </a:r>
          </a:p>
        </p:txBody>
      </p:sp>
      <p:sp>
        <p:nvSpPr>
          <p:cNvPr id="144" name="feature tile"/>
          <p:cNvSpPr/>
          <p:nvPr/>
        </p:nvSpPr>
        <p:spPr>
          <a:xfrm>
            <a:off x="3209544" y="3590544"/>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145" name="badge arrow-right-left"/>
          <p:cNvSpPr/>
          <p:nvPr/>
        </p:nvSpPr>
        <p:spPr>
          <a:xfrm>
            <a:off x="3319272" y="3700272"/>
            <a:ext cx="310896" cy="310896"/>
          </a:xfrm>
          <a:prstGeom prst="ellipse">
            <a:avLst/>
          </a:prstGeom>
          <a:solidFill>
            <a:srgbClr val="FFFFFF"/>
          </a:solidFill>
          <a:ln>
            <a:noFill/>
          </a:ln>
        </p:spPr>
        <p:txBody>
          <a:bodyPr rtlCol="0" anchor="ctr" lIns="0" rIns="0" tIns="0" bIns="0"/>
          <a:lstStyle/>
          <a:p>
            <a:pPr algn="ctr"/>
          </a:p>
        </p:txBody>
      </p:sp>
      <p:pic>
        <p:nvPicPr>
          <p:cNvPr id="146" name="icon arrow-right-left" descr=""/>
          <p:cNvPicPr>
            <a:picLocks noChangeAspect="1"/>
          </p:cNvPicPr>
          <p:nvPr/>
        </p:nvPicPr>
        <p:blipFill>
          <a:blip r:embed="rId13"/>
          <a:stretch>
            <a:fillRect/>
          </a:stretch>
        </p:blipFill>
        <p:spPr>
          <a:xfrm>
            <a:off x="3393887" y="3774887"/>
            <a:ext cx="161666" cy="161666"/>
          </a:xfrm>
          <a:prstGeom prst="rect">
            <a:avLst/>
          </a:prstGeom>
        </p:spPr>
      </p:pic>
      <p:sp>
        <p:nvSpPr>
          <p:cNvPr id="147" name="feature label"/>
          <p:cNvSpPr txBox="1"/>
          <p:nvPr/>
        </p:nvSpPr>
        <p:spPr>
          <a:xfrm>
            <a:off x="3319272" y="4066032"/>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ERP and CRM handoff</a:t>
            </a:r>
          </a:p>
        </p:txBody>
      </p:sp>
      <p:sp>
        <p:nvSpPr>
          <p:cNvPr id="148" name="SHOT placeholder shots/s05-8-integrations.png"/>
          <p:cNvSpPr/>
          <p:nvPr/>
        </p:nvSpPr>
        <p:spPr>
          <a:xfrm>
            <a:off x="4453128" y="3663696"/>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149" name="icon camera" descr=""/>
          <p:cNvPicPr>
            <a:picLocks noChangeAspect="1"/>
          </p:cNvPicPr>
          <p:nvPr/>
        </p:nvPicPr>
        <p:blipFill>
          <a:blip r:embed="rId6"/>
          <a:stretch>
            <a:fillRect/>
          </a:stretch>
        </p:blipFill>
        <p:spPr>
          <a:xfrm>
            <a:off x="4517136" y="3727704"/>
            <a:ext cx="146304" cy="146304"/>
          </a:xfrm>
          <a:prstGeom prst="rect">
            <a:avLst/>
          </a:prstGeom>
        </p:spPr>
      </p:pic>
      <p:sp>
        <p:nvSpPr>
          <p:cNvPr id="150" name="SHOT label"/>
          <p:cNvSpPr txBox="1"/>
          <p:nvPr/>
        </p:nvSpPr>
        <p:spPr>
          <a:xfrm>
            <a:off x="4718304" y="3718560"/>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shots/s05-8-integrations.png</a:t>
            </a:r>
          </a:p>
        </p:txBody>
      </p:sp>
      <p:sp>
        <p:nvSpPr>
          <p:cNvPr id="151" name="SHOT text"/>
          <p:cNvSpPr txBox="1"/>
          <p:nvPr/>
        </p:nvSpPr>
        <p:spPr>
          <a:xfrm>
            <a:off x="4517136" y="3919728"/>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Integrations page</a:t>
            </a:r>
          </a:p>
        </p:txBody>
      </p:sp>
      <p:sp>
        <p:nvSpPr>
          <p:cNvPr id="152" name="feature tile"/>
          <p:cNvSpPr/>
          <p:nvPr/>
        </p:nvSpPr>
        <p:spPr>
          <a:xfrm>
            <a:off x="6062472" y="3590544"/>
            <a:ext cx="2724912" cy="1100328"/>
          </a:xfrm>
          <a:prstGeom prst="roundRect">
            <a:avLst>
              <a:gd name="adj" fmla="val 6648"/>
            </a:avLst>
          </a:prstGeom>
          <a:solidFill>
            <a:srgbClr val="F8F9FA"/>
          </a:solidFill>
          <a:ln w="9525">
            <a:solidFill>
              <a:srgbClr val="E8EAED"/>
            </a:solidFill>
          </a:ln>
        </p:spPr>
        <p:txBody>
          <a:bodyPr rtlCol="0" anchor="ctr" lIns="0" rIns="0" tIns="0" bIns="0"/>
          <a:lstStyle/>
          <a:p>
            <a:pPr algn="ctr"/>
          </a:p>
        </p:txBody>
      </p:sp>
      <p:sp>
        <p:nvSpPr>
          <p:cNvPr id="153" name="badge sun"/>
          <p:cNvSpPr/>
          <p:nvPr/>
        </p:nvSpPr>
        <p:spPr>
          <a:xfrm>
            <a:off x="6172200" y="3700272"/>
            <a:ext cx="310896" cy="310896"/>
          </a:xfrm>
          <a:prstGeom prst="ellipse">
            <a:avLst/>
          </a:prstGeom>
          <a:solidFill>
            <a:srgbClr val="FFFFFF"/>
          </a:solidFill>
          <a:ln>
            <a:noFill/>
          </a:ln>
        </p:spPr>
        <p:txBody>
          <a:bodyPr rtlCol="0" anchor="ctr" lIns="0" rIns="0" tIns="0" bIns="0"/>
          <a:lstStyle/>
          <a:p>
            <a:pPr algn="ctr"/>
          </a:p>
        </p:txBody>
      </p:sp>
      <p:pic>
        <p:nvPicPr>
          <p:cNvPr id="154" name="icon sun" descr=""/>
          <p:cNvPicPr>
            <a:picLocks noChangeAspect="1"/>
          </p:cNvPicPr>
          <p:nvPr/>
        </p:nvPicPr>
        <p:blipFill>
          <a:blip r:embed="rId14"/>
          <a:stretch>
            <a:fillRect/>
          </a:stretch>
        </p:blipFill>
        <p:spPr>
          <a:xfrm>
            <a:off x="6246815" y="3774887"/>
            <a:ext cx="161666" cy="161666"/>
          </a:xfrm>
          <a:prstGeom prst="rect">
            <a:avLst/>
          </a:prstGeom>
        </p:spPr>
      </p:pic>
      <p:sp>
        <p:nvSpPr>
          <p:cNvPr id="155" name="feature label"/>
          <p:cNvSpPr txBox="1"/>
          <p:nvPr/>
        </p:nvSpPr>
        <p:spPr>
          <a:xfrm>
            <a:off x="6172200" y="4066032"/>
            <a:ext cx="1078992" cy="551688"/>
          </a:xfrm>
          <a:prstGeom prst="rect">
            <a:avLst/>
          </a:prstGeom>
          <a:noFill/>
        </p:spPr>
        <p:txBody>
          <a:bodyPr wrap="square" lIns="0" tIns="0" rIns="0" bIns="0" anchor="t">
            <a:noAutofit/>
          </a:bodyPr>
          <a:lstStyle/>
          <a:p>
            <a:pPr algn="l" marL="0" indent="0">
              <a:lnSpc>
                <a:spcPct val="100000"/>
              </a:lnSpc>
              <a:buNone/>
            </a:pPr>
            <a:r>
              <a:rPr sz="1000" b="0" lang="en-GB">
                <a:solidFill>
                  <a:srgbClr val="202124"/>
                </a:solidFill>
                <a:latin typeface="Google Sans Flex Medium"/>
              </a:rPr>
              <a:t>Grid and Solar asset packs</a:t>
            </a:r>
          </a:p>
        </p:txBody>
      </p:sp>
      <p:sp>
        <p:nvSpPr>
          <p:cNvPr id="156" name="SHOT placeholder shots/s05-9-solar-field.png"/>
          <p:cNvSpPr/>
          <p:nvPr/>
        </p:nvSpPr>
        <p:spPr>
          <a:xfrm>
            <a:off x="7306056" y="3663696"/>
            <a:ext cx="1408176" cy="954024"/>
          </a:xfrm>
          <a:prstGeom prst="roundRect">
            <a:avLst>
              <a:gd name="adj" fmla="val 5750"/>
            </a:avLst>
          </a:prstGeom>
          <a:solidFill>
            <a:srgbClr val="FFF4EC"/>
          </a:solidFill>
          <a:ln w="12700">
            <a:solidFill>
              <a:srgbClr val="C2410C"/>
            </a:solidFill>
            <a:prstDash val="dash"/>
          </a:ln>
        </p:spPr>
        <p:txBody>
          <a:bodyPr rtlCol="0" anchor="ctr" lIns="0" rIns="0" tIns="0" bIns="0"/>
          <a:lstStyle/>
          <a:p>
            <a:pPr algn="ctr"/>
          </a:p>
        </p:txBody>
      </p:sp>
      <p:pic>
        <p:nvPicPr>
          <p:cNvPr id="157" name="icon camera" descr=""/>
          <p:cNvPicPr>
            <a:picLocks noChangeAspect="1"/>
          </p:cNvPicPr>
          <p:nvPr/>
        </p:nvPicPr>
        <p:blipFill>
          <a:blip r:embed="rId6"/>
          <a:stretch>
            <a:fillRect/>
          </a:stretch>
        </p:blipFill>
        <p:spPr>
          <a:xfrm>
            <a:off x="7370064" y="3727704"/>
            <a:ext cx="146304" cy="146304"/>
          </a:xfrm>
          <a:prstGeom prst="rect">
            <a:avLst/>
          </a:prstGeom>
        </p:spPr>
      </p:pic>
      <p:sp>
        <p:nvSpPr>
          <p:cNvPr id="158" name="SHOT label"/>
          <p:cNvSpPr txBox="1"/>
          <p:nvPr/>
        </p:nvSpPr>
        <p:spPr>
          <a:xfrm>
            <a:off x="7571232" y="3718560"/>
            <a:ext cx="1078992" cy="182880"/>
          </a:xfrm>
          <a:prstGeom prst="rect">
            <a:avLst/>
          </a:prstGeom>
          <a:noFill/>
        </p:spPr>
        <p:txBody>
          <a:bodyPr wrap="square" lIns="0" tIns="0" rIns="0" bIns="0" anchor="ctr">
            <a:noAutofit/>
          </a:bodyPr>
          <a:lstStyle/>
          <a:p>
            <a:pPr algn="l" marL="0" indent="0">
              <a:lnSpc>
                <a:spcPct val="100000"/>
              </a:lnSpc>
              <a:buNone/>
            </a:pPr>
            <a:r>
              <a:rPr sz="600" b="0" lang="en-GB">
                <a:solidFill>
                  <a:srgbClr val="9A3412"/>
                </a:solidFill>
                <a:latin typeface="Roboto Mono"/>
              </a:rPr>
              <a:t>shots/s05-9-solar-field.png</a:t>
            </a:r>
          </a:p>
        </p:txBody>
      </p:sp>
      <p:sp>
        <p:nvSpPr>
          <p:cNvPr id="159" name="SHOT text"/>
          <p:cNvSpPr txBox="1"/>
          <p:nvPr/>
        </p:nvSpPr>
        <p:spPr>
          <a:xfrm>
            <a:off x="7370064" y="3919728"/>
            <a:ext cx="1280160" cy="633984"/>
          </a:xfrm>
          <a:prstGeom prst="rect">
            <a:avLst/>
          </a:prstGeom>
          <a:noFill/>
        </p:spPr>
        <p:txBody>
          <a:bodyPr wrap="square" lIns="0" tIns="0" rIns="0" bIns="0" anchor="t">
            <a:noAutofit/>
          </a:bodyPr>
          <a:lstStyle/>
          <a:p>
            <a:pPr algn="l" marL="0" indent="0">
              <a:lnSpc>
                <a:spcPct val="100000"/>
              </a:lnSpc>
              <a:buNone/>
            </a:pPr>
            <a:r>
              <a:rPr sz="650" b="0" lang="en-GB">
                <a:solidFill>
                  <a:srgbClr val="9A3412"/>
                </a:solidFill>
                <a:latin typeface="Google Sans Flex"/>
              </a:rPr>
              <a:t>Solar field layout</a:t>
            </a:r>
          </a:p>
        </p:txBody>
      </p:sp>
      <p:sp>
        <p:nvSpPr>
          <p:cNvPr id="160"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All companies, people and data shown are fictional. IEC-based, illustrative values, not for construction.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headline"/>
          <p:cNvSpPr txBox="1"/>
          <p:nvPr/>
        </p:nvSpPr>
        <p:spPr>
          <a:xfrm>
            <a:off x="356616" y="1097280"/>
            <a:ext cx="5120640" cy="329184"/>
          </a:xfrm>
          <a:prstGeom prst="rect">
            <a:avLst/>
          </a:prstGeom>
          <a:noFill/>
        </p:spPr>
        <p:txBody>
          <a:bodyPr wrap="square" lIns="0" tIns="0" rIns="0" bIns="0" anchor="ctr">
            <a:noAutofit/>
          </a:bodyPr>
          <a:lstStyle/>
          <a:p>
            <a:pPr algn="l" marL="0" indent="0">
              <a:lnSpc>
                <a:spcPct val="100000"/>
              </a:lnSpc>
              <a:buNone/>
            </a:pPr>
            <a:r>
              <a:rPr sz="1500" b="0" lang="en-GB">
                <a:solidFill>
                  <a:srgbClr val="202124"/>
                </a:solidFill>
                <a:latin typeface="Google Sans Flex Medium"/>
              </a:rPr>
              <a:t>Four phases. Three gates. One signed revision.</a:t>
            </a:r>
            <a:r>
              <a:rPr sz="1150" b="0" lang="en-GB">
                <a:solidFill>
                  <a:srgbClr val="8A4B00"/>
                </a:solidFill>
                <a:highlight>
                  <a:srgbClr val="FDEBD0"/>
                </a:highlight>
                <a:latin typeface="Google Sans Flex Medium"/>
              </a:rPr>
              <a:t> (spec)</a:t>
            </a:r>
          </a:p>
        </p:txBody>
      </p:sp>
      <p:sp>
        <p:nvSpPr>
          <p:cNvPr id="97" name="subline"/>
          <p:cNvSpPr txBox="1"/>
          <p:nvPr/>
        </p:nvSpPr>
        <p:spPr>
          <a:xfrm>
            <a:off x="356616" y="1435608"/>
            <a:ext cx="8430768" cy="237744"/>
          </a:xfrm>
          <a:prstGeom prst="rect">
            <a:avLst/>
          </a:prstGeom>
          <a:noFill/>
        </p:spPr>
        <p:txBody>
          <a:bodyPr wrap="square" lIns="0" tIns="0" rIns="0" bIns="0" anchor="ctr">
            <a:noAutofit/>
          </a:bodyPr>
          <a:lstStyle/>
          <a:p>
            <a:pPr algn="l" marL="0" indent="0">
              <a:lnSpc>
                <a:spcPct val="100000"/>
              </a:lnSpc>
              <a:buNone/>
            </a:pPr>
            <a:r>
              <a:rPr sz="1000" b="0" lang="en-GB">
                <a:solidFill>
                  <a:srgbClr val="3C4043"/>
                </a:solidFill>
                <a:latin typeface="Google Sans Flex"/>
              </a:rPr>
              <a:t>In Ask mode, the engineer decides at every gate. In Auto, the tender's own clauses decide. Sign-off always waits for a human.</a:t>
            </a:r>
          </a:p>
        </p:txBody>
      </p:sp>
      <p:sp>
        <p:nvSpPr>
          <p:cNvPr id="98" name="lane band"/>
          <p:cNvSpPr/>
          <p:nvPr/>
        </p:nvSpPr>
        <p:spPr>
          <a:xfrm>
            <a:off x="356616" y="2011680"/>
            <a:ext cx="8430768" cy="685800"/>
          </a:xfrm>
          <a:prstGeom prst="rect">
            <a:avLst/>
          </a:prstGeom>
          <a:solidFill>
            <a:srgbClr val="F8F9FA"/>
          </a:solidFill>
          <a:ln>
            <a:noFill/>
          </a:ln>
        </p:spPr>
        <p:txBody>
          <a:bodyPr rtlCol="0" anchor="ctr" lIns="0" rIns="0" tIns="0" bIns="0"/>
          <a:lstStyle/>
          <a:p>
            <a:pPr algn="ctr"/>
          </a:p>
        </p:txBody>
      </p:sp>
      <p:cxnSp>
        <p:nvCxnSpPr>
          <p:cNvPr id="99" name="lane rule"/>
          <p:cNvCxnSpPr/>
          <p:nvPr/>
        </p:nvCxnSpPr>
        <p:spPr>
          <a:xfrm>
            <a:off x="356616" y="2011680"/>
            <a:ext cx="8430768" cy="0"/>
          </a:xfrm>
          <a:prstGeom prst="line">
            <a:avLst/>
          </a:prstGeom>
          <a:ln w="9525">
            <a:solidFill>
              <a:srgbClr val="DADCE0"/>
            </a:solidFill>
          </a:ln>
        </p:spPr>
      </p:cxnSp>
      <p:sp>
        <p:nvSpPr>
          <p:cNvPr id="100" name="lane label"/>
          <p:cNvSpPr txBox="1"/>
          <p:nvPr/>
        </p:nvSpPr>
        <p:spPr>
          <a:xfrm>
            <a:off x="429768" y="2011680"/>
            <a:ext cx="822960" cy="685800"/>
          </a:xfrm>
          <a:prstGeom prst="rect">
            <a:avLst/>
          </a:prstGeom>
          <a:noFill/>
        </p:spPr>
        <p:txBody>
          <a:bodyPr wrap="square" lIns="0" tIns="0" rIns="0" bIns="0" anchor="ctr">
            <a:noAutofit/>
          </a:bodyPr>
          <a:lstStyle/>
          <a:p>
            <a:pPr algn="l" marL="0" indent="0">
              <a:lnSpc>
                <a:spcPct val="100000"/>
              </a:lnSpc>
              <a:buNone/>
            </a:pPr>
            <a:r>
              <a:rPr sz="800" b="0" lang="en-GB">
                <a:solidFill>
                  <a:srgbClr val="202124"/>
                </a:solidFill>
                <a:latin typeface="Google Sans Flex SemiBold"/>
              </a:rPr>
              <a:t>Engineer</a:t>
            </a:r>
          </a:p>
        </p:txBody>
      </p:sp>
      <p:sp>
        <p:nvSpPr>
          <p:cNvPr id="101" name="lane band"/>
          <p:cNvSpPr/>
          <p:nvPr/>
        </p:nvSpPr>
        <p:spPr>
          <a:xfrm>
            <a:off x="356616" y="2697480"/>
            <a:ext cx="8430768" cy="685800"/>
          </a:xfrm>
          <a:prstGeom prst="rect">
            <a:avLst/>
          </a:prstGeom>
          <a:solidFill>
            <a:srgbClr val="FFFFFF"/>
          </a:solidFill>
          <a:ln>
            <a:noFill/>
          </a:ln>
        </p:spPr>
        <p:txBody>
          <a:bodyPr rtlCol="0" anchor="ctr" lIns="0" rIns="0" tIns="0" bIns="0"/>
          <a:lstStyle/>
          <a:p>
            <a:pPr algn="ctr"/>
          </a:p>
        </p:txBody>
      </p:sp>
      <p:cxnSp>
        <p:nvCxnSpPr>
          <p:cNvPr id="102" name="lane rule"/>
          <p:cNvCxnSpPr/>
          <p:nvPr/>
        </p:nvCxnSpPr>
        <p:spPr>
          <a:xfrm>
            <a:off x="356616" y="2697480"/>
            <a:ext cx="8430768" cy="0"/>
          </a:xfrm>
          <a:prstGeom prst="line">
            <a:avLst/>
          </a:prstGeom>
          <a:ln w="9525">
            <a:solidFill>
              <a:srgbClr val="DADCE0"/>
            </a:solidFill>
          </a:ln>
        </p:spPr>
      </p:cxnSp>
      <p:sp>
        <p:nvSpPr>
          <p:cNvPr id="103" name="lane label"/>
          <p:cNvSpPr txBox="1"/>
          <p:nvPr/>
        </p:nvSpPr>
        <p:spPr>
          <a:xfrm>
            <a:off x="429768" y="2697480"/>
            <a:ext cx="822960" cy="685800"/>
          </a:xfrm>
          <a:prstGeom prst="rect">
            <a:avLst/>
          </a:prstGeom>
          <a:noFill/>
        </p:spPr>
        <p:txBody>
          <a:bodyPr wrap="square" lIns="0" tIns="0" rIns="0" bIns="0" anchor="ctr">
            <a:noAutofit/>
          </a:bodyPr>
          <a:lstStyle/>
          <a:p>
            <a:pPr algn="l" marL="0" indent="0">
              <a:lnSpc>
                <a:spcPct val="100000"/>
              </a:lnSpc>
              <a:buNone/>
            </a:pPr>
            <a:r>
              <a:rPr sz="800" b="0" lang="en-GB">
                <a:solidFill>
                  <a:srgbClr val="1A73E8"/>
                </a:solidFill>
                <a:latin typeface="Google Sans Flex SemiBold"/>
              </a:rPr>
              <a:t>Gemini</a:t>
            </a:r>
          </a:p>
          <a:p>
            <a:pPr algn="l" marL="0" indent="0">
              <a:lnSpc>
                <a:spcPct val="100000"/>
              </a:lnSpc>
              <a:buNone/>
            </a:pPr>
            <a:r>
              <a:rPr sz="800" b="0" lang="en-GB">
                <a:solidFill>
                  <a:srgbClr val="1A73E8"/>
                </a:solidFill>
                <a:latin typeface="Google Sans Flex SemiBold"/>
              </a:rPr>
              <a:t>agents (ADK)</a:t>
            </a:r>
          </a:p>
        </p:txBody>
      </p:sp>
      <p:sp>
        <p:nvSpPr>
          <p:cNvPr id="104" name="lane band"/>
          <p:cNvSpPr/>
          <p:nvPr/>
        </p:nvSpPr>
        <p:spPr>
          <a:xfrm>
            <a:off x="356616" y="3383280"/>
            <a:ext cx="8430768" cy="685800"/>
          </a:xfrm>
          <a:prstGeom prst="rect">
            <a:avLst/>
          </a:prstGeom>
          <a:solidFill>
            <a:srgbClr val="F8F9FA"/>
          </a:solidFill>
          <a:ln>
            <a:noFill/>
          </a:ln>
        </p:spPr>
        <p:txBody>
          <a:bodyPr rtlCol="0" anchor="ctr" lIns="0" rIns="0" tIns="0" bIns="0"/>
          <a:lstStyle/>
          <a:p>
            <a:pPr algn="ctr"/>
          </a:p>
        </p:txBody>
      </p:sp>
      <p:cxnSp>
        <p:nvCxnSpPr>
          <p:cNvPr id="105" name="lane rule"/>
          <p:cNvCxnSpPr/>
          <p:nvPr/>
        </p:nvCxnSpPr>
        <p:spPr>
          <a:xfrm>
            <a:off x="356616" y="3383280"/>
            <a:ext cx="8430768" cy="0"/>
          </a:xfrm>
          <a:prstGeom prst="line">
            <a:avLst/>
          </a:prstGeom>
          <a:ln w="9525">
            <a:solidFill>
              <a:srgbClr val="DADCE0"/>
            </a:solidFill>
          </a:ln>
        </p:spPr>
      </p:cxnSp>
      <p:sp>
        <p:nvSpPr>
          <p:cNvPr id="106" name="lane label"/>
          <p:cNvSpPr txBox="1"/>
          <p:nvPr/>
        </p:nvSpPr>
        <p:spPr>
          <a:xfrm>
            <a:off x="429768" y="3383280"/>
            <a:ext cx="822960" cy="685800"/>
          </a:xfrm>
          <a:prstGeom prst="rect">
            <a:avLst/>
          </a:prstGeom>
          <a:noFill/>
        </p:spPr>
        <p:txBody>
          <a:bodyPr wrap="square" lIns="0" tIns="0" rIns="0" bIns="0" anchor="ctr">
            <a:noAutofit/>
          </a:bodyPr>
          <a:lstStyle/>
          <a:p>
            <a:pPr algn="l" marL="0" indent="0">
              <a:lnSpc>
                <a:spcPct val="100000"/>
              </a:lnSpc>
              <a:buNone/>
            </a:pPr>
            <a:r>
              <a:rPr sz="800" b="0" lang="en-GB">
                <a:solidFill>
                  <a:srgbClr val="D93025"/>
                </a:solidFill>
                <a:latin typeface="Google Sans Flex SemiBold"/>
              </a:rPr>
              <a:t>Deterministic</a:t>
            </a:r>
          </a:p>
          <a:p>
            <a:pPr algn="l" marL="0" indent="0">
              <a:lnSpc>
                <a:spcPct val="100000"/>
              </a:lnSpc>
              <a:buNone/>
            </a:pPr>
            <a:r>
              <a:rPr sz="800" b="0" lang="en-GB">
                <a:solidFill>
                  <a:srgbClr val="D93025"/>
                </a:solidFill>
                <a:latin typeface="Google Sans Flex SemiBold"/>
              </a:rPr>
              <a:t>engine + checker</a:t>
            </a:r>
          </a:p>
          <a:p>
            <a:pPr algn="l" marL="0" indent="0">
              <a:lnSpc>
                <a:spcPct val="100000"/>
              </a:lnSpc>
              <a:buNone/>
            </a:pPr>
            <a:r>
              <a:rPr sz="800" b="0" lang="en-GB">
                <a:solidFill>
                  <a:srgbClr val="D93025"/>
                </a:solidFill>
                <a:latin typeface="Google Sans Flex SemiBold"/>
              </a:rPr>
              <a:t>(no LLM)</a:t>
            </a:r>
          </a:p>
        </p:txBody>
      </p:sp>
      <p:sp>
        <p:nvSpPr>
          <p:cNvPr id="107" name="lane band"/>
          <p:cNvSpPr/>
          <p:nvPr/>
        </p:nvSpPr>
        <p:spPr>
          <a:xfrm>
            <a:off x="356616" y="4069080"/>
            <a:ext cx="8430768" cy="685800"/>
          </a:xfrm>
          <a:prstGeom prst="rect">
            <a:avLst/>
          </a:prstGeom>
          <a:solidFill>
            <a:srgbClr val="FFFFFF"/>
          </a:solidFill>
          <a:ln>
            <a:noFill/>
          </a:ln>
        </p:spPr>
        <p:txBody>
          <a:bodyPr rtlCol="0" anchor="ctr" lIns="0" rIns="0" tIns="0" bIns="0"/>
          <a:lstStyle/>
          <a:p>
            <a:pPr algn="ctr"/>
          </a:p>
        </p:txBody>
      </p:sp>
      <p:cxnSp>
        <p:nvCxnSpPr>
          <p:cNvPr id="108" name="lane rule"/>
          <p:cNvCxnSpPr/>
          <p:nvPr/>
        </p:nvCxnSpPr>
        <p:spPr>
          <a:xfrm>
            <a:off x="356616" y="4069080"/>
            <a:ext cx="8430768" cy="0"/>
          </a:xfrm>
          <a:prstGeom prst="line">
            <a:avLst/>
          </a:prstGeom>
          <a:ln w="9525">
            <a:solidFill>
              <a:srgbClr val="DADCE0"/>
            </a:solidFill>
          </a:ln>
        </p:spPr>
      </p:cxnSp>
      <p:sp>
        <p:nvSpPr>
          <p:cNvPr id="109" name="lane label"/>
          <p:cNvSpPr txBox="1"/>
          <p:nvPr/>
        </p:nvSpPr>
        <p:spPr>
          <a:xfrm>
            <a:off x="429768" y="4069080"/>
            <a:ext cx="822960" cy="685800"/>
          </a:xfrm>
          <a:prstGeom prst="rect">
            <a:avLst/>
          </a:prstGeom>
          <a:noFill/>
        </p:spPr>
        <p:txBody>
          <a:bodyPr wrap="square" lIns="0" tIns="0" rIns="0" bIns="0" anchor="ctr">
            <a:noAutofit/>
          </a:bodyPr>
          <a:lstStyle/>
          <a:p>
            <a:pPr algn="l" marL="0" indent="0">
              <a:lnSpc>
                <a:spcPct val="100000"/>
              </a:lnSpc>
              <a:buNone/>
            </a:pPr>
            <a:r>
              <a:rPr sz="800" b="0" lang="en-GB">
                <a:solidFill>
                  <a:srgbClr val="9334E6"/>
                </a:solidFill>
                <a:latin typeface="Google Sans Flex SemiBold"/>
              </a:rPr>
              <a:t>ERP / CRM</a:t>
            </a:r>
          </a:p>
          <a:p>
            <a:pPr algn="l" marL="0" indent="0">
              <a:lnSpc>
                <a:spcPct val="100000"/>
              </a:lnSpc>
              <a:buNone/>
            </a:pPr>
            <a:r>
              <a:rPr sz="800" b="0" lang="en-GB">
                <a:solidFill>
                  <a:srgbClr val="9334E6"/>
                </a:solidFill>
                <a:latin typeface="Google Sans Flex SemiBold"/>
              </a:rPr>
              <a:t>sandbox</a:t>
            </a:r>
          </a:p>
        </p:txBody>
      </p:sp>
      <p:cxnSp>
        <p:nvCxnSpPr>
          <p:cNvPr id="110" name="lane rule"/>
          <p:cNvCxnSpPr/>
          <p:nvPr/>
        </p:nvCxnSpPr>
        <p:spPr>
          <a:xfrm>
            <a:off x="356616" y="4754880"/>
            <a:ext cx="8430768" cy="0"/>
          </a:xfrm>
          <a:prstGeom prst="line">
            <a:avLst/>
          </a:prstGeom>
          <a:ln w="9525">
            <a:solidFill>
              <a:srgbClr val="DADCE0"/>
            </a:solidFill>
          </a:ln>
        </p:spPr>
      </p:cxnSp>
      <p:sp>
        <p:nvSpPr>
          <p:cNvPr id="111" name="no-LLM lane boundary"/>
          <p:cNvSpPr/>
          <p:nvPr/>
        </p:nvSpPr>
        <p:spPr>
          <a:xfrm>
            <a:off x="1289304" y="3419856"/>
            <a:ext cx="7479792" cy="612648"/>
          </a:xfrm>
          <a:prstGeom prst="roundRect">
            <a:avLst>
              <a:gd name="adj" fmla="val 5970"/>
            </a:avLst>
          </a:prstGeom>
          <a:noFill/>
          <a:ln w="12700">
            <a:solidFill>
              <a:srgbClr val="D93025"/>
            </a:solidFill>
            <a:prstDash val="dash"/>
          </a:ln>
        </p:spPr>
        <p:txBody>
          <a:bodyPr rtlCol="0" anchor="ctr" lIns="0" rIns="0" tIns="0" bIns="0"/>
          <a:lstStyle/>
          <a:p>
            <a:pPr algn="ctr"/>
          </a:p>
        </p:txBody>
      </p:sp>
      <p:sp>
        <p:nvSpPr>
          <p:cNvPr id="112" name="phase header"/>
          <p:cNvSpPr txBox="1"/>
          <p:nvPr/>
        </p:nvSpPr>
        <p:spPr>
          <a:xfrm>
            <a:off x="2112264" y="1700784"/>
            <a:ext cx="1353312" cy="310896"/>
          </a:xfrm>
          <a:prstGeom prst="rect">
            <a:avLst/>
          </a:prstGeom>
          <a:noFill/>
        </p:spPr>
        <p:txBody>
          <a:bodyPr wrap="square" lIns="0" tIns="0" rIns="0" bIns="0" anchor="t">
            <a:noAutofit/>
          </a:bodyPr>
          <a:lstStyle/>
          <a:p>
            <a:pPr algn="ctr" marL="0" indent="0">
              <a:lnSpc>
                <a:spcPct val="95000"/>
              </a:lnSpc>
              <a:buNone/>
            </a:pPr>
            <a:r>
              <a:rPr sz="700" b="0" lang="en-GB">
                <a:solidFill>
                  <a:srgbClr val="5F6368"/>
                </a:solidFill>
                <a:latin typeface="Roboto Mono"/>
              </a:rPr>
              <a:t>P1</a:t>
            </a:r>
          </a:p>
          <a:p>
            <a:pPr algn="ctr" marL="0" indent="0">
              <a:lnSpc>
                <a:spcPct val="95000"/>
              </a:lnSpc>
              <a:buNone/>
            </a:pPr>
            <a:r>
              <a:rPr sz="800" b="0" lang="en-GB">
                <a:solidFill>
                  <a:srgbClr val="202124"/>
                </a:solidFill>
                <a:latin typeface="Google Sans Flex SemiBold"/>
              </a:rPr>
              <a:t>Intake and Orchestrator</a:t>
            </a:r>
          </a:p>
        </p:txBody>
      </p:sp>
      <p:sp>
        <p:nvSpPr>
          <p:cNvPr id="113" name="phase header"/>
          <p:cNvSpPr txBox="1"/>
          <p:nvPr/>
        </p:nvSpPr>
        <p:spPr>
          <a:xfrm>
            <a:off x="3877056" y="1700784"/>
            <a:ext cx="1353312" cy="310896"/>
          </a:xfrm>
          <a:prstGeom prst="rect">
            <a:avLst/>
          </a:prstGeom>
          <a:noFill/>
        </p:spPr>
        <p:txBody>
          <a:bodyPr wrap="square" lIns="0" tIns="0" rIns="0" bIns="0" anchor="t">
            <a:noAutofit/>
          </a:bodyPr>
          <a:lstStyle/>
          <a:p>
            <a:pPr algn="ctr" marL="0" indent="0">
              <a:lnSpc>
                <a:spcPct val="95000"/>
              </a:lnSpc>
              <a:buNone/>
            </a:pPr>
            <a:r>
              <a:rPr sz="700" b="0" lang="en-GB">
                <a:solidFill>
                  <a:srgbClr val="5F6368"/>
                </a:solidFill>
                <a:latin typeface="Roboto Mono"/>
              </a:rPr>
              <a:t>P2</a:t>
            </a:r>
          </a:p>
          <a:p>
            <a:pPr algn="ctr" marL="0" indent="0">
              <a:lnSpc>
                <a:spcPct val="95000"/>
              </a:lnSpc>
              <a:buNone/>
            </a:pPr>
            <a:r>
              <a:rPr sz="800" b="0" lang="en-GB">
                <a:solidFill>
                  <a:srgbClr val="202124"/>
                </a:solidFill>
                <a:latin typeface="Google Sans Flex SemiBold"/>
              </a:rPr>
              <a:t>Design</a:t>
            </a:r>
          </a:p>
        </p:txBody>
      </p:sp>
      <p:sp>
        <p:nvSpPr>
          <p:cNvPr id="114" name="phase header"/>
          <p:cNvSpPr txBox="1"/>
          <p:nvPr/>
        </p:nvSpPr>
        <p:spPr>
          <a:xfrm>
            <a:off x="5641848" y="1700784"/>
            <a:ext cx="1353312" cy="310896"/>
          </a:xfrm>
          <a:prstGeom prst="rect">
            <a:avLst/>
          </a:prstGeom>
          <a:noFill/>
        </p:spPr>
        <p:txBody>
          <a:bodyPr wrap="square" lIns="0" tIns="0" rIns="0" bIns="0" anchor="t">
            <a:noAutofit/>
          </a:bodyPr>
          <a:lstStyle/>
          <a:p>
            <a:pPr algn="ctr" marL="0" indent="0">
              <a:lnSpc>
                <a:spcPct val="95000"/>
              </a:lnSpc>
              <a:buNone/>
            </a:pPr>
            <a:r>
              <a:rPr sz="700" b="0" lang="en-GB">
                <a:solidFill>
                  <a:srgbClr val="5F6368"/>
                </a:solidFill>
                <a:latin typeface="Roboto Mono"/>
              </a:rPr>
              <a:t>P3</a:t>
            </a:r>
          </a:p>
          <a:p>
            <a:pPr algn="ctr" marL="0" indent="0">
              <a:lnSpc>
                <a:spcPct val="95000"/>
              </a:lnSpc>
              <a:buNone/>
            </a:pPr>
            <a:r>
              <a:rPr sz="800" b="0" lang="en-GB">
                <a:solidFill>
                  <a:srgbClr val="202124"/>
                </a:solidFill>
                <a:latin typeface="Google Sans Flex SemiBold"/>
              </a:rPr>
              <a:t>Route and check</a:t>
            </a:r>
          </a:p>
        </p:txBody>
      </p:sp>
      <p:sp>
        <p:nvSpPr>
          <p:cNvPr id="115" name="phase header"/>
          <p:cNvSpPr txBox="1"/>
          <p:nvPr/>
        </p:nvSpPr>
        <p:spPr>
          <a:xfrm>
            <a:off x="7406640" y="1700784"/>
            <a:ext cx="1380744" cy="310896"/>
          </a:xfrm>
          <a:prstGeom prst="rect">
            <a:avLst/>
          </a:prstGeom>
          <a:noFill/>
        </p:spPr>
        <p:txBody>
          <a:bodyPr wrap="square" lIns="0" tIns="0" rIns="0" bIns="0" anchor="t">
            <a:noAutofit/>
          </a:bodyPr>
          <a:lstStyle/>
          <a:p>
            <a:pPr algn="ctr" marL="0" indent="0">
              <a:lnSpc>
                <a:spcPct val="95000"/>
              </a:lnSpc>
              <a:buNone/>
            </a:pPr>
            <a:r>
              <a:rPr sz="700" b="0" lang="en-GB">
                <a:solidFill>
                  <a:srgbClr val="5F6368"/>
                </a:solidFill>
                <a:latin typeface="Roboto Mono"/>
              </a:rPr>
              <a:t>P4</a:t>
            </a:r>
          </a:p>
          <a:p>
            <a:pPr algn="ctr" marL="0" indent="0">
              <a:lnSpc>
                <a:spcPct val="95000"/>
              </a:lnSpc>
              <a:buNone/>
            </a:pPr>
            <a:r>
              <a:rPr sz="800" b="0" lang="en-GB">
                <a:solidFill>
                  <a:srgbClr val="202124"/>
                </a:solidFill>
                <a:latin typeface="Google Sans Flex SemiBold"/>
              </a:rPr>
              <a:t>Handoff</a:t>
            </a:r>
          </a:p>
        </p:txBody>
      </p:sp>
      <p:sp>
        <p:nvSpPr>
          <p:cNvPr id="116" name="lane0 box"/>
          <p:cNvSpPr/>
          <p:nvPr/>
        </p:nvSpPr>
        <p:spPr>
          <a:xfrm>
            <a:off x="1325880" y="2144268"/>
            <a:ext cx="713232" cy="420624"/>
          </a:xfrm>
          <a:prstGeom prst="roundRect">
            <a:avLst>
              <a:gd name="adj" fmla="val 10869"/>
            </a:avLst>
          </a:prstGeom>
          <a:solidFill>
            <a:srgbClr val="FFFFFF"/>
          </a:solidFill>
          <a:ln w="9525">
            <a:solidFill>
              <a:srgbClr val="3C4043"/>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Tender PDF</a:t>
            </a:r>
          </a:p>
          <a:p>
            <a:pPr algn="ctr" marL="0" indent="0">
              <a:lnSpc>
                <a:spcPct val="100000"/>
              </a:lnSpc>
              <a:buNone/>
            </a:pPr>
            <a:r>
              <a:rPr sz="800" b="0" lang="en-GB">
                <a:solidFill>
                  <a:srgbClr val="202124"/>
                </a:solidFill>
                <a:latin typeface="Google Sans Flex SemiBold"/>
              </a:rPr>
              <a:t>+ hall DXF</a:t>
            </a:r>
          </a:p>
        </p:txBody>
      </p:sp>
      <p:sp>
        <p:nvSpPr>
          <p:cNvPr id="117" name="lane1 box"/>
          <p:cNvSpPr/>
          <p:nvPr/>
        </p:nvSpPr>
        <p:spPr>
          <a:xfrm>
            <a:off x="2176272" y="2784348"/>
            <a:ext cx="1225296" cy="512064"/>
          </a:xfrm>
          <a:prstGeom prst="roundRect">
            <a:avLst>
              <a:gd name="adj" fmla="val 8928"/>
            </a:avLst>
          </a:prstGeom>
          <a:solidFill>
            <a:srgbClr val="E8F0FE"/>
          </a:solidFill>
          <a:ln w="9525">
            <a:solidFill>
              <a:srgbClr val="1A73E8"/>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Intake + Orchestrator</a:t>
            </a:r>
          </a:p>
          <a:p>
            <a:pPr algn="ctr" marL="0" indent="0">
              <a:lnSpc>
                <a:spcPct val="100000"/>
              </a:lnSpc>
              <a:buNone/>
            </a:pPr>
            <a:r>
              <a:rPr sz="700" b="0" lang="en-GB">
                <a:solidFill>
                  <a:srgbClr val="3C4043"/>
                </a:solidFill>
                <a:latin typeface="Google Sans Flex"/>
              </a:rPr>
              <a:t>verified quotes,</a:t>
            </a:r>
          </a:p>
          <a:p>
            <a:pPr algn="ctr" marL="0" indent="0">
              <a:lnSpc>
                <a:spcPct val="100000"/>
              </a:lnSpc>
              <a:buNone/>
            </a:pPr>
            <a:r>
              <a:rPr sz="700" b="0" lang="en-GB">
                <a:solidFill>
                  <a:srgbClr val="3C4043"/>
                </a:solidFill>
                <a:latin typeface="Google Sans Flex"/>
              </a:rPr>
              <a:t>contradictions</a:t>
            </a:r>
          </a:p>
        </p:txBody>
      </p:sp>
      <p:sp>
        <p:nvSpPr>
          <p:cNvPr id="118" name="lane1 box"/>
          <p:cNvSpPr/>
          <p:nvPr/>
        </p:nvSpPr>
        <p:spPr>
          <a:xfrm>
            <a:off x="3941064" y="2766060"/>
            <a:ext cx="1225296" cy="548640"/>
          </a:xfrm>
          <a:prstGeom prst="roundRect">
            <a:avLst>
              <a:gd name="adj" fmla="val 8333"/>
            </a:avLst>
          </a:prstGeom>
          <a:solidFill>
            <a:srgbClr val="E8F0FE"/>
          </a:solidFill>
          <a:ln w="9525">
            <a:solidFill>
              <a:srgbClr val="1A73E8"/>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Layout, then</a:t>
            </a:r>
          </a:p>
          <a:p>
            <a:pPr algn="ctr" marL="0" indent="0">
              <a:lnSpc>
                <a:spcPct val="100000"/>
              </a:lnSpc>
              <a:buNone/>
            </a:pPr>
            <a:r>
              <a:rPr sz="800" b="0" lang="en-GB">
                <a:solidFill>
                  <a:srgbClr val="202124"/>
                </a:solidFill>
                <a:latin typeface="Google Sans Flex SemiBold"/>
              </a:rPr>
              <a:t>Power ∥ Cooling</a:t>
            </a:r>
          </a:p>
          <a:p>
            <a:pPr algn="ctr" marL="0" indent="0">
              <a:lnSpc>
                <a:spcPct val="100000"/>
              </a:lnSpc>
              <a:buNone/>
            </a:pPr>
            <a:r>
              <a:rPr sz="700" b="0" lang="en-GB">
                <a:solidFill>
                  <a:srgbClr val="3C4043"/>
                </a:solidFill>
                <a:latin typeface="Google Sans Flex"/>
              </a:rPr>
              <a:t>Procurement reads</a:t>
            </a:r>
          </a:p>
          <a:p>
            <a:pPr algn="ctr" marL="0" indent="0">
              <a:lnSpc>
                <a:spcPct val="100000"/>
              </a:lnSpc>
              <a:buNone/>
            </a:pPr>
            <a:r>
              <a:rPr sz="700" b="0" lang="en-GB">
                <a:solidFill>
                  <a:srgbClr val="3C4043"/>
                </a:solidFill>
                <a:latin typeface="Google Sans Flex"/>
              </a:rPr>
              <a:t>ERP lead times</a:t>
            </a:r>
          </a:p>
        </p:txBody>
      </p:sp>
      <p:sp>
        <p:nvSpPr>
          <p:cNvPr id="119" name="lane2 box"/>
          <p:cNvSpPr/>
          <p:nvPr/>
        </p:nvSpPr>
        <p:spPr>
          <a:xfrm>
            <a:off x="3941064" y="3470148"/>
            <a:ext cx="1225296" cy="512064"/>
          </a:xfrm>
          <a:prstGeom prst="roundRect">
            <a:avLst>
              <a:gd name="adj" fmla="val 8928"/>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Engine swap +</a:t>
            </a:r>
          </a:p>
          <a:p>
            <a:pPr algn="ctr" marL="0" indent="0">
              <a:lnSpc>
                <a:spcPct val="100000"/>
              </a:lnSpc>
              <a:buNone/>
            </a:pPr>
            <a:r>
              <a:rPr sz="800" b="0" lang="en-GB">
                <a:solidFill>
                  <a:srgbClr val="202124"/>
                </a:solidFill>
                <a:latin typeface="Google Sans Flex SemiBold"/>
              </a:rPr>
              <a:t>Power re-check</a:t>
            </a:r>
          </a:p>
        </p:txBody>
      </p:sp>
      <p:sp>
        <p:nvSpPr>
          <p:cNvPr id="120" name="lane3 box"/>
          <p:cNvSpPr/>
          <p:nvPr/>
        </p:nvSpPr>
        <p:spPr>
          <a:xfrm>
            <a:off x="3941064" y="4155948"/>
            <a:ext cx="1225296" cy="512064"/>
          </a:xfrm>
          <a:prstGeom prst="roundRect">
            <a:avLst>
              <a:gd name="adj" fmla="val 8928"/>
            </a:avLst>
          </a:prstGeom>
          <a:solidFill>
            <a:srgbClr val="F3E8FD"/>
          </a:solidFill>
          <a:ln w="9525">
            <a:solidFill>
              <a:srgbClr val="9334E6"/>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ERP lead times</a:t>
            </a:r>
          </a:p>
        </p:txBody>
      </p:sp>
      <p:sp>
        <p:nvSpPr>
          <p:cNvPr id="121" name="lane1 box"/>
          <p:cNvSpPr/>
          <p:nvPr/>
        </p:nvSpPr>
        <p:spPr>
          <a:xfrm>
            <a:off x="5705856" y="2784348"/>
            <a:ext cx="1225296" cy="512064"/>
          </a:xfrm>
          <a:prstGeom prst="roundRect">
            <a:avLst>
              <a:gd name="adj" fmla="val 8928"/>
            </a:avLst>
          </a:prstGeom>
          <a:solidFill>
            <a:srgbClr val="E8F0FE"/>
          </a:solidFill>
          <a:ln w="9525">
            <a:solidFill>
              <a:srgbClr val="1A73E8"/>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Route busways</a:t>
            </a:r>
          </a:p>
          <a:p>
            <a:pPr algn="ctr" marL="0" indent="0">
              <a:lnSpc>
                <a:spcPct val="100000"/>
              </a:lnSpc>
              <a:buNone/>
            </a:pPr>
            <a:r>
              <a:rPr sz="800" b="0" lang="en-GB">
                <a:solidFill>
                  <a:srgbClr val="202124"/>
                </a:solidFill>
                <a:latin typeface="Google Sans Flex SemiBold"/>
              </a:rPr>
              <a:t>and pipes</a:t>
            </a:r>
          </a:p>
        </p:txBody>
      </p:sp>
      <p:sp>
        <p:nvSpPr>
          <p:cNvPr id="122" name="lane2 box"/>
          <p:cNvSpPr/>
          <p:nvPr/>
        </p:nvSpPr>
        <p:spPr>
          <a:xfrm>
            <a:off x="5705856" y="3470148"/>
            <a:ext cx="1225296" cy="512064"/>
          </a:xfrm>
          <a:prstGeom prst="roundRect">
            <a:avLst>
              <a:gd name="adj" fmla="val 8928"/>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BOQ · Checker</a:t>
            </a:r>
          </a:p>
          <a:p>
            <a:pPr algn="ctr" marL="0" indent="0">
              <a:lnSpc>
                <a:spcPct val="100000"/>
              </a:lnSpc>
              <a:buNone/>
            </a:pPr>
            <a:r>
              <a:rPr sz="800" b="0" lang="en-GB">
                <a:solidFill>
                  <a:srgbClr val="202124"/>
                </a:solidFill>
                <a:latin typeface="Google Sans Flex SemiBold"/>
              </a:rPr>
              <a:t>(no LLM)</a:t>
            </a:r>
          </a:p>
        </p:txBody>
      </p:sp>
      <p:sp>
        <p:nvSpPr>
          <p:cNvPr id="123" name="lane2 box"/>
          <p:cNvSpPr/>
          <p:nvPr/>
        </p:nvSpPr>
        <p:spPr>
          <a:xfrm>
            <a:off x="7680960" y="3470148"/>
            <a:ext cx="1042416" cy="512064"/>
          </a:xfrm>
          <a:prstGeom prst="roundRect">
            <a:avLst>
              <a:gd name="adj" fmla="val 8928"/>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R12 re-check</a:t>
            </a:r>
          </a:p>
        </p:txBody>
      </p:sp>
      <p:sp>
        <p:nvSpPr>
          <p:cNvPr id="124" name="lane3 box"/>
          <p:cNvSpPr/>
          <p:nvPr/>
        </p:nvSpPr>
        <p:spPr>
          <a:xfrm>
            <a:off x="7516368" y="4137660"/>
            <a:ext cx="1207008" cy="548640"/>
          </a:xfrm>
          <a:prstGeom prst="roundRect">
            <a:avLst>
              <a:gd name="adj" fmla="val 8333"/>
            </a:avLst>
          </a:prstGeom>
          <a:solidFill>
            <a:srgbClr val="F3E8FD"/>
          </a:solidFill>
          <a:ln w="9525">
            <a:solidFill>
              <a:srgbClr val="9334E6"/>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SemiBold"/>
              </a:rPr>
              <a:t>PRs to ERP · CRM</a:t>
            </a:r>
          </a:p>
          <a:p>
            <a:pPr algn="ctr" marL="0" indent="0">
              <a:lnSpc>
                <a:spcPct val="100000"/>
              </a:lnSpc>
              <a:buNone/>
            </a:pPr>
            <a:r>
              <a:rPr sz="800" b="0" lang="en-GB">
                <a:solidFill>
                  <a:srgbClr val="202124"/>
                </a:solidFill>
                <a:latin typeface="Google Sans Flex SemiBold"/>
              </a:rPr>
              <a:t>stage update · audit</a:t>
            </a:r>
          </a:p>
        </p:txBody>
      </p:sp>
      <p:sp>
        <p:nvSpPr>
          <p:cNvPr id="125" name="gate Plan gate"/>
          <p:cNvSpPr/>
          <p:nvPr/>
        </p:nvSpPr>
        <p:spPr>
          <a:xfrm>
            <a:off x="3525012" y="2331720"/>
            <a:ext cx="292608" cy="292608"/>
          </a:xfrm>
          <a:prstGeom prst="diamond">
            <a:avLst/>
          </a:prstGeom>
          <a:solidFill>
            <a:srgbClr val="202124"/>
          </a:solidFill>
          <a:ln>
            <a:noFill/>
          </a:ln>
        </p:spPr>
        <p:txBody>
          <a:bodyPr rtlCol="0" anchor="ctr" lIns="0" rIns="0" tIns="0" bIns="0"/>
          <a:lstStyle/>
          <a:p>
            <a:pPr algn="ctr"/>
          </a:p>
        </p:txBody>
      </p:sp>
      <p:sp>
        <p:nvSpPr>
          <p:cNvPr id="126" name="gate label"/>
          <p:cNvSpPr txBox="1"/>
          <p:nvPr/>
        </p:nvSpPr>
        <p:spPr>
          <a:xfrm>
            <a:off x="3122676" y="2039112"/>
            <a:ext cx="1097280" cy="274320"/>
          </a:xfrm>
          <a:prstGeom prst="rect">
            <a:avLst/>
          </a:prstGeom>
          <a:noFill/>
        </p:spPr>
        <p:txBody>
          <a:bodyPr wrap="square" lIns="0" tIns="0" rIns="0" bIns="0" anchor="b">
            <a:noAutofit/>
          </a:bodyPr>
          <a:lstStyle/>
          <a:p>
            <a:pPr algn="ctr" marL="0" indent="0">
              <a:lnSpc>
                <a:spcPct val="92000"/>
              </a:lnSpc>
              <a:buNone/>
            </a:pPr>
            <a:r>
              <a:rPr sz="750" b="0" lang="en-GB">
                <a:solidFill>
                  <a:srgbClr val="202124"/>
                </a:solidFill>
                <a:latin typeface="Google Sans Flex SemiBold"/>
              </a:rPr>
              <a:t>Plan gate</a:t>
            </a:r>
          </a:p>
          <a:p>
            <a:pPr algn="ctr" marL="0" indent="0">
              <a:lnSpc>
                <a:spcPct val="92000"/>
              </a:lnSpc>
              <a:buNone/>
            </a:pPr>
            <a:r>
              <a:rPr sz="700" b="0" lang="en-GB">
                <a:solidFill>
                  <a:srgbClr val="5F6368"/>
                </a:solidFill>
                <a:latin typeface="Google Sans Flex"/>
              </a:rPr>
              <a:t>engineer</a:t>
            </a:r>
          </a:p>
        </p:txBody>
      </p:sp>
      <p:sp>
        <p:nvSpPr>
          <p:cNvPr id="127" name="gate Option gate"/>
          <p:cNvSpPr/>
          <p:nvPr/>
        </p:nvSpPr>
        <p:spPr>
          <a:xfrm>
            <a:off x="5289804" y="2331720"/>
            <a:ext cx="292608" cy="292608"/>
          </a:xfrm>
          <a:prstGeom prst="diamond">
            <a:avLst/>
          </a:prstGeom>
          <a:solidFill>
            <a:srgbClr val="202124"/>
          </a:solidFill>
          <a:ln>
            <a:noFill/>
          </a:ln>
        </p:spPr>
        <p:txBody>
          <a:bodyPr rtlCol="0" anchor="ctr" lIns="0" rIns="0" tIns="0" bIns="0"/>
          <a:lstStyle/>
          <a:p>
            <a:pPr algn="ctr"/>
          </a:p>
        </p:txBody>
      </p:sp>
      <p:sp>
        <p:nvSpPr>
          <p:cNvPr id="128" name="gate label"/>
          <p:cNvSpPr txBox="1"/>
          <p:nvPr/>
        </p:nvSpPr>
        <p:spPr>
          <a:xfrm>
            <a:off x="4887468" y="2039112"/>
            <a:ext cx="1097280" cy="274320"/>
          </a:xfrm>
          <a:prstGeom prst="rect">
            <a:avLst/>
          </a:prstGeom>
          <a:noFill/>
        </p:spPr>
        <p:txBody>
          <a:bodyPr wrap="square" lIns="0" tIns="0" rIns="0" bIns="0" anchor="b">
            <a:noAutofit/>
          </a:bodyPr>
          <a:lstStyle/>
          <a:p>
            <a:pPr algn="ctr" marL="0" indent="0">
              <a:lnSpc>
                <a:spcPct val="92000"/>
              </a:lnSpc>
              <a:buNone/>
            </a:pPr>
            <a:r>
              <a:rPr sz="750" b="0" lang="en-GB">
                <a:solidFill>
                  <a:srgbClr val="202124"/>
                </a:solidFill>
                <a:latin typeface="Google Sans Flex SemiBold"/>
              </a:rPr>
              <a:t>Option gate</a:t>
            </a:r>
          </a:p>
          <a:p>
            <a:pPr algn="ctr" marL="0" indent="0">
              <a:lnSpc>
                <a:spcPct val="92000"/>
              </a:lnSpc>
              <a:buNone/>
            </a:pPr>
            <a:r>
              <a:rPr sz="700" b="0" lang="en-GB">
                <a:solidFill>
                  <a:srgbClr val="5F6368"/>
                </a:solidFill>
                <a:latin typeface="Google Sans Flex"/>
              </a:rPr>
              <a:t>engineer</a:t>
            </a:r>
          </a:p>
        </p:txBody>
      </p:sp>
      <p:sp>
        <p:nvSpPr>
          <p:cNvPr id="129" name="gate Review gate"/>
          <p:cNvSpPr/>
          <p:nvPr/>
        </p:nvSpPr>
        <p:spPr>
          <a:xfrm>
            <a:off x="7054596" y="2331720"/>
            <a:ext cx="292608" cy="292608"/>
          </a:xfrm>
          <a:prstGeom prst="diamond">
            <a:avLst/>
          </a:prstGeom>
          <a:solidFill>
            <a:srgbClr val="202124"/>
          </a:solidFill>
          <a:ln>
            <a:noFill/>
          </a:ln>
        </p:spPr>
        <p:txBody>
          <a:bodyPr rtlCol="0" anchor="ctr" lIns="0" rIns="0" tIns="0" bIns="0"/>
          <a:lstStyle/>
          <a:p>
            <a:pPr algn="ctr"/>
          </a:p>
        </p:txBody>
      </p:sp>
      <p:sp>
        <p:nvSpPr>
          <p:cNvPr id="130" name="gate label"/>
          <p:cNvSpPr txBox="1"/>
          <p:nvPr/>
        </p:nvSpPr>
        <p:spPr>
          <a:xfrm>
            <a:off x="6652260" y="2039112"/>
            <a:ext cx="1097280" cy="274320"/>
          </a:xfrm>
          <a:prstGeom prst="rect">
            <a:avLst/>
          </a:prstGeom>
          <a:noFill/>
        </p:spPr>
        <p:txBody>
          <a:bodyPr wrap="square" lIns="0" tIns="0" rIns="0" bIns="0" anchor="b">
            <a:noAutofit/>
          </a:bodyPr>
          <a:lstStyle/>
          <a:p>
            <a:pPr algn="ctr" marL="0" indent="0">
              <a:lnSpc>
                <a:spcPct val="92000"/>
              </a:lnSpc>
              <a:buNone/>
            </a:pPr>
            <a:r>
              <a:rPr sz="750" b="0" lang="en-GB">
                <a:solidFill>
                  <a:srgbClr val="202124"/>
                </a:solidFill>
                <a:latin typeface="Google Sans Flex SemiBold"/>
              </a:rPr>
              <a:t>Review gate</a:t>
            </a:r>
          </a:p>
          <a:p>
            <a:pPr algn="ctr" marL="0" indent="0">
              <a:lnSpc>
                <a:spcPct val="92000"/>
              </a:lnSpc>
              <a:buNone/>
            </a:pPr>
            <a:r>
              <a:rPr sz="700" b="0" lang="en-GB">
                <a:solidFill>
                  <a:srgbClr val="5F6368"/>
                </a:solidFill>
                <a:latin typeface="Google Sans Flex"/>
              </a:rPr>
              <a:t>always human</a:t>
            </a:r>
          </a:p>
        </p:txBody>
      </p:sp>
      <p:cxnSp>
        <p:nvCxnSpPr>
          <p:cNvPr id="131" name="arrow"/>
          <p:cNvCxnSpPr>
            <a:stCxn id="116" idx="3"/>
            <a:endCxn id="117" idx="0"/>
          </p:cNvCxnSpPr>
          <p:nvPr/>
        </p:nvCxnSpPr>
        <p:spPr>
          <a:xfrm>
            <a:off x="2039112" y="2354580"/>
            <a:ext cx="749808" cy="429768"/>
          </a:xfrm>
          <a:prstGeom prst="bentConnector2">
            <a:avLst/>
          </a:prstGeom>
          <a:ln w="12700">
            <a:solidFill>
              <a:srgbClr val="5F6368"/>
            </a:solidFill>
            <a:tailEnd type="triangle" w="med" len="med"/>
          </a:ln>
        </p:spPr>
      </p:cxnSp>
      <p:cxnSp>
        <p:nvCxnSpPr>
          <p:cNvPr id="132" name="arrow"/>
          <p:cNvCxnSpPr>
            <a:stCxn id="117" idx="3"/>
            <a:endCxn id="125" idx="2"/>
          </p:cNvCxnSpPr>
          <p:nvPr/>
        </p:nvCxnSpPr>
        <p:spPr>
          <a:xfrm flipV="1">
            <a:off x="3401568" y="2624328"/>
            <a:ext cx="269748" cy="416052"/>
          </a:xfrm>
          <a:prstGeom prst="bentConnector2">
            <a:avLst/>
          </a:prstGeom>
          <a:ln w="12700">
            <a:solidFill>
              <a:srgbClr val="5F6368"/>
            </a:solidFill>
            <a:tailEnd type="triangle" w="med" len="med"/>
          </a:ln>
        </p:spPr>
      </p:cxnSp>
      <p:cxnSp>
        <p:nvCxnSpPr>
          <p:cNvPr id="133" name="arrow"/>
          <p:cNvCxnSpPr>
            <a:stCxn id="125" idx="3"/>
            <a:endCxn id="118" idx="0"/>
          </p:cNvCxnSpPr>
          <p:nvPr/>
        </p:nvCxnSpPr>
        <p:spPr>
          <a:xfrm>
            <a:off x="3817620" y="2478024"/>
            <a:ext cx="736092" cy="288036"/>
          </a:xfrm>
          <a:prstGeom prst="bentConnector2">
            <a:avLst/>
          </a:prstGeom>
          <a:ln w="12700">
            <a:solidFill>
              <a:srgbClr val="5F6368"/>
            </a:solidFill>
            <a:tailEnd type="triangle" w="med" len="med"/>
          </a:ln>
        </p:spPr>
      </p:cxnSp>
      <p:cxnSp>
        <p:nvCxnSpPr>
          <p:cNvPr id="134" name="arrow"/>
          <p:cNvCxnSpPr>
            <a:stCxn id="118" idx="2"/>
            <a:endCxn id="119" idx="0"/>
          </p:cNvCxnSpPr>
          <p:nvPr/>
        </p:nvCxnSpPr>
        <p:spPr>
          <a:xfrm flipH="1">
            <a:off x="4553712" y="3314700"/>
            <a:ext cx="0" cy="155448"/>
          </a:xfrm>
          <a:prstGeom prst="line">
            <a:avLst/>
          </a:prstGeom>
          <a:ln w="12700">
            <a:solidFill>
              <a:srgbClr val="5F6368"/>
            </a:solidFill>
            <a:tailEnd type="triangle" w="med" len="med"/>
          </a:ln>
        </p:spPr>
      </p:cxnSp>
      <p:cxnSp>
        <p:nvCxnSpPr>
          <p:cNvPr id="135" name="arrow"/>
          <p:cNvCxnSpPr>
            <a:stCxn id="120" idx="0"/>
            <a:endCxn id="119" idx="2"/>
          </p:cNvCxnSpPr>
          <p:nvPr/>
        </p:nvCxnSpPr>
        <p:spPr>
          <a:xfrm flipH="1" flipV="1">
            <a:off x="4553712" y="3982212"/>
            <a:ext cx="0" cy="173736"/>
          </a:xfrm>
          <a:prstGeom prst="line">
            <a:avLst/>
          </a:prstGeom>
          <a:ln w="12700">
            <a:solidFill>
              <a:srgbClr val="9334E6"/>
            </a:solidFill>
            <a:tailEnd type="triangle" w="med" len="med"/>
          </a:ln>
        </p:spPr>
      </p:cxnSp>
      <p:cxnSp>
        <p:nvCxnSpPr>
          <p:cNvPr id="136" name="arrow"/>
          <p:cNvCxnSpPr>
            <a:stCxn id="119" idx="3"/>
            <a:endCxn id="127" idx="2"/>
          </p:cNvCxnSpPr>
          <p:nvPr/>
        </p:nvCxnSpPr>
        <p:spPr>
          <a:xfrm flipV="1">
            <a:off x="5166360" y="2624328"/>
            <a:ext cx="269748" cy="1101852"/>
          </a:xfrm>
          <a:prstGeom prst="bentConnector2">
            <a:avLst/>
          </a:prstGeom>
          <a:ln w="12700">
            <a:solidFill>
              <a:srgbClr val="5F6368"/>
            </a:solidFill>
            <a:tailEnd type="triangle" w="med" len="med"/>
          </a:ln>
        </p:spPr>
      </p:cxnSp>
      <p:cxnSp>
        <p:nvCxnSpPr>
          <p:cNvPr id="137" name="arrow"/>
          <p:cNvCxnSpPr>
            <a:stCxn id="127" idx="3"/>
            <a:endCxn id="121" idx="0"/>
          </p:cNvCxnSpPr>
          <p:nvPr/>
        </p:nvCxnSpPr>
        <p:spPr>
          <a:xfrm>
            <a:off x="5582412" y="2478024"/>
            <a:ext cx="736092" cy="306324"/>
          </a:xfrm>
          <a:prstGeom prst="bentConnector2">
            <a:avLst/>
          </a:prstGeom>
          <a:ln w="12700">
            <a:solidFill>
              <a:srgbClr val="5F6368"/>
            </a:solidFill>
            <a:tailEnd type="triangle" w="med" len="med"/>
          </a:ln>
        </p:spPr>
      </p:cxnSp>
      <p:cxnSp>
        <p:nvCxnSpPr>
          <p:cNvPr id="138" name="arrow"/>
          <p:cNvCxnSpPr>
            <a:stCxn id="121" idx="2"/>
            <a:endCxn id="122" idx="0"/>
          </p:cNvCxnSpPr>
          <p:nvPr/>
        </p:nvCxnSpPr>
        <p:spPr>
          <a:xfrm flipH="1">
            <a:off x="6318504" y="3296412"/>
            <a:ext cx="0" cy="173736"/>
          </a:xfrm>
          <a:prstGeom prst="line">
            <a:avLst/>
          </a:prstGeom>
          <a:ln w="12700">
            <a:solidFill>
              <a:srgbClr val="5F6368"/>
            </a:solidFill>
            <a:headEnd type="triangle" w="med" len="med"/>
            <a:tailEnd type="triangle" w="med" len="med"/>
          </a:ln>
        </p:spPr>
      </p:cxnSp>
      <p:sp>
        <p:nvSpPr>
          <p:cNvPr id="139" name="edge label"/>
          <p:cNvSpPr txBox="1"/>
          <p:nvPr/>
        </p:nvSpPr>
        <p:spPr>
          <a:xfrm>
            <a:off x="6382512" y="3300984"/>
            <a:ext cx="566928" cy="155448"/>
          </a:xfrm>
          <a:prstGeom prst="rect">
            <a:avLst/>
          </a:prstGeom>
          <a:noFill/>
        </p:spPr>
        <p:txBody>
          <a:bodyPr wrap="square" lIns="0" tIns="0" rIns="0" bIns="0" anchor="ctr">
            <a:noAutofit/>
          </a:bodyPr>
          <a:lstStyle/>
          <a:p>
            <a:pPr algn="l" marL="0" indent="0">
              <a:lnSpc>
                <a:spcPct val="100000"/>
              </a:lnSpc>
              <a:buNone/>
            </a:pPr>
            <a:r>
              <a:rPr sz="700" b="0" lang="en-GB">
                <a:solidFill>
                  <a:srgbClr val="5F6368"/>
                </a:solidFill>
                <a:latin typeface="Google Sans Flex"/>
              </a:rPr>
              <a:t>fix loop</a:t>
            </a:r>
          </a:p>
        </p:txBody>
      </p:sp>
      <p:cxnSp>
        <p:nvCxnSpPr>
          <p:cNvPr id="140" name="arrow"/>
          <p:cNvCxnSpPr>
            <a:stCxn id="122" idx="3"/>
            <a:endCxn id="129" idx="2"/>
          </p:cNvCxnSpPr>
          <p:nvPr/>
        </p:nvCxnSpPr>
        <p:spPr>
          <a:xfrm flipV="1">
            <a:off x="6931152" y="2624328"/>
            <a:ext cx="269748" cy="1101852"/>
          </a:xfrm>
          <a:prstGeom prst="bentConnector2">
            <a:avLst/>
          </a:prstGeom>
          <a:ln w="12700">
            <a:solidFill>
              <a:srgbClr val="5F6368"/>
            </a:solidFill>
            <a:tailEnd type="triangle" w="med" len="med"/>
          </a:ln>
        </p:spPr>
      </p:cxnSp>
      <p:cxnSp>
        <p:nvCxnSpPr>
          <p:cNvPr id="141" name="arrow"/>
          <p:cNvCxnSpPr>
            <a:stCxn id="129" idx="3"/>
            <a:endCxn id="124" idx="1"/>
          </p:cNvCxnSpPr>
          <p:nvPr/>
        </p:nvCxnSpPr>
        <p:spPr>
          <a:xfrm>
            <a:off x="7347204" y="2478024"/>
            <a:ext cx="169164" cy="1933956"/>
          </a:xfrm>
          <a:prstGeom prst="bentConnector3">
            <a:avLst/>
          </a:prstGeom>
          <a:ln w="12700">
            <a:solidFill>
              <a:srgbClr val="5F6368"/>
            </a:solidFill>
            <a:tailEnd type="triangle" w="med" len="med"/>
          </a:ln>
        </p:spPr>
      </p:cxnSp>
      <p:cxnSp>
        <p:nvCxnSpPr>
          <p:cNvPr id="142" name="arrow"/>
          <p:cNvCxnSpPr/>
          <p:nvPr/>
        </p:nvCxnSpPr>
        <p:spPr>
          <a:xfrm flipV="1">
            <a:off x="8202168" y="3982212"/>
            <a:ext cx="0" cy="155448"/>
          </a:xfrm>
          <a:prstGeom prst="line">
            <a:avLst/>
          </a:prstGeom>
          <a:ln w="12700">
            <a:solidFill>
              <a:srgbClr val="9334E6"/>
            </a:solidFill>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headline"/>
          <p:cNvSpPr txBox="1"/>
          <p:nvPr/>
        </p:nvSpPr>
        <p:spPr>
          <a:xfrm>
            <a:off x="356616" y="1115568"/>
            <a:ext cx="3931920" cy="329184"/>
          </a:xfrm>
          <a:prstGeom prst="rect">
            <a:avLst/>
          </a:prstGeom>
          <a:noFill/>
        </p:spPr>
        <p:txBody>
          <a:bodyPr wrap="square" lIns="0" tIns="0" rIns="0" bIns="0" anchor="ctr">
            <a:noAutofit/>
          </a:bodyPr>
          <a:lstStyle/>
          <a:p>
            <a:pPr algn="l" marL="0" indent="0">
              <a:lnSpc>
                <a:spcPct val="100000"/>
              </a:lnSpc>
              <a:buNone/>
            </a:pPr>
            <a:r>
              <a:rPr sz="1500" b="0" lang="en-GB">
                <a:solidFill>
                  <a:srgbClr val="202124"/>
                </a:solidFill>
                <a:latin typeface="Google Sans Flex Medium"/>
              </a:rPr>
              <a:t>Trust, built into the screen.</a:t>
            </a:r>
          </a:p>
        </p:txBody>
      </p:sp>
      <p:sp>
        <p:nvSpPr>
          <p:cNvPr id="105" name="trust bullets"/>
          <p:cNvSpPr txBox="1"/>
          <p:nvPr/>
        </p:nvSpPr>
        <p:spPr>
          <a:xfrm>
            <a:off x="356616" y="1463040"/>
            <a:ext cx="3931920" cy="822960"/>
          </a:xfrm>
          <a:prstGeom prst="rect">
            <a:avLst/>
          </a:prstGeom>
          <a:noFill/>
        </p:spPr>
        <p:txBody>
          <a:bodyPr wrap="square" lIns="0" tIns="0" rIns="0" bIns="0" anchor="t">
            <a:noAutofit/>
          </a:bodyPr>
          <a:lstStyle/>
          <a:p>
            <a:pPr algn="l" marL="146304" indent="-146304">
              <a:lnSpc>
                <a:spcPct val="100000"/>
              </a:lnSpc>
              <a:spcAft>
                <a:spcPts val="150"/>
              </a:spcAft>
              <a:buClr>
                <a:srgbClr val="80868B"/>
              </a:buClr>
              <a:buFont typeface="Arial"/>
              <a:buChar char="•"/>
            </a:pPr>
            <a:r>
              <a:rPr sz="1050" b="0" lang="en-GB">
                <a:solidFill>
                  <a:srgbClr val="3C4043"/>
                </a:solidFill>
                <a:latin typeface="Google Sans Flex"/>
              </a:rPr>
              <a:t>Every number comes from the engine.</a:t>
            </a:r>
          </a:p>
          <a:p>
            <a:pPr algn="l" marL="146304" indent="-146304">
              <a:lnSpc>
                <a:spcPct val="100000"/>
              </a:lnSpc>
              <a:spcAft>
                <a:spcPts val="150"/>
              </a:spcAft>
              <a:buClr>
                <a:srgbClr val="80868B"/>
              </a:buClr>
              <a:buFont typeface="Arial"/>
              <a:buChar char="•"/>
            </a:pPr>
            <a:r>
              <a:rPr sz="1050" b="0" lang="en-GB">
                <a:solidFill>
                  <a:srgbClr val="3C4043"/>
                </a:solidFill>
                <a:latin typeface="Google Sans Flex"/>
              </a:rPr>
              <a:t>Every requirement quote is found on its PDF page.</a:t>
            </a:r>
          </a:p>
          <a:p>
            <a:pPr algn="l" marL="146304" indent="-146304">
              <a:lnSpc>
                <a:spcPct val="100000"/>
              </a:lnSpc>
              <a:spcAft>
                <a:spcPts val="150"/>
              </a:spcAft>
              <a:buClr>
                <a:srgbClr val="80868B"/>
              </a:buClr>
              <a:buFont typeface="Arial"/>
              <a:buChar char="•"/>
            </a:pPr>
            <a:r>
              <a:rPr sz="1050" b="0" lang="en-GB">
                <a:solidFill>
                  <a:srgbClr val="3C4043"/>
                </a:solidFill>
                <a:latin typeface="Google Sans Flex"/>
              </a:rPr>
              <a:t>AI text can't carry its own digits.</a:t>
            </a:r>
          </a:p>
          <a:p>
            <a:pPr algn="l" marL="146304" indent="-146304">
              <a:lnSpc>
                <a:spcPct val="100000"/>
              </a:lnSpc>
              <a:spcAft>
                <a:spcPts val="150"/>
              </a:spcAft>
              <a:buClr>
                <a:srgbClr val="80868B"/>
              </a:buClr>
              <a:buFont typeface="Arial"/>
              <a:buChar char="•"/>
            </a:pPr>
            <a:r>
              <a:rPr sz="1050" b="0" lang="en-GB">
                <a:solidFill>
                  <a:srgbClr val="3C4043"/>
                </a:solidFill>
                <a:latin typeface="Google Sans Flex"/>
              </a:rPr>
              <a:t>Every sign-off stamps a revision hash.</a:t>
            </a:r>
          </a:p>
        </p:txBody>
      </p:sp>
      <p:sp>
        <p:nvSpPr>
          <p:cNvPr id="106" name="kicker"/>
          <p:cNvSpPr txBox="1"/>
          <p:nvPr/>
        </p:nvSpPr>
        <p:spPr>
          <a:xfrm>
            <a:off x="356616" y="2340864"/>
            <a:ext cx="3931920" cy="182880"/>
          </a:xfrm>
          <a:prstGeom prst="rect">
            <a:avLst/>
          </a:prstGeom>
          <a:noFill/>
        </p:spPr>
        <p:txBody>
          <a:bodyPr wrap="square" lIns="0" tIns="0" rIns="0" bIns="0" anchor="t">
            <a:noAutofit/>
          </a:bodyPr>
          <a:lstStyle/>
          <a:p>
            <a:pPr algn="l" marL="0" indent="0">
              <a:lnSpc>
                <a:spcPct val="100000"/>
              </a:lnSpc>
              <a:buNone/>
            </a:pPr>
            <a:r>
              <a:rPr sz="700" b="0" lang="en-GB" spc="80">
                <a:solidFill>
                  <a:srgbClr val="5F6368"/>
                </a:solidFill>
                <a:latin typeface="Roboto Mono"/>
              </a:rPr>
              <a:t>WORKSPACE WIREFRAME · SPEC §12</a:t>
            </a:r>
          </a:p>
        </p:txBody>
      </p:sp>
      <p:sp>
        <p:nvSpPr>
          <p:cNvPr id="107" name="wireframe frame"/>
          <p:cNvSpPr/>
          <p:nvPr/>
        </p:nvSpPr>
        <p:spPr>
          <a:xfrm>
            <a:off x="356616" y="2560320"/>
            <a:ext cx="3931920" cy="2148840"/>
          </a:xfrm>
          <a:prstGeom prst="roundRect">
            <a:avLst>
              <a:gd name="adj" fmla="val 2553"/>
            </a:avLst>
          </a:prstGeom>
          <a:solidFill>
            <a:srgbClr val="F8F9FA"/>
          </a:solidFill>
          <a:ln w="9525">
            <a:solidFill>
              <a:srgbClr val="DADCE0"/>
            </a:solidFill>
          </a:ln>
        </p:spPr>
        <p:txBody>
          <a:bodyPr rtlCol="0" anchor="ctr" lIns="0" rIns="0" tIns="0" bIns="0"/>
          <a:lstStyle/>
          <a:p>
            <a:pPr algn="ctr"/>
          </a:p>
        </p:txBody>
      </p:sp>
      <p:sp>
        <p:nvSpPr>
          <p:cNvPr id="108" name="wf header"/>
          <p:cNvSpPr/>
          <p:nvPr/>
        </p:nvSpPr>
        <p:spPr>
          <a:xfrm>
            <a:off x="429768" y="2633472"/>
            <a:ext cx="3785616" cy="237744"/>
          </a:xfrm>
          <a:prstGeom prst="roundRect">
            <a:avLst>
              <a:gd name="adj" fmla="val 15384"/>
            </a:avLst>
          </a:prstGeom>
          <a:solidFill>
            <a:srgbClr val="FFFFFF"/>
          </a:solidFill>
          <a:ln w="9525">
            <a:solidFill>
              <a:srgbClr val="E8EAED"/>
            </a:solidFill>
          </a:ln>
        </p:spPr>
        <p:txBody>
          <a:bodyPr rtlCol="0" anchor="ctr" lIns="0" rIns="0" tIns="0" bIns="0"/>
          <a:lstStyle/>
          <a:p>
            <a:pPr algn="ctr"/>
          </a:p>
        </p:txBody>
      </p:sp>
      <p:sp>
        <p:nvSpPr>
          <p:cNvPr id="109" name="wf project"/>
          <p:cNvSpPr txBox="1"/>
          <p:nvPr/>
        </p:nvSpPr>
        <p:spPr>
          <a:xfrm>
            <a:off x="502920" y="2633472"/>
            <a:ext cx="1097280" cy="237744"/>
          </a:xfrm>
          <a:prstGeom prst="rect">
            <a:avLst/>
          </a:prstGeom>
          <a:noFill/>
        </p:spPr>
        <p:txBody>
          <a:bodyPr wrap="square" lIns="0" tIns="0" rIns="0" bIns="0" anchor="ctr">
            <a:noAutofit/>
          </a:bodyPr>
          <a:lstStyle/>
          <a:p>
            <a:pPr algn="l" marL="0" indent="0">
              <a:lnSpc>
                <a:spcPct val="100000"/>
              </a:lnSpc>
              <a:buNone/>
            </a:pPr>
            <a:r>
              <a:rPr sz="700" b="0" lang="en-GB">
                <a:solidFill>
                  <a:srgbClr val="202124"/>
                </a:solidFill>
                <a:latin typeface="Google Sans Flex SemiBold"/>
              </a:rPr>
              <a:t>Project</a:t>
            </a:r>
          </a:p>
        </p:txBody>
      </p:sp>
      <p:sp>
        <p:nvSpPr>
          <p:cNvPr id="110" name="wf ask-auto"/>
          <p:cNvSpPr/>
          <p:nvPr/>
        </p:nvSpPr>
        <p:spPr>
          <a:xfrm>
            <a:off x="2240280" y="2670048"/>
            <a:ext cx="768096" cy="164592"/>
          </a:xfrm>
          <a:prstGeom prst="roundRect">
            <a:avLst>
              <a:gd name="adj" fmla="val 50000"/>
            </a:avLst>
          </a:prstGeom>
          <a:solidFill>
            <a:srgbClr val="F1F3F4"/>
          </a:solidFill>
          <a:ln>
            <a:noFill/>
          </a:ln>
        </p:spPr>
        <p:txBody>
          <a:bodyPr rtlCol="0" anchor="ctr" lIns="0" rIns="0" tIns="0" bIns="0" wrap="square">
            <a:noAutofit/>
          </a:bodyPr>
          <a:lstStyle/>
          <a:p>
            <a:pPr algn="ctr" marL="0" indent="0">
              <a:lnSpc>
                <a:spcPct val="100000"/>
              </a:lnSpc>
              <a:buNone/>
            </a:pPr>
            <a:r>
              <a:rPr sz="700" b="0" lang="en-GB">
                <a:solidFill>
                  <a:srgbClr val="3C4043"/>
                </a:solidFill>
                <a:latin typeface="Google Sans Flex"/>
              </a:rPr>
              <a:t>Ask  |  Auto</a:t>
            </a:r>
          </a:p>
        </p:txBody>
      </p:sp>
      <p:sp>
        <p:nvSpPr>
          <p:cNvPr id="111" name="wf sign-off"/>
          <p:cNvSpPr/>
          <p:nvPr/>
        </p:nvSpPr>
        <p:spPr>
          <a:xfrm>
            <a:off x="3099816" y="2670048"/>
            <a:ext cx="1042416" cy="164592"/>
          </a:xfrm>
          <a:prstGeom prst="roundRect">
            <a:avLst>
              <a:gd name="adj" fmla="val 50000"/>
            </a:avLst>
          </a:prstGeom>
          <a:solidFill>
            <a:srgbClr val="202124"/>
          </a:solidFill>
          <a:ln>
            <a:noFill/>
          </a:ln>
        </p:spPr>
        <p:txBody>
          <a:bodyPr rtlCol="0" anchor="ctr" lIns="0" rIns="0" tIns="0" bIns="0" wrap="square">
            <a:noAutofit/>
          </a:bodyPr>
          <a:lstStyle/>
          <a:p>
            <a:pPr algn="ctr" marL="0" indent="0">
              <a:lnSpc>
                <a:spcPct val="100000"/>
              </a:lnSpc>
              <a:buNone/>
            </a:pPr>
            <a:r>
              <a:rPr sz="700" b="0" lang="en-GB">
                <a:solidFill>
                  <a:srgbClr val="FFFFFF"/>
                </a:solidFill>
                <a:latin typeface="Google Sans Flex Medium"/>
              </a:rPr>
              <a:t>Request sign-off</a:t>
            </a:r>
          </a:p>
        </p:txBody>
      </p:sp>
      <p:sp>
        <p:nvSpPr>
          <p:cNvPr id="112" name="wf lanes"/>
          <p:cNvSpPr/>
          <p:nvPr/>
        </p:nvSpPr>
        <p:spPr>
          <a:xfrm>
            <a:off x="429768" y="2944368"/>
            <a:ext cx="786384" cy="1380744"/>
          </a:xfrm>
          <a:prstGeom prst="roundRect">
            <a:avLst>
              <a:gd name="adj" fmla="val 4651"/>
            </a:avLst>
          </a:prstGeom>
          <a:solidFill>
            <a:srgbClr val="FFFFFF"/>
          </a:solidFill>
          <a:ln w="9525">
            <a:solidFill>
              <a:srgbClr val="E8EAED"/>
            </a:solidFill>
          </a:ln>
        </p:spPr>
        <p:txBody>
          <a:bodyPr rtlCol="0" anchor="ctr" lIns="0" rIns="0" tIns="0" bIns="0"/>
          <a:lstStyle/>
          <a:p>
            <a:pPr algn="ctr"/>
          </a:p>
        </p:txBody>
      </p:sp>
      <p:sp>
        <p:nvSpPr>
          <p:cNvPr id="113" name="wf lanes label"/>
          <p:cNvSpPr txBox="1"/>
          <p:nvPr/>
        </p:nvSpPr>
        <p:spPr>
          <a:xfrm>
            <a:off x="475488" y="2980944"/>
            <a:ext cx="731520" cy="164592"/>
          </a:xfrm>
          <a:prstGeom prst="rect">
            <a:avLst/>
          </a:prstGeom>
          <a:noFill/>
        </p:spPr>
        <p:txBody>
          <a:bodyPr wrap="square" lIns="0" tIns="0" rIns="0" bIns="0" anchor="t">
            <a:noAutofit/>
          </a:bodyPr>
          <a:lstStyle/>
          <a:p>
            <a:pPr algn="l" marL="0" indent="0">
              <a:lnSpc>
                <a:spcPct val="100000"/>
              </a:lnSpc>
              <a:buNone/>
            </a:pPr>
            <a:r>
              <a:rPr sz="700" b="0" lang="en-GB">
                <a:solidFill>
                  <a:srgbClr val="202124"/>
                </a:solidFill>
                <a:latin typeface="Google Sans Flex SemiBold"/>
              </a:rPr>
              <a:t>Agent lanes</a:t>
            </a:r>
          </a:p>
        </p:txBody>
      </p:sp>
      <p:sp>
        <p:nvSpPr>
          <p:cNvPr id="114" name="wf lane"/>
          <p:cNvSpPr/>
          <p:nvPr/>
        </p:nvSpPr>
        <p:spPr>
          <a:xfrm>
            <a:off x="475488" y="3191256"/>
            <a:ext cx="694944" cy="201168"/>
          </a:xfrm>
          <a:prstGeom prst="roundRect">
            <a:avLst>
              <a:gd name="adj" fmla="val 18181"/>
            </a:avLst>
          </a:prstGeom>
          <a:solidFill>
            <a:srgbClr val="F1F3F4"/>
          </a:solidFill>
          <a:ln>
            <a:noFill/>
          </a:ln>
        </p:spPr>
        <p:txBody>
          <a:bodyPr rtlCol="0" anchor="ctr" lIns="0" rIns="0" tIns="0" bIns="0"/>
          <a:lstStyle/>
          <a:p>
            <a:pPr algn="ctr"/>
          </a:p>
        </p:txBody>
      </p:sp>
      <p:sp>
        <p:nvSpPr>
          <p:cNvPr id="115" name="wf lane label"/>
          <p:cNvSpPr txBox="1"/>
          <p:nvPr/>
        </p:nvSpPr>
        <p:spPr>
          <a:xfrm>
            <a:off x="521208" y="3191256"/>
            <a:ext cx="548640" cy="201168"/>
          </a:xfrm>
          <a:prstGeom prst="rect">
            <a:avLst/>
          </a:prstGeom>
          <a:noFill/>
        </p:spPr>
        <p:txBody>
          <a:bodyPr wrap="square" lIns="0" tIns="0" rIns="0" bIns="0" anchor="ctr">
            <a:noAutofit/>
          </a:bodyPr>
          <a:lstStyle/>
          <a:p>
            <a:pPr algn="l" marL="0" indent="0">
              <a:lnSpc>
                <a:spcPct val="100000"/>
              </a:lnSpc>
              <a:buNone/>
            </a:pPr>
            <a:r>
              <a:rPr sz="700" b="0" lang="en-GB">
                <a:solidFill>
                  <a:srgbClr val="3C4043"/>
                </a:solidFill>
                <a:latin typeface="Google Sans Flex"/>
              </a:rPr>
              <a:t>Intake</a:t>
            </a:r>
          </a:p>
        </p:txBody>
      </p:sp>
      <p:sp>
        <p:nvSpPr>
          <p:cNvPr id="116" name="wf lane"/>
          <p:cNvSpPr/>
          <p:nvPr/>
        </p:nvSpPr>
        <p:spPr>
          <a:xfrm>
            <a:off x="475488" y="3456432"/>
            <a:ext cx="694944" cy="201168"/>
          </a:xfrm>
          <a:prstGeom prst="roundRect">
            <a:avLst>
              <a:gd name="adj" fmla="val 18181"/>
            </a:avLst>
          </a:prstGeom>
          <a:solidFill>
            <a:srgbClr val="F1F3F4"/>
          </a:solidFill>
          <a:ln>
            <a:noFill/>
          </a:ln>
        </p:spPr>
        <p:txBody>
          <a:bodyPr rtlCol="0" anchor="ctr" lIns="0" rIns="0" tIns="0" bIns="0"/>
          <a:lstStyle/>
          <a:p>
            <a:pPr algn="ctr"/>
          </a:p>
        </p:txBody>
      </p:sp>
      <p:sp>
        <p:nvSpPr>
          <p:cNvPr id="117" name="wf lane label"/>
          <p:cNvSpPr txBox="1"/>
          <p:nvPr/>
        </p:nvSpPr>
        <p:spPr>
          <a:xfrm>
            <a:off x="521208" y="3456432"/>
            <a:ext cx="548640" cy="201168"/>
          </a:xfrm>
          <a:prstGeom prst="rect">
            <a:avLst/>
          </a:prstGeom>
          <a:noFill/>
        </p:spPr>
        <p:txBody>
          <a:bodyPr wrap="square" lIns="0" tIns="0" rIns="0" bIns="0" anchor="ctr">
            <a:noAutofit/>
          </a:bodyPr>
          <a:lstStyle/>
          <a:p>
            <a:pPr algn="l" marL="0" indent="0">
              <a:lnSpc>
                <a:spcPct val="100000"/>
              </a:lnSpc>
              <a:buNone/>
            </a:pPr>
            <a:r>
              <a:rPr sz="700" b="0" lang="en-GB">
                <a:solidFill>
                  <a:srgbClr val="3C4043"/>
                </a:solidFill>
                <a:latin typeface="Google Sans Flex"/>
              </a:rPr>
              <a:t>Layout</a:t>
            </a:r>
          </a:p>
        </p:txBody>
      </p:sp>
      <p:sp>
        <p:nvSpPr>
          <p:cNvPr id="118" name="wf lane"/>
          <p:cNvSpPr/>
          <p:nvPr/>
        </p:nvSpPr>
        <p:spPr>
          <a:xfrm>
            <a:off x="475488" y="3721608"/>
            <a:ext cx="694944" cy="201168"/>
          </a:xfrm>
          <a:prstGeom prst="roundRect">
            <a:avLst>
              <a:gd name="adj" fmla="val 18181"/>
            </a:avLst>
          </a:prstGeom>
          <a:solidFill>
            <a:srgbClr val="F1F3F4"/>
          </a:solidFill>
          <a:ln>
            <a:noFill/>
          </a:ln>
        </p:spPr>
        <p:txBody>
          <a:bodyPr rtlCol="0" anchor="ctr" lIns="0" rIns="0" tIns="0" bIns="0"/>
          <a:lstStyle/>
          <a:p>
            <a:pPr algn="ctr"/>
          </a:p>
        </p:txBody>
      </p:sp>
      <p:sp>
        <p:nvSpPr>
          <p:cNvPr id="119" name="wf lane label"/>
          <p:cNvSpPr txBox="1"/>
          <p:nvPr/>
        </p:nvSpPr>
        <p:spPr>
          <a:xfrm>
            <a:off x="521208" y="3721608"/>
            <a:ext cx="548640" cy="201168"/>
          </a:xfrm>
          <a:prstGeom prst="rect">
            <a:avLst/>
          </a:prstGeom>
          <a:noFill/>
        </p:spPr>
        <p:txBody>
          <a:bodyPr wrap="square" lIns="0" tIns="0" rIns="0" bIns="0" anchor="ctr">
            <a:noAutofit/>
          </a:bodyPr>
          <a:lstStyle/>
          <a:p>
            <a:pPr algn="l" marL="0" indent="0">
              <a:lnSpc>
                <a:spcPct val="100000"/>
              </a:lnSpc>
              <a:buNone/>
            </a:pPr>
            <a:r>
              <a:rPr sz="700" b="0" lang="en-GB">
                <a:solidFill>
                  <a:srgbClr val="3C4043"/>
                </a:solidFill>
                <a:latin typeface="Google Sans Flex"/>
              </a:rPr>
              <a:t>Power</a:t>
            </a:r>
          </a:p>
        </p:txBody>
      </p:sp>
      <p:sp>
        <p:nvSpPr>
          <p:cNvPr id="120" name="wf lane"/>
          <p:cNvSpPr/>
          <p:nvPr/>
        </p:nvSpPr>
        <p:spPr>
          <a:xfrm>
            <a:off x="475488" y="3986784"/>
            <a:ext cx="694944" cy="201168"/>
          </a:xfrm>
          <a:prstGeom prst="roundRect">
            <a:avLst>
              <a:gd name="adj" fmla="val 18181"/>
            </a:avLst>
          </a:prstGeom>
          <a:solidFill>
            <a:srgbClr val="F1F3F4"/>
          </a:solidFill>
          <a:ln>
            <a:noFill/>
          </a:ln>
        </p:spPr>
        <p:txBody>
          <a:bodyPr rtlCol="0" anchor="ctr" lIns="0" rIns="0" tIns="0" bIns="0"/>
          <a:lstStyle/>
          <a:p>
            <a:pPr algn="ctr"/>
          </a:p>
        </p:txBody>
      </p:sp>
      <p:sp>
        <p:nvSpPr>
          <p:cNvPr id="121" name="wf lane label"/>
          <p:cNvSpPr txBox="1"/>
          <p:nvPr/>
        </p:nvSpPr>
        <p:spPr>
          <a:xfrm>
            <a:off x="521208" y="3986784"/>
            <a:ext cx="548640" cy="201168"/>
          </a:xfrm>
          <a:prstGeom prst="rect">
            <a:avLst/>
          </a:prstGeom>
          <a:noFill/>
        </p:spPr>
        <p:txBody>
          <a:bodyPr wrap="square" lIns="0" tIns="0" rIns="0" bIns="0" anchor="ctr">
            <a:noAutofit/>
          </a:bodyPr>
          <a:lstStyle/>
          <a:p>
            <a:pPr algn="l" marL="0" indent="0">
              <a:lnSpc>
                <a:spcPct val="100000"/>
              </a:lnSpc>
              <a:buNone/>
            </a:pPr>
            <a:r>
              <a:rPr sz="700" b="0" lang="en-GB">
                <a:solidFill>
                  <a:srgbClr val="3C4043"/>
                </a:solidFill>
                <a:latin typeface="Google Sans Flex"/>
              </a:rPr>
              <a:t>Cooling</a:t>
            </a:r>
          </a:p>
        </p:txBody>
      </p:sp>
      <p:sp>
        <p:nvSpPr>
          <p:cNvPr id="122" name="wf canvas"/>
          <p:cNvSpPr/>
          <p:nvPr/>
        </p:nvSpPr>
        <p:spPr>
          <a:xfrm>
            <a:off x="1289304" y="2944368"/>
            <a:ext cx="2048256" cy="1380744"/>
          </a:xfrm>
          <a:prstGeom prst="roundRect">
            <a:avLst>
              <a:gd name="adj" fmla="val 2649"/>
            </a:avLst>
          </a:prstGeom>
          <a:solidFill>
            <a:srgbClr val="FFFFFF"/>
          </a:solidFill>
          <a:ln w="9525">
            <a:solidFill>
              <a:srgbClr val="E8EAED"/>
            </a:solidFill>
          </a:ln>
        </p:spPr>
        <p:txBody>
          <a:bodyPr rtlCol="0" anchor="ctr" lIns="0" rIns="0" tIns="0" bIns="0"/>
          <a:lstStyle/>
          <a:p>
            <a:pPr algn="ctr"/>
          </a:p>
        </p:txBody>
      </p:sp>
      <p:sp>
        <p:nvSpPr>
          <p:cNvPr id="123" name="wf tab"/>
          <p:cNvSpPr/>
          <p:nvPr/>
        </p:nvSpPr>
        <p:spPr>
          <a:xfrm>
            <a:off x="1344168" y="2990088"/>
            <a:ext cx="231761" cy="155448"/>
          </a:xfrm>
          <a:prstGeom prst="roundRect">
            <a:avLst>
              <a:gd name="adj" fmla="val 47058"/>
            </a:avLst>
          </a:prstGeom>
          <a:solidFill>
            <a:srgbClr val="202124"/>
          </a:solidFill>
          <a:ln>
            <a:noFill/>
          </a:ln>
        </p:spPr>
        <p:txBody>
          <a:bodyPr rtlCol="0" anchor="ctr" lIns="0" rIns="0" tIns="0" bIns="0" wrap="square">
            <a:noAutofit/>
          </a:bodyPr>
          <a:lstStyle/>
          <a:p>
            <a:pPr algn="ctr" marL="0" indent="0">
              <a:lnSpc>
                <a:spcPct val="100000"/>
              </a:lnSpc>
              <a:buNone/>
            </a:pPr>
            <a:r>
              <a:rPr sz="700" b="0" lang="en-GB">
                <a:solidFill>
                  <a:srgbClr val="FFFFFF"/>
                </a:solidFill>
                <a:latin typeface="Google Sans Flex Medium"/>
              </a:rPr>
              <a:t>3D</a:t>
            </a:r>
          </a:p>
        </p:txBody>
      </p:sp>
      <p:sp>
        <p:nvSpPr>
          <p:cNvPr id="124" name="wf tab"/>
          <p:cNvSpPr/>
          <p:nvPr/>
        </p:nvSpPr>
        <p:spPr>
          <a:xfrm>
            <a:off x="1612505" y="2990088"/>
            <a:ext cx="276585" cy="155448"/>
          </a:xfrm>
          <a:prstGeom prst="roundRect">
            <a:avLst>
              <a:gd name="adj" fmla="val 47058"/>
            </a:avLst>
          </a:prstGeom>
          <a:solidFill>
            <a:srgbClr val="F1F3F4"/>
          </a:solidFill>
          <a:ln>
            <a:noFill/>
          </a:ln>
        </p:spPr>
        <p:txBody>
          <a:bodyPr rtlCol="0" anchor="ctr" lIns="0" rIns="0" tIns="0" bIns="0" wrap="square">
            <a:noAutofit/>
          </a:bodyPr>
          <a:lstStyle/>
          <a:p>
            <a:pPr algn="ctr" marL="0" indent="0">
              <a:lnSpc>
                <a:spcPct val="100000"/>
              </a:lnSpc>
              <a:buNone/>
            </a:pPr>
            <a:r>
              <a:rPr sz="700" b="0" lang="en-GB">
                <a:solidFill>
                  <a:srgbClr val="3C4043"/>
                </a:solidFill>
                <a:latin typeface="Google Sans Flex Medium"/>
              </a:rPr>
              <a:t>SLD</a:t>
            </a:r>
          </a:p>
        </p:txBody>
      </p:sp>
      <p:sp>
        <p:nvSpPr>
          <p:cNvPr id="125" name="wf tab"/>
          <p:cNvSpPr/>
          <p:nvPr/>
        </p:nvSpPr>
        <p:spPr>
          <a:xfrm>
            <a:off x="1925666" y="2990088"/>
            <a:ext cx="373912" cy="155448"/>
          </a:xfrm>
          <a:prstGeom prst="roundRect">
            <a:avLst>
              <a:gd name="adj" fmla="val 47058"/>
            </a:avLst>
          </a:prstGeom>
          <a:solidFill>
            <a:srgbClr val="F1F3F4"/>
          </a:solidFill>
          <a:ln>
            <a:noFill/>
          </a:ln>
        </p:spPr>
        <p:txBody>
          <a:bodyPr rtlCol="0" anchor="ctr" lIns="0" rIns="0" tIns="0" bIns="0" wrap="square">
            <a:noAutofit/>
          </a:bodyPr>
          <a:lstStyle/>
          <a:p>
            <a:pPr algn="ctr" marL="0" indent="0">
              <a:lnSpc>
                <a:spcPct val="100000"/>
              </a:lnSpc>
              <a:buNone/>
            </a:pPr>
            <a:r>
              <a:rPr sz="700" b="0" lang="en-GB">
                <a:solidFill>
                  <a:srgbClr val="3C4043"/>
                </a:solidFill>
                <a:latin typeface="Google Sans Flex Medium"/>
              </a:rPr>
              <a:t>Matrix</a:t>
            </a:r>
          </a:p>
        </p:txBody>
      </p:sp>
      <p:sp>
        <p:nvSpPr>
          <p:cNvPr id="126" name="wf tab"/>
          <p:cNvSpPr/>
          <p:nvPr/>
        </p:nvSpPr>
        <p:spPr>
          <a:xfrm>
            <a:off x="2336154" y="2990088"/>
            <a:ext cx="436464" cy="155448"/>
          </a:xfrm>
          <a:prstGeom prst="roundRect">
            <a:avLst>
              <a:gd name="adj" fmla="val 47058"/>
            </a:avLst>
          </a:prstGeom>
          <a:solidFill>
            <a:srgbClr val="F1F3F4"/>
          </a:solidFill>
          <a:ln>
            <a:noFill/>
          </a:ln>
        </p:spPr>
        <p:txBody>
          <a:bodyPr rtlCol="0" anchor="ctr" lIns="0" rIns="0" tIns="0" bIns="0" wrap="square">
            <a:noAutofit/>
          </a:bodyPr>
          <a:lstStyle/>
          <a:p>
            <a:pPr algn="ctr" marL="0" indent="0">
              <a:lnSpc>
                <a:spcPct val="100000"/>
              </a:lnSpc>
              <a:buNone/>
            </a:pPr>
            <a:r>
              <a:rPr sz="700" b="0" lang="en-GB">
                <a:solidFill>
                  <a:srgbClr val="3C4043"/>
                </a:solidFill>
                <a:latin typeface="Google Sans Flex Medium"/>
              </a:rPr>
              <a:t>Options</a:t>
            </a:r>
          </a:p>
        </p:txBody>
      </p:sp>
      <p:sp>
        <p:nvSpPr>
          <p:cNvPr id="127" name="wf tab"/>
          <p:cNvSpPr/>
          <p:nvPr/>
        </p:nvSpPr>
        <p:spPr>
          <a:xfrm>
            <a:off x="2809194" y="2990088"/>
            <a:ext cx="322194" cy="155448"/>
          </a:xfrm>
          <a:prstGeom prst="roundRect">
            <a:avLst>
              <a:gd name="adj" fmla="val 47058"/>
            </a:avLst>
          </a:prstGeom>
          <a:solidFill>
            <a:srgbClr val="F1F3F4"/>
          </a:solidFill>
          <a:ln>
            <a:noFill/>
          </a:ln>
        </p:spPr>
        <p:txBody>
          <a:bodyPr rtlCol="0" anchor="ctr" lIns="0" rIns="0" tIns="0" bIns="0" wrap="square">
            <a:noAutofit/>
          </a:bodyPr>
          <a:lstStyle/>
          <a:p>
            <a:pPr algn="ctr" marL="0" indent="0">
              <a:lnSpc>
                <a:spcPct val="100000"/>
              </a:lnSpc>
              <a:buNone/>
            </a:pPr>
            <a:r>
              <a:rPr sz="700" b="0" lang="en-GB">
                <a:solidFill>
                  <a:srgbClr val="3C4043"/>
                </a:solidFill>
                <a:latin typeface="Google Sans Flex Medium"/>
              </a:rPr>
              <a:t>Docs</a:t>
            </a:r>
          </a:p>
        </p:txBody>
      </p:sp>
      <p:sp>
        <p:nvSpPr>
          <p:cNvPr id="128" name="wf rack"/>
          <p:cNvSpPr/>
          <p:nvPr/>
        </p:nvSpPr>
        <p:spPr>
          <a:xfrm>
            <a:off x="1417320" y="3282696"/>
            <a:ext cx="192024" cy="204216"/>
          </a:xfrm>
          <a:prstGeom prst="rect">
            <a:avLst/>
          </a:prstGeom>
          <a:noFill/>
          <a:ln w="6350">
            <a:solidFill>
              <a:srgbClr val="DADCE0"/>
            </a:solidFill>
          </a:ln>
        </p:spPr>
        <p:txBody>
          <a:bodyPr rtlCol="0" anchor="ctr" lIns="0" rIns="0" tIns="0" bIns="0"/>
          <a:lstStyle/>
          <a:p>
            <a:pPr algn="ctr"/>
          </a:p>
        </p:txBody>
      </p:sp>
      <p:sp>
        <p:nvSpPr>
          <p:cNvPr id="129" name="wf rack"/>
          <p:cNvSpPr/>
          <p:nvPr/>
        </p:nvSpPr>
        <p:spPr>
          <a:xfrm>
            <a:off x="1645920" y="3282696"/>
            <a:ext cx="192024" cy="204216"/>
          </a:xfrm>
          <a:prstGeom prst="rect">
            <a:avLst/>
          </a:prstGeom>
          <a:noFill/>
          <a:ln w="6350">
            <a:solidFill>
              <a:srgbClr val="DADCE0"/>
            </a:solidFill>
          </a:ln>
        </p:spPr>
        <p:txBody>
          <a:bodyPr rtlCol="0" anchor="ctr" lIns="0" rIns="0" tIns="0" bIns="0"/>
          <a:lstStyle/>
          <a:p>
            <a:pPr algn="ctr"/>
          </a:p>
        </p:txBody>
      </p:sp>
      <p:sp>
        <p:nvSpPr>
          <p:cNvPr id="130" name="wf rack"/>
          <p:cNvSpPr/>
          <p:nvPr/>
        </p:nvSpPr>
        <p:spPr>
          <a:xfrm>
            <a:off x="1874520" y="3282696"/>
            <a:ext cx="192024" cy="204216"/>
          </a:xfrm>
          <a:prstGeom prst="rect">
            <a:avLst/>
          </a:prstGeom>
          <a:noFill/>
          <a:ln w="6350">
            <a:solidFill>
              <a:srgbClr val="DADCE0"/>
            </a:solidFill>
          </a:ln>
        </p:spPr>
        <p:txBody>
          <a:bodyPr rtlCol="0" anchor="ctr" lIns="0" rIns="0" tIns="0" bIns="0"/>
          <a:lstStyle/>
          <a:p>
            <a:pPr algn="ctr"/>
          </a:p>
        </p:txBody>
      </p:sp>
      <p:sp>
        <p:nvSpPr>
          <p:cNvPr id="131" name="wf rack"/>
          <p:cNvSpPr/>
          <p:nvPr/>
        </p:nvSpPr>
        <p:spPr>
          <a:xfrm>
            <a:off x="2103120" y="3282696"/>
            <a:ext cx="192024" cy="204216"/>
          </a:xfrm>
          <a:prstGeom prst="rect">
            <a:avLst/>
          </a:prstGeom>
          <a:noFill/>
          <a:ln w="6350">
            <a:solidFill>
              <a:srgbClr val="DADCE0"/>
            </a:solidFill>
          </a:ln>
        </p:spPr>
        <p:txBody>
          <a:bodyPr rtlCol="0" anchor="ctr" lIns="0" rIns="0" tIns="0" bIns="0"/>
          <a:lstStyle/>
          <a:p>
            <a:pPr algn="ctr"/>
          </a:p>
        </p:txBody>
      </p:sp>
      <p:sp>
        <p:nvSpPr>
          <p:cNvPr id="132" name="wf rack"/>
          <p:cNvSpPr/>
          <p:nvPr/>
        </p:nvSpPr>
        <p:spPr>
          <a:xfrm>
            <a:off x="2331720" y="3282696"/>
            <a:ext cx="192024" cy="204216"/>
          </a:xfrm>
          <a:prstGeom prst="rect">
            <a:avLst/>
          </a:prstGeom>
          <a:noFill/>
          <a:ln w="6350">
            <a:solidFill>
              <a:srgbClr val="DADCE0"/>
            </a:solidFill>
          </a:ln>
        </p:spPr>
        <p:txBody>
          <a:bodyPr rtlCol="0" anchor="ctr" lIns="0" rIns="0" tIns="0" bIns="0"/>
          <a:lstStyle/>
          <a:p>
            <a:pPr algn="ctr"/>
          </a:p>
        </p:txBody>
      </p:sp>
      <p:sp>
        <p:nvSpPr>
          <p:cNvPr id="133" name="wf rack"/>
          <p:cNvSpPr/>
          <p:nvPr/>
        </p:nvSpPr>
        <p:spPr>
          <a:xfrm>
            <a:off x="2560320" y="3282696"/>
            <a:ext cx="192024" cy="204216"/>
          </a:xfrm>
          <a:prstGeom prst="rect">
            <a:avLst/>
          </a:prstGeom>
          <a:noFill/>
          <a:ln w="6350">
            <a:solidFill>
              <a:srgbClr val="DADCE0"/>
            </a:solidFill>
          </a:ln>
        </p:spPr>
        <p:txBody>
          <a:bodyPr rtlCol="0" anchor="ctr" lIns="0" rIns="0" tIns="0" bIns="0"/>
          <a:lstStyle/>
          <a:p>
            <a:pPr algn="ctr"/>
          </a:p>
        </p:txBody>
      </p:sp>
      <p:sp>
        <p:nvSpPr>
          <p:cNvPr id="134" name="wf rack"/>
          <p:cNvSpPr/>
          <p:nvPr/>
        </p:nvSpPr>
        <p:spPr>
          <a:xfrm>
            <a:off x="2788920" y="3282696"/>
            <a:ext cx="192024" cy="204216"/>
          </a:xfrm>
          <a:prstGeom prst="rect">
            <a:avLst/>
          </a:prstGeom>
          <a:noFill/>
          <a:ln w="6350">
            <a:solidFill>
              <a:srgbClr val="DADCE0"/>
            </a:solidFill>
          </a:ln>
        </p:spPr>
        <p:txBody>
          <a:bodyPr rtlCol="0" anchor="ctr" lIns="0" rIns="0" tIns="0" bIns="0"/>
          <a:lstStyle/>
          <a:p>
            <a:pPr algn="ctr"/>
          </a:p>
        </p:txBody>
      </p:sp>
      <p:sp>
        <p:nvSpPr>
          <p:cNvPr id="135" name="wf rack"/>
          <p:cNvSpPr/>
          <p:nvPr/>
        </p:nvSpPr>
        <p:spPr>
          <a:xfrm>
            <a:off x="3017520" y="3282696"/>
            <a:ext cx="192024" cy="204216"/>
          </a:xfrm>
          <a:prstGeom prst="rect">
            <a:avLst/>
          </a:prstGeom>
          <a:noFill/>
          <a:ln w="6350">
            <a:solidFill>
              <a:srgbClr val="DADCE0"/>
            </a:solidFill>
          </a:ln>
        </p:spPr>
        <p:txBody>
          <a:bodyPr rtlCol="0" anchor="ctr" lIns="0" rIns="0" tIns="0" bIns="0"/>
          <a:lstStyle/>
          <a:p>
            <a:pPr algn="ctr"/>
          </a:p>
        </p:txBody>
      </p:sp>
      <p:sp>
        <p:nvSpPr>
          <p:cNvPr id="136" name="wf rack"/>
          <p:cNvSpPr/>
          <p:nvPr/>
        </p:nvSpPr>
        <p:spPr>
          <a:xfrm>
            <a:off x="1417320" y="3614928"/>
            <a:ext cx="192024" cy="204216"/>
          </a:xfrm>
          <a:prstGeom prst="rect">
            <a:avLst/>
          </a:prstGeom>
          <a:noFill/>
          <a:ln w="6350">
            <a:solidFill>
              <a:srgbClr val="DADCE0"/>
            </a:solidFill>
          </a:ln>
        </p:spPr>
        <p:txBody>
          <a:bodyPr rtlCol="0" anchor="ctr" lIns="0" rIns="0" tIns="0" bIns="0"/>
          <a:lstStyle/>
          <a:p>
            <a:pPr algn="ctr"/>
          </a:p>
        </p:txBody>
      </p:sp>
      <p:sp>
        <p:nvSpPr>
          <p:cNvPr id="137" name="wf rack"/>
          <p:cNvSpPr/>
          <p:nvPr/>
        </p:nvSpPr>
        <p:spPr>
          <a:xfrm>
            <a:off x="1645920" y="3614928"/>
            <a:ext cx="192024" cy="204216"/>
          </a:xfrm>
          <a:prstGeom prst="rect">
            <a:avLst/>
          </a:prstGeom>
          <a:noFill/>
          <a:ln w="6350">
            <a:solidFill>
              <a:srgbClr val="DADCE0"/>
            </a:solidFill>
          </a:ln>
        </p:spPr>
        <p:txBody>
          <a:bodyPr rtlCol="0" anchor="ctr" lIns="0" rIns="0" tIns="0" bIns="0"/>
          <a:lstStyle/>
          <a:p>
            <a:pPr algn="ctr"/>
          </a:p>
        </p:txBody>
      </p:sp>
      <p:sp>
        <p:nvSpPr>
          <p:cNvPr id="138" name="wf rack"/>
          <p:cNvSpPr/>
          <p:nvPr/>
        </p:nvSpPr>
        <p:spPr>
          <a:xfrm>
            <a:off x="1874520" y="3614928"/>
            <a:ext cx="192024" cy="204216"/>
          </a:xfrm>
          <a:prstGeom prst="rect">
            <a:avLst/>
          </a:prstGeom>
          <a:noFill/>
          <a:ln w="6350">
            <a:solidFill>
              <a:srgbClr val="DADCE0"/>
            </a:solidFill>
          </a:ln>
        </p:spPr>
        <p:txBody>
          <a:bodyPr rtlCol="0" anchor="ctr" lIns="0" rIns="0" tIns="0" bIns="0"/>
          <a:lstStyle/>
          <a:p>
            <a:pPr algn="ctr"/>
          </a:p>
        </p:txBody>
      </p:sp>
      <p:sp>
        <p:nvSpPr>
          <p:cNvPr id="139" name="wf rack"/>
          <p:cNvSpPr/>
          <p:nvPr/>
        </p:nvSpPr>
        <p:spPr>
          <a:xfrm>
            <a:off x="2103120" y="3614928"/>
            <a:ext cx="192024" cy="204216"/>
          </a:xfrm>
          <a:prstGeom prst="rect">
            <a:avLst/>
          </a:prstGeom>
          <a:noFill/>
          <a:ln w="6350">
            <a:solidFill>
              <a:srgbClr val="DADCE0"/>
            </a:solidFill>
          </a:ln>
        </p:spPr>
        <p:txBody>
          <a:bodyPr rtlCol="0" anchor="ctr" lIns="0" rIns="0" tIns="0" bIns="0"/>
          <a:lstStyle/>
          <a:p>
            <a:pPr algn="ctr"/>
          </a:p>
        </p:txBody>
      </p:sp>
      <p:sp>
        <p:nvSpPr>
          <p:cNvPr id="140" name="wf rack"/>
          <p:cNvSpPr/>
          <p:nvPr/>
        </p:nvSpPr>
        <p:spPr>
          <a:xfrm>
            <a:off x="2331720" y="3614928"/>
            <a:ext cx="192024" cy="204216"/>
          </a:xfrm>
          <a:prstGeom prst="rect">
            <a:avLst/>
          </a:prstGeom>
          <a:noFill/>
          <a:ln w="6350">
            <a:solidFill>
              <a:srgbClr val="DADCE0"/>
            </a:solidFill>
          </a:ln>
        </p:spPr>
        <p:txBody>
          <a:bodyPr rtlCol="0" anchor="ctr" lIns="0" rIns="0" tIns="0" bIns="0"/>
          <a:lstStyle/>
          <a:p>
            <a:pPr algn="ctr"/>
          </a:p>
        </p:txBody>
      </p:sp>
      <p:sp>
        <p:nvSpPr>
          <p:cNvPr id="141" name="wf rack"/>
          <p:cNvSpPr/>
          <p:nvPr/>
        </p:nvSpPr>
        <p:spPr>
          <a:xfrm>
            <a:off x="2560320" y="3614928"/>
            <a:ext cx="192024" cy="204216"/>
          </a:xfrm>
          <a:prstGeom prst="rect">
            <a:avLst/>
          </a:prstGeom>
          <a:noFill/>
          <a:ln w="6350">
            <a:solidFill>
              <a:srgbClr val="DADCE0"/>
            </a:solidFill>
          </a:ln>
        </p:spPr>
        <p:txBody>
          <a:bodyPr rtlCol="0" anchor="ctr" lIns="0" rIns="0" tIns="0" bIns="0"/>
          <a:lstStyle/>
          <a:p>
            <a:pPr algn="ctr"/>
          </a:p>
        </p:txBody>
      </p:sp>
      <p:sp>
        <p:nvSpPr>
          <p:cNvPr id="142" name="wf rack"/>
          <p:cNvSpPr/>
          <p:nvPr/>
        </p:nvSpPr>
        <p:spPr>
          <a:xfrm>
            <a:off x="2788920" y="3614928"/>
            <a:ext cx="192024" cy="204216"/>
          </a:xfrm>
          <a:prstGeom prst="rect">
            <a:avLst/>
          </a:prstGeom>
          <a:noFill/>
          <a:ln w="6350">
            <a:solidFill>
              <a:srgbClr val="DADCE0"/>
            </a:solidFill>
          </a:ln>
        </p:spPr>
        <p:txBody>
          <a:bodyPr rtlCol="0" anchor="ctr" lIns="0" rIns="0" tIns="0" bIns="0"/>
          <a:lstStyle/>
          <a:p>
            <a:pPr algn="ctr"/>
          </a:p>
        </p:txBody>
      </p:sp>
      <p:sp>
        <p:nvSpPr>
          <p:cNvPr id="143" name="wf rack"/>
          <p:cNvSpPr/>
          <p:nvPr/>
        </p:nvSpPr>
        <p:spPr>
          <a:xfrm>
            <a:off x="3017520" y="3614928"/>
            <a:ext cx="192024" cy="204216"/>
          </a:xfrm>
          <a:prstGeom prst="rect">
            <a:avLst/>
          </a:prstGeom>
          <a:noFill/>
          <a:ln w="6350">
            <a:solidFill>
              <a:srgbClr val="DADCE0"/>
            </a:solidFill>
          </a:ln>
        </p:spPr>
        <p:txBody>
          <a:bodyPr rtlCol="0" anchor="ctr" lIns="0" rIns="0" tIns="0" bIns="0"/>
          <a:lstStyle/>
          <a:p>
            <a:pPr algn="ctr"/>
          </a:p>
        </p:txBody>
      </p:sp>
      <p:sp>
        <p:nvSpPr>
          <p:cNvPr id="144" name="wf rack"/>
          <p:cNvSpPr/>
          <p:nvPr/>
        </p:nvSpPr>
        <p:spPr>
          <a:xfrm>
            <a:off x="1417320" y="3947160"/>
            <a:ext cx="192024" cy="204216"/>
          </a:xfrm>
          <a:prstGeom prst="rect">
            <a:avLst/>
          </a:prstGeom>
          <a:noFill/>
          <a:ln w="6350">
            <a:solidFill>
              <a:srgbClr val="DADCE0"/>
            </a:solidFill>
          </a:ln>
        </p:spPr>
        <p:txBody>
          <a:bodyPr rtlCol="0" anchor="ctr" lIns="0" rIns="0" tIns="0" bIns="0"/>
          <a:lstStyle/>
          <a:p>
            <a:pPr algn="ctr"/>
          </a:p>
        </p:txBody>
      </p:sp>
      <p:sp>
        <p:nvSpPr>
          <p:cNvPr id="145" name="wf rack"/>
          <p:cNvSpPr/>
          <p:nvPr/>
        </p:nvSpPr>
        <p:spPr>
          <a:xfrm>
            <a:off x="1645920" y="3947160"/>
            <a:ext cx="192024" cy="204216"/>
          </a:xfrm>
          <a:prstGeom prst="rect">
            <a:avLst/>
          </a:prstGeom>
          <a:noFill/>
          <a:ln w="6350">
            <a:solidFill>
              <a:srgbClr val="DADCE0"/>
            </a:solidFill>
          </a:ln>
        </p:spPr>
        <p:txBody>
          <a:bodyPr rtlCol="0" anchor="ctr" lIns="0" rIns="0" tIns="0" bIns="0"/>
          <a:lstStyle/>
          <a:p>
            <a:pPr algn="ctr"/>
          </a:p>
        </p:txBody>
      </p:sp>
      <p:sp>
        <p:nvSpPr>
          <p:cNvPr id="146" name="wf rack"/>
          <p:cNvSpPr/>
          <p:nvPr/>
        </p:nvSpPr>
        <p:spPr>
          <a:xfrm>
            <a:off x="1874520" y="3947160"/>
            <a:ext cx="192024" cy="204216"/>
          </a:xfrm>
          <a:prstGeom prst="rect">
            <a:avLst/>
          </a:prstGeom>
          <a:noFill/>
          <a:ln w="6350">
            <a:solidFill>
              <a:srgbClr val="DADCE0"/>
            </a:solidFill>
          </a:ln>
        </p:spPr>
        <p:txBody>
          <a:bodyPr rtlCol="0" anchor="ctr" lIns="0" rIns="0" tIns="0" bIns="0"/>
          <a:lstStyle/>
          <a:p>
            <a:pPr algn="ctr"/>
          </a:p>
        </p:txBody>
      </p:sp>
      <p:sp>
        <p:nvSpPr>
          <p:cNvPr id="147" name="wf rack"/>
          <p:cNvSpPr/>
          <p:nvPr/>
        </p:nvSpPr>
        <p:spPr>
          <a:xfrm>
            <a:off x="2103120" y="3947160"/>
            <a:ext cx="192024" cy="204216"/>
          </a:xfrm>
          <a:prstGeom prst="rect">
            <a:avLst/>
          </a:prstGeom>
          <a:noFill/>
          <a:ln w="6350">
            <a:solidFill>
              <a:srgbClr val="DADCE0"/>
            </a:solidFill>
          </a:ln>
        </p:spPr>
        <p:txBody>
          <a:bodyPr rtlCol="0" anchor="ctr" lIns="0" rIns="0" tIns="0" bIns="0"/>
          <a:lstStyle/>
          <a:p>
            <a:pPr algn="ctr"/>
          </a:p>
        </p:txBody>
      </p:sp>
      <p:sp>
        <p:nvSpPr>
          <p:cNvPr id="148" name="wf rack"/>
          <p:cNvSpPr/>
          <p:nvPr/>
        </p:nvSpPr>
        <p:spPr>
          <a:xfrm>
            <a:off x="2331720" y="3947160"/>
            <a:ext cx="192024" cy="204216"/>
          </a:xfrm>
          <a:prstGeom prst="rect">
            <a:avLst/>
          </a:prstGeom>
          <a:noFill/>
          <a:ln w="6350">
            <a:solidFill>
              <a:srgbClr val="DADCE0"/>
            </a:solidFill>
          </a:ln>
        </p:spPr>
        <p:txBody>
          <a:bodyPr rtlCol="0" anchor="ctr" lIns="0" rIns="0" tIns="0" bIns="0"/>
          <a:lstStyle/>
          <a:p>
            <a:pPr algn="ctr"/>
          </a:p>
        </p:txBody>
      </p:sp>
      <p:sp>
        <p:nvSpPr>
          <p:cNvPr id="149" name="wf rack"/>
          <p:cNvSpPr/>
          <p:nvPr/>
        </p:nvSpPr>
        <p:spPr>
          <a:xfrm>
            <a:off x="2560320" y="3947160"/>
            <a:ext cx="192024" cy="204216"/>
          </a:xfrm>
          <a:prstGeom prst="rect">
            <a:avLst/>
          </a:prstGeom>
          <a:noFill/>
          <a:ln w="6350">
            <a:solidFill>
              <a:srgbClr val="DADCE0"/>
            </a:solidFill>
          </a:ln>
        </p:spPr>
        <p:txBody>
          <a:bodyPr rtlCol="0" anchor="ctr" lIns="0" rIns="0" tIns="0" bIns="0"/>
          <a:lstStyle/>
          <a:p>
            <a:pPr algn="ctr"/>
          </a:p>
        </p:txBody>
      </p:sp>
      <p:sp>
        <p:nvSpPr>
          <p:cNvPr id="150" name="wf rack"/>
          <p:cNvSpPr/>
          <p:nvPr/>
        </p:nvSpPr>
        <p:spPr>
          <a:xfrm>
            <a:off x="2788920" y="3947160"/>
            <a:ext cx="192024" cy="204216"/>
          </a:xfrm>
          <a:prstGeom prst="rect">
            <a:avLst/>
          </a:prstGeom>
          <a:noFill/>
          <a:ln w="6350">
            <a:solidFill>
              <a:srgbClr val="DADCE0"/>
            </a:solidFill>
          </a:ln>
        </p:spPr>
        <p:txBody>
          <a:bodyPr rtlCol="0" anchor="ctr" lIns="0" rIns="0" tIns="0" bIns="0"/>
          <a:lstStyle/>
          <a:p>
            <a:pPr algn="ctr"/>
          </a:p>
        </p:txBody>
      </p:sp>
      <p:sp>
        <p:nvSpPr>
          <p:cNvPr id="151" name="wf rack"/>
          <p:cNvSpPr/>
          <p:nvPr/>
        </p:nvSpPr>
        <p:spPr>
          <a:xfrm>
            <a:off x="3017520" y="3947160"/>
            <a:ext cx="192024" cy="204216"/>
          </a:xfrm>
          <a:prstGeom prst="rect">
            <a:avLst/>
          </a:prstGeom>
          <a:noFill/>
          <a:ln w="6350">
            <a:solidFill>
              <a:srgbClr val="DADCE0"/>
            </a:solidFill>
          </a:ln>
        </p:spPr>
        <p:txBody>
          <a:bodyPr rtlCol="0" anchor="ctr" lIns="0" rIns="0" tIns="0" bIns="0"/>
          <a:lstStyle/>
          <a:p>
            <a:pPr algn="ctr"/>
          </a:p>
        </p:txBody>
      </p:sp>
      <p:sp>
        <p:nvSpPr>
          <p:cNvPr id="152" name="wf copilot"/>
          <p:cNvSpPr/>
          <p:nvPr/>
        </p:nvSpPr>
        <p:spPr>
          <a:xfrm>
            <a:off x="3392424" y="2944368"/>
            <a:ext cx="822960" cy="1380744"/>
          </a:xfrm>
          <a:prstGeom prst="roundRect">
            <a:avLst>
              <a:gd name="adj" fmla="val 4444"/>
            </a:avLst>
          </a:prstGeom>
          <a:solidFill>
            <a:srgbClr val="FFFFFF"/>
          </a:solidFill>
          <a:ln w="9525">
            <a:solidFill>
              <a:srgbClr val="E8EAED"/>
            </a:solidFill>
          </a:ln>
        </p:spPr>
        <p:txBody>
          <a:bodyPr rtlCol="0" anchor="ctr" lIns="0" rIns="0" tIns="0" bIns="0"/>
          <a:lstStyle/>
          <a:p>
            <a:pPr algn="ctr"/>
          </a:p>
        </p:txBody>
      </p:sp>
      <p:sp>
        <p:nvSpPr>
          <p:cNvPr id="153" name="wf copilot label"/>
          <p:cNvSpPr txBox="1"/>
          <p:nvPr/>
        </p:nvSpPr>
        <p:spPr>
          <a:xfrm>
            <a:off x="3447288" y="2980944"/>
            <a:ext cx="731520" cy="164592"/>
          </a:xfrm>
          <a:prstGeom prst="rect">
            <a:avLst/>
          </a:prstGeom>
          <a:noFill/>
        </p:spPr>
        <p:txBody>
          <a:bodyPr wrap="square" lIns="0" tIns="0" rIns="0" bIns="0" anchor="t">
            <a:noAutofit/>
          </a:bodyPr>
          <a:lstStyle/>
          <a:p>
            <a:pPr algn="l" marL="0" indent="0">
              <a:lnSpc>
                <a:spcPct val="100000"/>
              </a:lnSpc>
              <a:buNone/>
            </a:pPr>
            <a:r>
              <a:rPr sz="700" b="0" lang="en-GB">
                <a:solidFill>
                  <a:srgbClr val="202124"/>
                </a:solidFill>
                <a:latin typeface="Google Sans Flex SemiBold"/>
              </a:rPr>
              <a:t>Co-pilot</a:t>
            </a:r>
          </a:p>
        </p:txBody>
      </p:sp>
      <p:sp>
        <p:nvSpPr>
          <p:cNvPr id="154" name="wf bubble"/>
          <p:cNvSpPr/>
          <p:nvPr/>
        </p:nvSpPr>
        <p:spPr>
          <a:xfrm>
            <a:off x="3593592" y="3218688"/>
            <a:ext cx="566928" cy="164592"/>
          </a:xfrm>
          <a:prstGeom prst="roundRect">
            <a:avLst>
              <a:gd name="adj" fmla="val 33333"/>
            </a:avLst>
          </a:prstGeom>
          <a:solidFill>
            <a:srgbClr val="E8F0FE"/>
          </a:solidFill>
          <a:ln>
            <a:noFill/>
          </a:ln>
        </p:spPr>
        <p:txBody>
          <a:bodyPr rtlCol="0" anchor="ctr" lIns="0" rIns="0" tIns="0" bIns="0"/>
          <a:lstStyle/>
          <a:p>
            <a:pPr algn="ctr"/>
          </a:p>
        </p:txBody>
      </p:sp>
      <p:sp>
        <p:nvSpPr>
          <p:cNvPr id="155" name="wf bubble"/>
          <p:cNvSpPr/>
          <p:nvPr/>
        </p:nvSpPr>
        <p:spPr>
          <a:xfrm>
            <a:off x="3447288" y="3465576"/>
            <a:ext cx="640080" cy="164592"/>
          </a:xfrm>
          <a:prstGeom prst="roundRect">
            <a:avLst>
              <a:gd name="adj" fmla="val 33333"/>
            </a:avLst>
          </a:prstGeom>
          <a:solidFill>
            <a:srgbClr val="F1F3F4"/>
          </a:solidFill>
          <a:ln>
            <a:noFill/>
          </a:ln>
        </p:spPr>
        <p:txBody>
          <a:bodyPr rtlCol="0" anchor="ctr" lIns="0" rIns="0" tIns="0" bIns="0"/>
          <a:lstStyle/>
          <a:p>
            <a:pPr algn="ctr"/>
          </a:p>
        </p:txBody>
      </p:sp>
      <p:sp>
        <p:nvSpPr>
          <p:cNvPr id="156" name="wf bubble"/>
          <p:cNvSpPr/>
          <p:nvPr/>
        </p:nvSpPr>
        <p:spPr>
          <a:xfrm>
            <a:off x="3703320" y="3712464"/>
            <a:ext cx="457200" cy="164592"/>
          </a:xfrm>
          <a:prstGeom prst="roundRect">
            <a:avLst>
              <a:gd name="adj" fmla="val 33333"/>
            </a:avLst>
          </a:prstGeom>
          <a:solidFill>
            <a:srgbClr val="E8F0FE"/>
          </a:solidFill>
          <a:ln>
            <a:noFill/>
          </a:ln>
        </p:spPr>
        <p:txBody>
          <a:bodyPr rtlCol="0" anchor="ctr" lIns="0" rIns="0" tIns="0" bIns="0"/>
          <a:lstStyle/>
          <a:p>
            <a:pPr algn="ctr"/>
          </a:p>
        </p:txBody>
      </p:sp>
      <p:sp>
        <p:nvSpPr>
          <p:cNvPr id="157" name="wf voice"/>
          <p:cNvSpPr/>
          <p:nvPr/>
        </p:nvSpPr>
        <p:spPr>
          <a:xfrm>
            <a:off x="3694176" y="4050792"/>
            <a:ext cx="219456" cy="219456"/>
          </a:xfrm>
          <a:prstGeom prst="ellipse">
            <a:avLst/>
          </a:prstGeom>
          <a:solidFill>
            <a:srgbClr val="202124"/>
          </a:solidFill>
          <a:ln>
            <a:noFill/>
          </a:ln>
        </p:spPr>
        <p:txBody>
          <a:bodyPr rtlCol="0" anchor="ctr" lIns="0" rIns="0" tIns="0" bIns="0"/>
          <a:lstStyle/>
          <a:p>
            <a:pPr algn="ctr"/>
          </a:p>
        </p:txBody>
      </p:sp>
      <p:sp>
        <p:nvSpPr>
          <p:cNvPr id="158" name="wf voice dot"/>
          <p:cNvSpPr/>
          <p:nvPr/>
        </p:nvSpPr>
        <p:spPr>
          <a:xfrm>
            <a:off x="3776472" y="4133088"/>
            <a:ext cx="54864" cy="54864"/>
          </a:xfrm>
          <a:prstGeom prst="ellipse">
            <a:avLst/>
          </a:prstGeom>
          <a:solidFill>
            <a:srgbClr val="FFFFFF"/>
          </a:solidFill>
          <a:ln>
            <a:noFill/>
          </a:ln>
        </p:spPr>
        <p:txBody>
          <a:bodyPr rtlCol="0" anchor="ctr" lIns="0" rIns="0" tIns="0" bIns="0"/>
          <a:lstStyle/>
          <a:p>
            <a:pPr algn="ctr"/>
          </a:p>
        </p:txBody>
      </p:sp>
      <p:sp>
        <p:nvSpPr>
          <p:cNvPr id="159" name="wf timeline"/>
          <p:cNvSpPr/>
          <p:nvPr/>
        </p:nvSpPr>
        <p:spPr>
          <a:xfrm>
            <a:off x="429768" y="4398264"/>
            <a:ext cx="3785616" cy="237744"/>
          </a:xfrm>
          <a:prstGeom prst="roundRect">
            <a:avLst>
              <a:gd name="adj" fmla="val 15384"/>
            </a:avLst>
          </a:prstGeom>
          <a:solidFill>
            <a:srgbClr val="FFFFFF"/>
          </a:solidFill>
          <a:ln w="9525">
            <a:solidFill>
              <a:srgbClr val="E8EAED"/>
            </a:solidFill>
          </a:ln>
        </p:spPr>
        <p:txBody>
          <a:bodyPr rtlCol="0" anchor="ctr" lIns="0" rIns="0" tIns="0" bIns="0"/>
          <a:lstStyle/>
          <a:p>
            <a:pPr algn="ctr"/>
          </a:p>
        </p:txBody>
      </p:sp>
      <p:sp>
        <p:nvSpPr>
          <p:cNvPr id="160" name="wf timeline rule"/>
          <p:cNvSpPr/>
          <p:nvPr/>
        </p:nvSpPr>
        <p:spPr>
          <a:xfrm>
            <a:off x="722376" y="4512564"/>
            <a:ext cx="3108960" cy="9144"/>
          </a:xfrm>
          <a:prstGeom prst="rect">
            <a:avLst/>
          </a:prstGeom>
          <a:solidFill>
            <a:srgbClr val="DADCE0"/>
          </a:solidFill>
          <a:ln>
            <a:noFill/>
          </a:ln>
        </p:spPr>
        <p:txBody>
          <a:bodyPr rtlCol="0" anchor="ctr" lIns="0" rIns="0" tIns="0" bIns="0"/>
          <a:lstStyle/>
          <a:p>
            <a:pPr algn="ctr"/>
          </a:p>
        </p:txBody>
      </p:sp>
      <p:sp>
        <p:nvSpPr>
          <p:cNvPr id="161" name="wf rev"/>
          <p:cNvSpPr/>
          <p:nvPr/>
        </p:nvSpPr>
        <p:spPr>
          <a:xfrm>
            <a:off x="685800" y="4480560"/>
            <a:ext cx="73152" cy="73152"/>
          </a:xfrm>
          <a:prstGeom prst="ellipse">
            <a:avLst/>
          </a:prstGeom>
          <a:solidFill>
            <a:srgbClr val="5F6368"/>
          </a:solidFill>
          <a:ln>
            <a:noFill/>
          </a:ln>
        </p:spPr>
        <p:txBody>
          <a:bodyPr rtlCol="0" anchor="ctr" lIns="0" rIns="0" tIns="0" bIns="0"/>
          <a:lstStyle/>
          <a:p>
            <a:pPr algn="ctr"/>
          </a:p>
        </p:txBody>
      </p:sp>
      <p:sp>
        <p:nvSpPr>
          <p:cNvPr id="162" name="wf rev label"/>
          <p:cNvSpPr txBox="1"/>
          <p:nvPr/>
        </p:nvSpPr>
        <p:spPr>
          <a:xfrm>
            <a:off x="786384" y="4398264"/>
            <a:ext cx="548640" cy="237744"/>
          </a:xfrm>
          <a:prstGeom prst="rect">
            <a:avLst/>
          </a:prstGeom>
          <a:noFill/>
        </p:spPr>
        <p:txBody>
          <a:bodyPr wrap="square" lIns="0" tIns="0" rIns="0" bIns="0" anchor="ctr">
            <a:noAutofit/>
          </a:bodyPr>
          <a:lstStyle/>
          <a:p>
            <a:pPr algn="l" marL="0" indent="0">
              <a:lnSpc>
                <a:spcPct val="100000"/>
              </a:lnSpc>
              <a:buNone/>
            </a:pPr>
            <a:r>
              <a:rPr sz="650" b="0" lang="en-GB">
                <a:solidFill>
                  <a:srgbClr val="3C4043"/>
                </a:solidFill>
                <a:latin typeface="Roboto Mono"/>
              </a:rPr>
              <a:t>r1</a:t>
            </a:r>
          </a:p>
        </p:txBody>
      </p:sp>
      <p:sp>
        <p:nvSpPr>
          <p:cNvPr id="163" name="wf rev"/>
          <p:cNvSpPr/>
          <p:nvPr/>
        </p:nvSpPr>
        <p:spPr>
          <a:xfrm>
            <a:off x="2240280" y="4480560"/>
            <a:ext cx="73152" cy="73152"/>
          </a:xfrm>
          <a:prstGeom prst="ellipse">
            <a:avLst/>
          </a:prstGeom>
          <a:solidFill>
            <a:srgbClr val="5F6368"/>
          </a:solidFill>
          <a:ln>
            <a:noFill/>
          </a:ln>
        </p:spPr>
        <p:txBody>
          <a:bodyPr rtlCol="0" anchor="ctr" lIns="0" rIns="0" tIns="0" bIns="0"/>
          <a:lstStyle/>
          <a:p>
            <a:pPr algn="ctr"/>
          </a:p>
        </p:txBody>
      </p:sp>
      <p:sp>
        <p:nvSpPr>
          <p:cNvPr id="164" name="wf rev label"/>
          <p:cNvSpPr txBox="1"/>
          <p:nvPr/>
        </p:nvSpPr>
        <p:spPr>
          <a:xfrm>
            <a:off x="2340864" y="4398264"/>
            <a:ext cx="548640" cy="237744"/>
          </a:xfrm>
          <a:prstGeom prst="rect">
            <a:avLst/>
          </a:prstGeom>
          <a:noFill/>
        </p:spPr>
        <p:txBody>
          <a:bodyPr wrap="square" lIns="0" tIns="0" rIns="0" bIns="0" anchor="ctr">
            <a:noAutofit/>
          </a:bodyPr>
          <a:lstStyle/>
          <a:p>
            <a:pPr algn="l" marL="0" indent="0">
              <a:lnSpc>
                <a:spcPct val="100000"/>
              </a:lnSpc>
              <a:buNone/>
            </a:pPr>
            <a:r>
              <a:rPr sz="650" b="0" lang="en-GB">
                <a:solidFill>
                  <a:srgbClr val="3C4043"/>
                </a:solidFill>
                <a:latin typeface="Roboto Mono"/>
              </a:rPr>
              <a:t>r2</a:t>
            </a:r>
          </a:p>
        </p:txBody>
      </p:sp>
      <p:sp>
        <p:nvSpPr>
          <p:cNvPr id="165" name="wf rev"/>
          <p:cNvSpPr/>
          <p:nvPr/>
        </p:nvSpPr>
        <p:spPr>
          <a:xfrm>
            <a:off x="3794760" y="4480560"/>
            <a:ext cx="73152" cy="73152"/>
          </a:xfrm>
          <a:prstGeom prst="ellipse">
            <a:avLst/>
          </a:prstGeom>
          <a:solidFill>
            <a:srgbClr val="202124"/>
          </a:solidFill>
          <a:ln>
            <a:noFill/>
          </a:ln>
        </p:spPr>
        <p:txBody>
          <a:bodyPr rtlCol="0" anchor="ctr" lIns="0" rIns="0" tIns="0" bIns="0"/>
          <a:lstStyle/>
          <a:p>
            <a:pPr algn="ctr"/>
          </a:p>
        </p:txBody>
      </p:sp>
      <p:sp>
        <p:nvSpPr>
          <p:cNvPr id="166" name="wf rev label"/>
          <p:cNvSpPr txBox="1"/>
          <p:nvPr/>
        </p:nvSpPr>
        <p:spPr>
          <a:xfrm>
            <a:off x="3895344" y="4398264"/>
            <a:ext cx="548640" cy="237744"/>
          </a:xfrm>
          <a:prstGeom prst="rect">
            <a:avLst/>
          </a:prstGeom>
          <a:noFill/>
        </p:spPr>
        <p:txBody>
          <a:bodyPr wrap="square" lIns="0" tIns="0" rIns="0" bIns="0" anchor="ctr">
            <a:noAutofit/>
          </a:bodyPr>
          <a:lstStyle/>
          <a:p>
            <a:pPr algn="l" marL="0" indent="0">
              <a:lnSpc>
                <a:spcPct val="100000"/>
              </a:lnSpc>
              <a:buNone/>
            </a:pPr>
            <a:r>
              <a:rPr sz="650" b="0" lang="en-GB">
                <a:solidFill>
                  <a:srgbClr val="3C4043"/>
                </a:solidFill>
                <a:latin typeface="Roboto Mono"/>
              </a:rPr>
              <a:t>signed</a:t>
            </a:r>
          </a:p>
        </p:txBody>
      </p:sp>
      <p:sp>
        <p:nvSpPr>
          <p:cNvPr id="167" name="kicker"/>
          <p:cNvSpPr txBox="1"/>
          <p:nvPr/>
        </p:nvSpPr>
        <p:spPr>
          <a:xfrm>
            <a:off x="4526280" y="1115568"/>
            <a:ext cx="1828800" cy="182880"/>
          </a:xfrm>
          <a:prstGeom prst="rect">
            <a:avLst/>
          </a:prstGeom>
          <a:noFill/>
        </p:spPr>
        <p:txBody>
          <a:bodyPr wrap="square" lIns="0" tIns="0" rIns="0" bIns="0" anchor="t">
            <a:noAutofit/>
          </a:bodyPr>
          <a:lstStyle/>
          <a:p>
            <a:pPr algn="l" marL="0" indent="0">
              <a:lnSpc>
                <a:spcPct val="100000"/>
              </a:lnSpc>
              <a:buNone/>
            </a:pPr>
            <a:r>
              <a:rPr sz="700" b="0" lang="en-GB" spc="80">
                <a:solidFill>
                  <a:srgbClr val="5F6368"/>
                </a:solidFill>
                <a:latin typeface="Roboto Mono"/>
              </a:rPr>
              <a:t>FINDING DRAWER · ANNOTATED</a:t>
            </a:r>
          </a:p>
        </p:txBody>
      </p:sp>
      <p:sp>
        <p:nvSpPr>
          <p:cNvPr id="168" name="number 1"/>
          <p:cNvSpPr/>
          <p:nvPr/>
        </p:nvSpPr>
        <p:spPr>
          <a:xfrm>
            <a:off x="4526280" y="1426464"/>
            <a:ext cx="201168" cy="201168"/>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800" b="0" lang="en-GB">
                <a:solidFill>
                  <a:srgbClr val="FFFFFF"/>
                </a:solidFill>
                <a:latin typeface="Google Sans Flex SemiBold"/>
              </a:rPr>
              <a:t>1</a:t>
            </a:r>
          </a:p>
        </p:txBody>
      </p:sp>
      <p:sp>
        <p:nvSpPr>
          <p:cNvPr id="169" name="callout"/>
          <p:cNvSpPr txBox="1"/>
          <p:nvPr/>
        </p:nvSpPr>
        <p:spPr>
          <a:xfrm>
            <a:off x="4818888" y="1389888"/>
            <a:ext cx="1536192" cy="420624"/>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Rule id</a:t>
            </a:r>
          </a:p>
        </p:txBody>
      </p:sp>
      <p:sp>
        <p:nvSpPr>
          <p:cNvPr id="170" name="number 2"/>
          <p:cNvSpPr/>
          <p:nvPr/>
        </p:nvSpPr>
        <p:spPr>
          <a:xfrm>
            <a:off x="4526280" y="1976628"/>
            <a:ext cx="201168" cy="201168"/>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800" b="0" lang="en-GB">
                <a:solidFill>
                  <a:srgbClr val="FFFFFF"/>
                </a:solidFill>
                <a:latin typeface="Google Sans Flex SemiBold"/>
              </a:rPr>
              <a:t>2</a:t>
            </a:r>
          </a:p>
        </p:txBody>
      </p:sp>
      <p:sp>
        <p:nvSpPr>
          <p:cNvPr id="171" name="callout"/>
          <p:cNvSpPr txBox="1"/>
          <p:nvPr/>
        </p:nvSpPr>
        <p:spPr>
          <a:xfrm>
            <a:off x="4818888" y="1940052"/>
            <a:ext cx="1536192" cy="420624"/>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Clause chip and tender chip</a:t>
            </a:r>
          </a:p>
        </p:txBody>
      </p:sp>
      <p:sp>
        <p:nvSpPr>
          <p:cNvPr id="172" name="number 3"/>
          <p:cNvSpPr/>
          <p:nvPr/>
        </p:nvSpPr>
        <p:spPr>
          <a:xfrm>
            <a:off x="4526280" y="2526792"/>
            <a:ext cx="201168" cy="201168"/>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800" b="0" lang="en-GB">
                <a:solidFill>
                  <a:srgbClr val="FFFFFF"/>
                </a:solidFill>
                <a:latin typeface="Google Sans Flex SemiBold"/>
              </a:rPr>
              <a:t>3</a:t>
            </a:r>
          </a:p>
        </p:txBody>
      </p:sp>
      <p:sp>
        <p:nvSpPr>
          <p:cNvPr id="173" name="callout"/>
          <p:cNvSpPr txBox="1"/>
          <p:nvPr/>
        </p:nvSpPr>
        <p:spPr>
          <a:xfrm>
            <a:off x="4818888" y="2490216"/>
            <a:ext cx="1536192" cy="420624"/>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Formula with inputs</a:t>
            </a:r>
          </a:p>
        </p:txBody>
      </p:sp>
      <p:sp>
        <p:nvSpPr>
          <p:cNvPr id="174" name="number 4"/>
          <p:cNvSpPr/>
          <p:nvPr/>
        </p:nvSpPr>
        <p:spPr>
          <a:xfrm>
            <a:off x="4526280" y="3076956"/>
            <a:ext cx="201168" cy="201168"/>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800" b="0" lang="en-GB">
                <a:solidFill>
                  <a:srgbClr val="FFFFFF"/>
                </a:solidFill>
                <a:latin typeface="Google Sans Flex SemiBold"/>
              </a:rPr>
              <a:t>4</a:t>
            </a:r>
          </a:p>
        </p:txBody>
      </p:sp>
      <p:sp>
        <p:nvSpPr>
          <p:cNvPr id="175" name="callout"/>
          <p:cNvSpPr txBox="1"/>
          <p:nvPr/>
        </p:nvSpPr>
        <p:spPr>
          <a:xfrm>
            <a:off x="4818888" y="3040380"/>
            <a:ext cx="1536192" cy="420624"/>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Value-against-limit bar</a:t>
            </a:r>
          </a:p>
        </p:txBody>
      </p:sp>
      <p:sp>
        <p:nvSpPr>
          <p:cNvPr id="176" name="number 5"/>
          <p:cNvSpPr/>
          <p:nvPr/>
        </p:nvSpPr>
        <p:spPr>
          <a:xfrm>
            <a:off x="4526280" y="3627120"/>
            <a:ext cx="201168" cy="201168"/>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800" b="0" lang="en-GB">
                <a:solidFill>
                  <a:srgbClr val="FFFFFF"/>
                </a:solidFill>
                <a:latin typeface="Google Sans Flex SemiBold"/>
              </a:rPr>
              <a:t>5</a:t>
            </a:r>
          </a:p>
        </p:txBody>
      </p:sp>
      <p:sp>
        <p:nvSpPr>
          <p:cNvPr id="177" name="callout"/>
          <p:cNvSpPr txBox="1"/>
          <p:nvPr/>
        </p:nvSpPr>
        <p:spPr>
          <a:xfrm>
            <a:off x="4818888" y="3590544"/>
            <a:ext cx="1536192" cy="420624"/>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Chosen fix and rejected alternative with deltas</a:t>
            </a:r>
          </a:p>
        </p:txBody>
      </p:sp>
      <p:sp>
        <p:nvSpPr>
          <p:cNvPr id="178" name="number 6"/>
          <p:cNvSpPr/>
          <p:nvPr/>
        </p:nvSpPr>
        <p:spPr>
          <a:xfrm>
            <a:off x="4526280" y="4177284"/>
            <a:ext cx="201168" cy="201168"/>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800" b="0" lang="en-GB">
                <a:solidFill>
                  <a:srgbClr val="FFFFFF"/>
                </a:solidFill>
                <a:latin typeface="Google Sans Flex SemiBold"/>
              </a:rPr>
              <a:t>6</a:t>
            </a:r>
          </a:p>
        </p:txBody>
      </p:sp>
      <p:sp>
        <p:nvSpPr>
          <p:cNvPr id="179" name="callout"/>
          <p:cNvSpPr txBox="1"/>
          <p:nvPr/>
        </p:nvSpPr>
        <p:spPr>
          <a:xfrm>
            <a:off x="4818888" y="4140708"/>
            <a:ext cx="1536192" cy="420624"/>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"show on canvas"</a:t>
            </a:r>
          </a:p>
        </p:txBody>
      </p:sp>
      <p:sp>
        <p:nvSpPr>
          <p:cNvPr id="180" name="SHOT placeholder shots/s07-finding-drawer-r05.png"/>
          <p:cNvSpPr/>
          <p:nvPr/>
        </p:nvSpPr>
        <p:spPr>
          <a:xfrm>
            <a:off x="6446520" y="1133856"/>
            <a:ext cx="2340864" cy="3575304"/>
          </a:xfrm>
          <a:prstGeom prst="roundRect">
            <a:avLst>
              <a:gd name="adj" fmla="val 2343"/>
            </a:avLst>
          </a:prstGeom>
          <a:solidFill>
            <a:srgbClr val="FFF4EC"/>
          </a:solidFill>
          <a:ln w="12700">
            <a:solidFill>
              <a:srgbClr val="C2410C"/>
            </a:solidFill>
            <a:prstDash val="dash"/>
          </a:ln>
        </p:spPr>
        <p:txBody>
          <a:bodyPr rtlCol="0" anchor="ctr" lIns="0" rIns="0" tIns="0" bIns="0"/>
          <a:lstStyle/>
          <a:p>
            <a:pPr algn="ctr"/>
          </a:p>
        </p:txBody>
      </p:sp>
      <p:pic>
        <p:nvPicPr>
          <p:cNvPr id="181" name="icon camera" descr=""/>
          <p:cNvPicPr>
            <a:picLocks noChangeAspect="1"/>
          </p:cNvPicPr>
          <p:nvPr/>
        </p:nvPicPr>
        <p:blipFill>
          <a:blip r:embed="rId5"/>
          <a:stretch>
            <a:fillRect/>
          </a:stretch>
        </p:blipFill>
        <p:spPr>
          <a:xfrm>
            <a:off x="6556248" y="1243584"/>
            <a:ext cx="201168" cy="201168"/>
          </a:xfrm>
          <a:prstGeom prst="rect">
            <a:avLst/>
          </a:prstGeom>
        </p:spPr>
      </p:pic>
      <p:sp>
        <p:nvSpPr>
          <p:cNvPr id="182" name="SHOT label"/>
          <p:cNvSpPr txBox="1"/>
          <p:nvPr/>
        </p:nvSpPr>
        <p:spPr>
          <a:xfrm>
            <a:off x="6812280" y="1234440"/>
            <a:ext cx="1865376"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shots/s07-finding-drawer-r05.png</a:t>
            </a:r>
          </a:p>
        </p:txBody>
      </p:sp>
      <p:sp>
        <p:nvSpPr>
          <p:cNvPr id="183" name="SHOT text"/>
          <p:cNvSpPr txBox="1"/>
          <p:nvPr/>
        </p:nvSpPr>
        <p:spPr>
          <a:xfrm>
            <a:off x="6556248" y="1490472"/>
            <a:ext cx="2121408" cy="3108960"/>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Finding drawer open on R05 for FA-01: 82 m feeder, ΔV 2.16% against the 2.0% limit, §4.6 chip; fix options "2,000 A busway · 1.66% · +$11,480" and "parallel cable · 0.84% · +$15,580".</a:t>
            </a:r>
          </a:p>
        </p:txBody>
      </p:sp>
      <p:sp>
        <p:nvSpPr>
          <p:cNvPr id="184"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IEC-based, illustrative values, not for construction. Demo data is fictional.</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headline"/>
          <p:cNvSpPr txBox="1"/>
          <p:nvPr/>
        </p:nvSpPr>
        <p:spPr>
          <a:xfrm>
            <a:off x="356616" y="1097280"/>
            <a:ext cx="3657600" cy="310896"/>
          </a:xfrm>
          <a:prstGeom prst="rect">
            <a:avLst/>
          </a:prstGeom>
          <a:noFill/>
        </p:spPr>
        <p:txBody>
          <a:bodyPr wrap="square" lIns="0" tIns="0" rIns="0" bIns="0" anchor="ctr">
            <a:noAutofit/>
          </a:bodyPr>
          <a:lstStyle/>
          <a:p>
            <a:pPr algn="l" marL="0" indent="0">
              <a:lnSpc>
                <a:spcPct val="100000"/>
              </a:lnSpc>
              <a:buNone/>
            </a:pPr>
            <a:r>
              <a:rPr sz="1500" b="0" lang="en-GB">
                <a:solidFill>
                  <a:srgbClr val="202124"/>
                </a:solidFill>
                <a:latin typeface="Google Sans Flex Medium"/>
              </a:rPr>
              <a:t>Gemini proposes. The engine decides.</a:t>
            </a:r>
          </a:p>
        </p:txBody>
      </p:sp>
      <p:sp>
        <p:nvSpPr>
          <p:cNvPr id="113" name="subline"/>
          <p:cNvSpPr txBox="1"/>
          <p:nvPr/>
        </p:nvSpPr>
        <p:spPr>
          <a:xfrm>
            <a:off x="356616" y="1408176"/>
            <a:ext cx="8430768" cy="365760"/>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ADK agents run on Cloud Run with Gemini 3.8 Flash. The engine and checker are plain Python with no LLM. Firestore streams every step live; Firebase serves, signs in and attests.</a:t>
            </a:r>
          </a:p>
        </p:txBody>
      </p:sp>
      <p:sp>
        <p:nvSpPr>
          <p:cNvPr id="114" name="browser group"/>
          <p:cNvSpPr/>
          <p:nvPr/>
        </p:nvSpPr>
        <p:spPr>
          <a:xfrm>
            <a:off x="356616" y="1828800"/>
            <a:ext cx="1627632" cy="1371600"/>
          </a:xfrm>
          <a:prstGeom prst="roundRect">
            <a:avLst>
              <a:gd name="adj" fmla="val 4000"/>
            </a:avLst>
          </a:prstGeom>
          <a:solidFill>
            <a:srgbClr val="F8F9FA"/>
          </a:solidFill>
          <a:ln w="9525">
            <a:solidFill>
              <a:srgbClr val="DADCE0"/>
            </a:solidFill>
          </a:ln>
        </p:spPr>
        <p:txBody>
          <a:bodyPr rtlCol="0" anchor="ctr" lIns="0" rIns="0" tIns="0" bIns="0"/>
          <a:lstStyle/>
          <a:p>
            <a:pPr algn="ctr"/>
          </a:p>
        </p:txBody>
      </p:sp>
      <p:sp>
        <p:nvSpPr>
          <p:cNvPr id="115" name="group label"/>
          <p:cNvSpPr txBox="1"/>
          <p:nvPr/>
        </p:nvSpPr>
        <p:spPr>
          <a:xfrm>
            <a:off x="448056" y="1874520"/>
            <a:ext cx="1444752" cy="310896"/>
          </a:xfrm>
          <a:prstGeom prst="rect">
            <a:avLst/>
          </a:prstGeom>
          <a:noFill/>
        </p:spPr>
        <p:txBody>
          <a:bodyPr wrap="square" lIns="0" tIns="0" rIns="0" bIns="0" anchor="t">
            <a:noAutofit/>
          </a:bodyPr>
          <a:lstStyle/>
          <a:p>
            <a:pPr algn="l" marL="0" indent="0">
              <a:lnSpc>
                <a:spcPct val="95000"/>
              </a:lnSpc>
              <a:buNone/>
            </a:pPr>
            <a:r>
              <a:rPr sz="850" b="0" lang="en-GB">
                <a:solidFill>
                  <a:srgbClr val="202124"/>
                </a:solidFill>
                <a:latin typeface="Google Sans Flex SemiBold"/>
              </a:rPr>
              <a:t>Browser</a:t>
            </a:r>
          </a:p>
          <a:p>
            <a:pPr algn="l" marL="0" indent="0">
              <a:lnSpc>
                <a:spcPct val="95000"/>
              </a:lnSpc>
              <a:buNone/>
            </a:pPr>
            <a:r>
              <a:rPr sz="750" b="0" lang="en-GB">
                <a:solidFill>
                  <a:srgbClr val="5F6368"/>
                </a:solidFill>
                <a:latin typeface="Google Sans Flex"/>
              </a:rPr>
              <a:t>React 19 on Firebase Hosting</a:t>
            </a:r>
          </a:p>
        </p:txBody>
      </p:sp>
      <p:sp>
        <p:nvSpPr>
          <p:cNvPr id="116" name="workspace ui"/>
          <p:cNvSpPr/>
          <p:nvPr/>
        </p:nvSpPr>
        <p:spPr>
          <a:xfrm>
            <a:off x="448056" y="2212848"/>
            <a:ext cx="1444752" cy="512064"/>
          </a:xfrm>
          <a:prstGeom prst="roundRect">
            <a:avLst>
              <a:gd name="adj" fmla="val 8928"/>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50" b="0" lang="en-GB">
                <a:solidFill>
                  <a:srgbClr val="202124"/>
                </a:solidFill>
                <a:latin typeface="Google Sans Flex SemiBold"/>
              </a:rPr>
              <a:t>Workspace</a:t>
            </a:r>
          </a:p>
          <a:p>
            <a:pPr algn="ctr" marL="0" indent="0">
              <a:lnSpc>
                <a:spcPct val="100000"/>
              </a:lnSpc>
              <a:buNone/>
            </a:pPr>
            <a:r>
              <a:rPr sz="750" b="0" lang="en-GB">
                <a:solidFill>
                  <a:srgbClr val="3C4043"/>
                </a:solidFill>
                <a:latin typeface="Google Sans Flex"/>
              </a:rPr>
              <a:t>React Flow + ELK SLD,</a:t>
            </a:r>
          </a:p>
          <a:p>
            <a:pPr algn="ctr" marL="0" indent="0">
              <a:lnSpc>
                <a:spcPct val="100000"/>
              </a:lnSpc>
              <a:buNone/>
            </a:pPr>
            <a:r>
              <a:rPr sz="750" b="0" lang="en-GB">
                <a:solidFill>
                  <a:srgbClr val="3C4043"/>
                </a:solidFill>
                <a:latin typeface="Google Sans Flex"/>
              </a:rPr>
              <a:t>react-three-fiber 3D hall</a:t>
            </a:r>
          </a:p>
        </p:txBody>
      </p:sp>
      <p:sp>
        <p:nvSpPr>
          <p:cNvPr id="117" name="demo world"/>
          <p:cNvSpPr/>
          <p:nvPr/>
        </p:nvSpPr>
        <p:spPr>
          <a:xfrm>
            <a:off x="448056" y="2798064"/>
            <a:ext cx="1444752" cy="310896"/>
          </a:xfrm>
          <a:prstGeom prst="roundRect">
            <a:avLst>
              <a:gd name="adj" fmla="val 14705"/>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50" b="0" lang="en-GB">
                <a:solidFill>
                  <a:srgbClr val="202124"/>
                </a:solidFill>
                <a:latin typeface="Google Sans Flex Medium"/>
              </a:rPr>
              <a:t>Static demo world JSON</a:t>
            </a:r>
          </a:p>
        </p:txBody>
      </p:sp>
      <p:sp>
        <p:nvSpPr>
          <p:cNvPr id="118" name="firebase group"/>
          <p:cNvSpPr/>
          <p:nvPr/>
        </p:nvSpPr>
        <p:spPr>
          <a:xfrm>
            <a:off x="356616" y="3456432"/>
            <a:ext cx="1627632" cy="1362456"/>
          </a:xfrm>
          <a:prstGeom prst="roundRect">
            <a:avLst>
              <a:gd name="adj" fmla="val 4026"/>
            </a:avLst>
          </a:prstGeom>
          <a:solidFill>
            <a:srgbClr val="F8F9FA"/>
          </a:solidFill>
          <a:ln w="9525">
            <a:solidFill>
              <a:srgbClr val="DADCE0"/>
            </a:solidFill>
          </a:ln>
        </p:spPr>
        <p:txBody>
          <a:bodyPr rtlCol="0" anchor="ctr" lIns="0" rIns="0" tIns="0" bIns="0"/>
          <a:lstStyle/>
          <a:p>
            <a:pPr algn="ctr"/>
          </a:p>
        </p:txBody>
      </p:sp>
      <p:sp>
        <p:nvSpPr>
          <p:cNvPr id="119" name="auth"/>
          <p:cNvSpPr/>
          <p:nvPr/>
        </p:nvSpPr>
        <p:spPr>
          <a:xfrm>
            <a:off x="448056" y="3547872"/>
            <a:ext cx="1444752" cy="292608"/>
          </a:xfrm>
          <a:prstGeom prst="roundRect">
            <a:avLst>
              <a:gd name="adj" fmla="val 15625"/>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Medium"/>
              </a:rPr>
              <a:t>Firebase Auth (anonymous)</a:t>
            </a:r>
          </a:p>
        </p:txBody>
      </p:sp>
      <p:sp>
        <p:nvSpPr>
          <p:cNvPr id="120" name="ac"/>
          <p:cNvSpPr/>
          <p:nvPr/>
        </p:nvSpPr>
        <p:spPr>
          <a:xfrm>
            <a:off x="448056" y="3904488"/>
            <a:ext cx="1444752" cy="292608"/>
          </a:xfrm>
          <a:prstGeom prst="roundRect">
            <a:avLst>
              <a:gd name="adj" fmla="val 15625"/>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Medium"/>
              </a:rPr>
              <a:t>Firebase App Check</a:t>
            </a:r>
          </a:p>
        </p:txBody>
      </p:sp>
      <p:sp>
        <p:nvSpPr>
          <p:cNvPr id="121" name="live"/>
          <p:cNvSpPr/>
          <p:nvPr/>
        </p:nvSpPr>
        <p:spPr>
          <a:xfrm>
            <a:off x="448056" y="4261104"/>
            <a:ext cx="1444752" cy="365760"/>
          </a:xfrm>
          <a:prstGeom prst="roundRect">
            <a:avLst>
              <a:gd name="adj" fmla="val 12500"/>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00" b="0" lang="en-GB">
                <a:solidFill>
                  <a:srgbClr val="202124"/>
                </a:solidFill>
                <a:latin typeface="Google Sans Flex Medium"/>
              </a:rPr>
              <a:t>Gemini Live native</a:t>
            </a:r>
          </a:p>
          <a:p>
            <a:pPr algn="ctr" marL="0" indent="0">
              <a:lnSpc>
                <a:spcPct val="100000"/>
              </a:lnSpc>
              <a:buNone/>
            </a:pPr>
            <a:r>
              <a:rPr sz="800" b="0" lang="en-GB">
                <a:solidFill>
                  <a:srgbClr val="202124"/>
                </a:solidFill>
                <a:latin typeface="Google Sans Flex Medium"/>
              </a:rPr>
              <a:t>audio (us-central1)</a:t>
            </a:r>
          </a:p>
        </p:txBody>
      </p:sp>
      <p:sp>
        <p:nvSpPr>
          <p:cNvPr id="122" name="voice label"/>
          <p:cNvSpPr txBox="1"/>
          <p:nvPr/>
        </p:nvSpPr>
        <p:spPr>
          <a:xfrm>
            <a:off x="448056" y="4654296"/>
            <a:ext cx="1444752" cy="164592"/>
          </a:xfrm>
          <a:prstGeom prst="rect">
            <a:avLst/>
          </a:prstGeom>
          <a:noFill/>
        </p:spPr>
        <p:txBody>
          <a:bodyPr wrap="square" lIns="0" tIns="0" rIns="0" bIns="0" anchor="t">
            <a:noAutofit/>
          </a:bodyPr>
          <a:lstStyle/>
          <a:p>
            <a:pPr algn="ctr" marL="0" indent="0">
              <a:lnSpc>
                <a:spcPct val="100000"/>
              </a:lnSpc>
              <a:buNone/>
            </a:pPr>
            <a:r>
              <a:rPr sz="700" b="0" lang="en-GB">
                <a:solidFill>
                  <a:srgbClr val="5F6368"/>
                </a:solidFill>
                <a:latin typeface="Google Sans Flex"/>
              </a:rPr>
              <a:t>voice via Firebase AI Logic</a:t>
            </a:r>
          </a:p>
        </p:txBody>
      </p:sp>
      <p:cxnSp>
        <p:nvCxnSpPr>
          <p:cNvPr id="123" name="browser to firebase"/>
          <p:cNvCxnSpPr/>
          <p:nvPr/>
        </p:nvCxnSpPr>
        <p:spPr>
          <a:xfrm>
            <a:off x="1170432" y="3200400"/>
            <a:ext cx="0" cy="256032"/>
          </a:xfrm>
          <a:prstGeom prst="line">
            <a:avLst/>
          </a:prstGeom>
          <a:ln w="12700">
            <a:solidFill>
              <a:srgbClr val="5F6368"/>
            </a:solidFill>
            <a:tailEnd type="triangle" w="med" len="med"/>
          </a:ln>
        </p:spPr>
      </p:cxnSp>
      <p:sp>
        <p:nvSpPr>
          <p:cNvPr id="124" name="kirchhoff-api group"/>
          <p:cNvSpPr/>
          <p:nvPr/>
        </p:nvSpPr>
        <p:spPr>
          <a:xfrm>
            <a:off x="2715768" y="1828800"/>
            <a:ext cx="2990088" cy="2212848"/>
          </a:xfrm>
          <a:prstGeom prst="roundRect">
            <a:avLst>
              <a:gd name="adj" fmla="val 2479"/>
            </a:avLst>
          </a:prstGeom>
          <a:solidFill>
            <a:srgbClr val="F8F9FA"/>
          </a:solidFill>
          <a:ln w="9525">
            <a:solidFill>
              <a:srgbClr val="DADCE0"/>
            </a:solidFill>
          </a:ln>
        </p:spPr>
        <p:txBody>
          <a:bodyPr rtlCol="0" anchor="ctr" lIns="0" rIns="0" tIns="0" bIns="0"/>
          <a:lstStyle/>
          <a:p>
            <a:pPr algn="ctr"/>
          </a:p>
        </p:txBody>
      </p:sp>
      <p:sp>
        <p:nvSpPr>
          <p:cNvPr id="125" name="group label"/>
          <p:cNvSpPr txBox="1"/>
          <p:nvPr/>
        </p:nvSpPr>
        <p:spPr>
          <a:xfrm>
            <a:off x="2825496" y="1865376"/>
            <a:ext cx="2770632" cy="201168"/>
          </a:xfrm>
          <a:prstGeom prst="rect">
            <a:avLst/>
          </a:prstGeom>
          <a:noFill/>
        </p:spPr>
        <p:txBody>
          <a:bodyPr wrap="square" lIns="0" tIns="0" rIns="0" bIns="0" anchor="ctr">
            <a:noAutofit/>
          </a:bodyPr>
          <a:lstStyle/>
          <a:p>
            <a:pPr algn="l" marL="0" indent="0">
              <a:lnSpc>
                <a:spcPct val="100000"/>
              </a:lnSpc>
              <a:buNone/>
            </a:pPr>
            <a:r>
              <a:rPr sz="800" b="0" lang="en-GB">
                <a:solidFill>
                  <a:srgbClr val="202124"/>
                </a:solidFill>
                <a:latin typeface="Google Sans Flex SemiBold"/>
              </a:rPr>
              <a:t>Cloud Run: kirchhoff-api (public)</a:t>
            </a:r>
          </a:p>
        </p:txBody>
      </p:sp>
      <p:sp>
        <p:nvSpPr>
          <p:cNvPr id="126" name="fastapi"/>
          <p:cNvSpPr/>
          <p:nvPr/>
        </p:nvSpPr>
        <p:spPr>
          <a:xfrm>
            <a:off x="2825496" y="2103120"/>
            <a:ext cx="2770632" cy="310896"/>
          </a:xfrm>
          <a:prstGeom prst="roundRect">
            <a:avLst>
              <a:gd name="adj" fmla="val 14705"/>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50" b="0" lang="en-GB">
                <a:solidFill>
                  <a:srgbClr val="202124"/>
                </a:solidFill>
                <a:latin typeface="Google Sans Flex SemiBold"/>
              </a:rPr>
              <a:t>FastAPI</a:t>
            </a:r>
          </a:p>
          <a:p>
            <a:pPr algn="ctr" marL="0" indent="0">
              <a:lnSpc>
                <a:spcPct val="100000"/>
              </a:lnSpc>
              <a:buNone/>
            </a:pPr>
            <a:r>
              <a:rPr sz="750" b="0" lang="en-GB">
                <a:solidFill>
                  <a:srgbClr val="3C4043"/>
                </a:solidFill>
                <a:latin typeface="Google Sans Flex"/>
              </a:rPr>
              <a:t>ID token + App Check + ownership</a:t>
            </a:r>
          </a:p>
        </p:txBody>
      </p:sp>
      <p:sp>
        <p:nvSpPr>
          <p:cNvPr id="127" name="adk agents"/>
          <p:cNvSpPr/>
          <p:nvPr/>
        </p:nvSpPr>
        <p:spPr>
          <a:xfrm>
            <a:off x="2825496" y="2542032"/>
            <a:ext cx="2770632" cy="548640"/>
          </a:xfrm>
          <a:prstGeom prst="roundRect">
            <a:avLst>
              <a:gd name="adj" fmla="val 8333"/>
            </a:avLst>
          </a:prstGeom>
          <a:solidFill>
            <a:srgbClr val="E8F0FE"/>
          </a:solidFill>
          <a:ln w="9525">
            <a:solidFill>
              <a:srgbClr val="1A73E8"/>
            </a:solidFill>
          </a:ln>
        </p:spPr>
        <p:txBody>
          <a:bodyPr rtlCol="0" anchor="ctr" lIns="54864" rIns="54864" tIns="27432" bIns="27432" wrap="square">
            <a:noAutofit/>
          </a:bodyPr>
          <a:lstStyle/>
          <a:p>
            <a:pPr algn="ctr" marL="0" indent="0">
              <a:lnSpc>
                <a:spcPct val="100000"/>
              </a:lnSpc>
              <a:buNone/>
            </a:pPr>
            <a:r>
              <a:rPr sz="850" b="0" lang="en-GB">
                <a:solidFill>
                  <a:srgbClr val="202124"/>
                </a:solidFill>
                <a:latin typeface="Google Sans Flex SemiBold"/>
              </a:rPr>
              <a:t>ADK 2.x agents (LlmAgent + function tools)</a:t>
            </a:r>
          </a:p>
          <a:p>
            <a:pPr algn="ctr" marL="0" indent="0">
              <a:lnSpc>
                <a:spcPct val="100000"/>
              </a:lnSpc>
              <a:buNone/>
            </a:pPr>
            <a:r>
              <a:rPr sz="750" b="0" lang="en-GB">
                <a:solidFill>
                  <a:srgbClr val="3C4043"/>
                </a:solidFill>
                <a:latin typeface="Google Sans Flex"/>
              </a:rPr>
              <a:t>Intake, Orchestrator, Layout, Power,</a:t>
            </a:r>
          </a:p>
          <a:p>
            <a:pPr algn="ctr" marL="0" indent="0">
              <a:lnSpc>
                <a:spcPct val="100000"/>
              </a:lnSpc>
              <a:buNone/>
            </a:pPr>
            <a:r>
              <a:rPr sz="750" b="0" lang="en-GB">
                <a:solidFill>
                  <a:srgbClr val="3C4043"/>
                </a:solidFill>
                <a:latin typeface="Google Sans Flex"/>
              </a:rPr>
              <a:t>Cooling, Procurement, Docs, Co-pilot, Asset</a:t>
            </a:r>
          </a:p>
        </p:txBody>
      </p:sp>
      <p:sp>
        <p:nvSpPr>
          <p:cNvPr id="128" name="no-LLM zone"/>
          <p:cNvSpPr/>
          <p:nvPr/>
        </p:nvSpPr>
        <p:spPr>
          <a:xfrm>
            <a:off x="2825496" y="3200400"/>
            <a:ext cx="2606040" cy="749808"/>
          </a:xfrm>
          <a:prstGeom prst="roundRect">
            <a:avLst>
              <a:gd name="adj" fmla="val 6097"/>
            </a:avLst>
          </a:prstGeom>
          <a:noFill/>
          <a:ln w="15875">
            <a:solidFill>
              <a:srgbClr val="D93025"/>
            </a:solidFill>
            <a:prstDash val="dash"/>
          </a:ln>
        </p:spPr>
        <p:txBody>
          <a:bodyPr rtlCol="0" anchor="ctr" lIns="0" rIns="0" tIns="0" bIns="0"/>
          <a:lstStyle/>
          <a:p>
            <a:pPr algn="ctr"/>
          </a:p>
        </p:txBody>
      </p:sp>
      <p:sp>
        <p:nvSpPr>
          <p:cNvPr id="129" name="zone label"/>
          <p:cNvSpPr txBox="1"/>
          <p:nvPr/>
        </p:nvSpPr>
        <p:spPr>
          <a:xfrm>
            <a:off x="2898648" y="3227832"/>
            <a:ext cx="2459736" cy="164592"/>
          </a:xfrm>
          <a:prstGeom prst="rect">
            <a:avLst/>
          </a:prstGeom>
          <a:noFill/>
        </p:spPr>
        <p:txBody>
          <a:bodyPr wrap="square" lIns="0" tIns="0" rIns="0" bIns="0" anchor="ctr">
            <a:noAutofit/>
          </a:bodyPr>
          <a:lstStyle/>
          <a:p>
            <a:pPr algn="r" marL="0" indent="0">
              <a:lnSpc>
                <a:spcPct val="100000"/>
              </a:lnSpc>
              <a:buNone/>
            </a:pPr>
            <a:r>
              <a:rPr sz="750" b="0" lang="en-GB">
                <a:solidFill>
                  <a:srgbClr val="D93025"/>
                </a:solidFill>
                <a:latin typeface="Google Sans Flex SemiBold"/>
              </a:rPr>
              <a:t>No LLM in the verdict path</a:t>
            </a:r>
          </a:p>
        </p:txBody>
      </p:sp>
      <p:sp>
        <p:nvSpPr>
          <p:cNvPr id="130" name="engine"/>
          <p:cNvSpPr/>
          <p:nvPr/>
        </p:nvSpPr>
        <p:spPr>
          <a:xfrm>
            <a:off x="2916936" y="3429000"/>
            <a:ext cx="1074420" cy="438912"/>
          </a:xfrm>
          <a:prstGeom prst="roundRect">
            <a:avLst>
              <a:gd name="adj" fmla="val 10416"/>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50" b="0" lang="en-GB">
                <a:solidFill>
                  <a:srgbClr val="202124"/>
                </a:solidFill>
                <a:latin typeface="Google Sans Flex SemiBold"/>
              </a:rPr>
              <a:t>kirchhoff_engine</a:t>
            </a:r>
          </a:p>
          <a:p>
            <a:pPr algn="ctr" marL="0" indent="0">
              <a:lnSpc>
                <a:spcPct val="100000"/>
              </a:lnSpc>
              <a:buNone/>
            </a:pPr>
            <a:r>
              <a:rPr sz="750" b="0" lang="en-GB">
                <a:solidFill>
                  <a:srgbClr val="3C4043"/>
                </a:solidFill>
                <a:latin typeface="Google Sans Flex"/>
              </a:rPr>
              <a:t>pandapower,</a:t>
            </a:r>
          </a:p>
          <a:p>
            <a:pPr algn="ctr" marL="0" indent="0">
              <a:lnSpc>
                <a:spcPct val="100000"/>
              </a:lnSpc>
              <a:buNone/>
            </a:pPr>
            <a:r>
              <a:rPr sz="750" b="0" lang="en-GB">
                <a:solidFill>
                  <a:srgbClr val="3C4043"/>
                </a:solidFill>
                <a:latin typeface="Google Sans Flex"/>
              </a:rPr>
              <a:t>shapely, ezdxf</a:t>
            </a:r>
          </a:p>
        </p:txBody>
      </p:sp>
      <p:sp>
        <p:nvSpPr>
          <p:cNvPr id="131" name="checker"/>
          <p:cNvSpPr/>
          <p:nvPr/>
        </p:nvSpPr>
        <p:spPr>
          <a:xfrm>
            <a:off x="4265676" y="3429000"/>
            <a:ext cx="1074420" cy="438912"/>
          </a:xfrm>
          <a:prstGeom prst="roundRect">
            <a:avLst>
              <a:gd name="adj" fmla="val 10416"/>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50" b="0" lang="en-GB">
                <a:solidFill>
                  <a:srgbClr val="202124"/>
                </a:solidFill>
                <a:latin typeface="Google Sans Flex SemiBold"/>
              </a:rPr>
              <a:t>Checker</a:t>
            </a:r>
          </a:p>
          <a:p>
            <a:pPr algn="ctr" marL="0" indent="0">
              <a:lnSpc>
                <a:spcPct val="100000"/>
              </a:lnSpc>
              <a:buNone/>
            </a:pPr>
            <a:r>
              <a:rPr sz="750" b="0" lang="en-GB">
                <a:solidFill>
                  <a:srgbClr val="3C4043"/>
                </a:solidFill>
                <a:latin typeface="Google Sans Flex"/>
              </a:rPr>
              <a:t>rule pack</a:t>
            </a:r>
          </a:p>
          <a:p>
            <a:pPr algn="ctr" marL="0" indent="0">
              <a:lnSpc>
                <a:spcPct val="100000"/>
              </a:lnSpc>
              <a:buNone/>
            </a:pPr>
            <a:r>
              <a:rPr sz="750" b="0" lang="en-GB">
                <a:solidFill>
                  <a:srgbClr val="3C4043"/>
                </a:solidFill>
                <a:latin typeface="Google Sans Flex"/>
              </a:rPr>
              <a:t>R01–R15 + R04b</a:t>
            </a:r>
          </a:p>
        </p:txBody>
      </p:sp>
      <p:cxnSp>
        <p:nvCxnSpPr>
          <p:cNvPr id="132" name="api to adk"/>
          <p:cNvCxnSpPr>
            <a:stCxn id="126" idx="2"/>
            <a:endCxn id="127" idx="0"/>
          </p:cNvCxnSpPr>
          <p:nvPr/>
        </p:nvCxnSpPr>
        <p:spPr>
          <a:xfrm flipH="1">
            <a:off x="4210812" y="2414016"/>
            <a:ext cx="0" cy="128016"/>
          </a:xfrm>
          <a:prstGeom prst="line">
            <a:avLst/>
          </a:prstGeom>
          <a:ln w="12700">
            <a:solidFill>
              <a:srgbClr val="5F6368"/>
            </a:solidFill>
            <a:tailEnd type="triangle" w="med" len="med"/>
          </a:ln>
        </p:spPr>
      </p:cxnSp>
      <p:cxnSp>
        <p:nvCxnSpPr>
          <p:cNvPr id="133" name="adk to engine"/>
          <p:cNvCxnSpPr/>
          <p:nvPr/>
        </p:nvCxnSpPr>
        <p:spPr>
          <a:xfrm>
            <a:off x="3454146" y="3090672"/>
            <a:ext cx="0" cy="338328"/>
          </a:xfrm>
          <a:prstGeom prst="line">
            <a:avLst/>
          </a:prstGeom>
          <a:ln w="12700">
            <a:solidFill>
              <a:srgbClr val="5F6368"/>
            </a:solidFill>
            <a:tailEnd type="triangle" w="med" len="med"/>
          </a:ln>
        </p:spPr>
      </p:cxnSp>
      <p:cxnSp>
        <p:nvCxnSpPr>
          <p:cNvPr id="134" name="engine to checker"/>
          <p:cNvCxnSpPr>
            <a:stCxn id="130" idx="3"/>
            <a:endCxn id="131" idx="1"/>
          </p:cNvCxnSpPr>
          <p:nvPr/>
        </p:nvCxnSpPr>
        <p:spPr>
          <a:xfrm flipV="1">
            <a:off x="3991356" y="3648456"/>
            <a:ext cx="274320" cy="0"/>
          </a:xfrm>
          <a:prstGeom prst="line">
            <a:avLst/>
          </a:prstGeom>
          <a:ln w="12700">
            <a:solidFill>
              <a:srgbClr val="5F6368"/>
            </a:solidFill>
            <a:tailEnd type="triangle" w="med" len="med"/>
          </a:ln>
        </p:spPr>
      </p:cxnSp>
      <p:sp>
        <p:nvSpPr>
          <p:cNvPr id="135" name="firestore"/>
          <p:cNvSpPr/>
          <p:nvPr/>
        </p:nvSpPr>
        <p:spPr>
          <a:xfrm>
            <a:off x="2715768" y="4334256"/>
            <a:ext cx="1298448" cy="484632"/>
          </a:xfrm>
          <a:prstGeom prst="can">
            <a:avLst/>
          </a:prstGeom>
          <a:solidFill>
            <a:srgbClr val="FFFFFF"/>
          </a:solidFill>
          <a:ln w="9525">
            <a:solidFill>
              <a:srgbClr val="3C4043"/>
            </a:solidFill>
          </a:ln>
        </p:spPr>
        <p:txBody>
          <a:bodyPr rtlCol="0" anchor="ctr" lIns="27432" rIns="27432" tIns="109728" bIns="18288" wrap="square">
            <a:noAutofit/>
          </a:bodyPr>
          <a:lstStyle/>
          <a:p>
            <a:pPr algn="ctr" marL="0" indent="0">
              <a:lnSpc>
                <a:spcPct val="100000"/>
              </a:lnSpc>
              <a:buNone/>
            </a:pPr>
            <a:r>
              <a:rPr sz="800" b="0" lang="en-GB">
                <a:solidFill>
                  <a:srgbClr val="202124"/>
                </a:solidFill>
                <a:latin typeface="Google Sans Flex SemiBold"/>
              </a:rPr>
              <a:t>Firestore</a:t>
            </a:r>
          </a:p>
        </p:txBody>
      </p:sp>
      <p:sp>
        <p:nvSpPr>
          <p:cNvPr id="136" name="kirchhoff-enterprise"/>
          <p:cNvSpPr/>
          <p:nvPr/>
        </p:nvSpPr>
        <p:spPr>
          <a:xfrm>
            <a:off x="4343400" y="4334256"/>
            <a:ext cx="1362456" cy="484632"/>
          </a:xfrm>
          <a:prstGeom prst="roundRect">
            <a:avLst>
              <a:gd name="adj" fmla="val 9433"/>
            </a:avLst>
          </a:prstGeom>
          <a:solidFill>
            <a:srgbClr val="F3E8FD"/>
          </a:solidFill>
          <a:ln w="9525">
            <a:solidFill>
              <a:srgbClr val="9334E6"/>
            </a:solidFill>
          </a:ln>
        </p:spPr>
        <p:txBody>
          <a:bodyPr rtlCol="0" anchor="ctr" lIns="54864" rIns="54864" tIns="27432" bIns="27432" wrap="square">
            <a:noAutofit/>
          </a:bodyPr>
          <a:lstStyle/>
          <a:p>
            <a:pPr algn="ctr" marL="0" indent="0">
              <a:lnSpc>
                <a:spcPct val="100000"/>
              </a:lnSpc>
              <a:buNone/>
            </a:pPr>
            <a:r>
              <a:rPr sz="700" b="0" lang="en-GB">
                <a:solidFill>
                  <a:srgbClr val="202124"/>
                </a:solidFill>
                <a:latin typeface="Google Sans Flex SemiBold"/>
              </a:rPr>
              <a:t>Cloud Run:</a:t>
            </a:r>
          </a:p>
          <a:p>
            <a:pPr algn="ctr" marL="0" indent="0">
              <a:lnSpc>
                <a:spcPct val="100000"/>
              </a:lnSpc>
              <a:buNone/>
            </a:pPr>
            <a:r>
              <a:rPr sz="700" b="0" lang="en-GB">
                <a:solidFill>
                  <a:srgbClr val="202124"/>
                </a:solidFill>
                <a:latin typeface="Google Sans Flex SemiBold"/>
              </a:rPr>
              <a:t>kirchhoff-enterprise</a:t>
            </a:r>
          </a:p>
          <a:p>
            <a:pPr algn="ctr" marL="0" indent="0">
              <a:lnSpc>
                <a:spcPct val="100000"/>
              </a:lnSpc>
              <a:buNone/>
            </a:pPr>
            <a:r>
              <a:rPr sz="700" b="0" lang="en-GB">
                <a:solidFill>
                  <a:srgbClr val="202124"/>
                </a:solidFill>
                <a:latin typeface="Google Sans Flex SemiBold"/>
              </a:rPr>
              <a:t>(private)</a:t>
            </a:r>
          </a:p>
          <a:p>
            <a:pPr algn="ctr" marL="0" indent="0">
              <a:lnSpc>
                <a:spcPct val="100000"/>
              </a:lnSpc>
              <a:buNone/>
            </a:pPr>
            <a:r>
              <a:rPr sz="650" b="0" lang="en-GB">
                <a:solidFill>
                  <a:srgbClr val="3C4043"/>
                </a:solidFill>
                <a:latin typeface="Google Sans Flex"/>
              </a:rPr>
              <a:t>ERP + CRM sandbox</a:t>
            </a:r>
          </a:p>
        </p:txBody>
      </p:sp>
      <p:cxnSp>
        <p:nvCxnSpPr>
          <p:cNvPr id="137" name="api to firestore"/>
          <p:cNvCxnSpPr/>
          <p:nvPr/>
        </p:nvCxnSpPr>
        <p:spPr>
          <a:xfrm>
            <a:off x="3364992" y="4041648"/>
            <a:ext cx="0" cy="347472"/>
          </a:xfrm>
          <a:prstGeom prst="line">
            <a:avLst/>
          </a:prstGeom>
          <a:ln w="12700">
            <a:solidFill>
              <a:srgbClr val="5F6368"/>
            </a:solidFill>
            <a:tailEnd type="triangle" w="med" len="med"/>
          </a:ln>
        </p:spPr>
      </p:cxnSp>
      <p:sp>
        <p:nvSpPr>
          <p:cNvPr id="138" name="edge label"/>
          <p:cNvSpPr txBox="1"/>
          <p:nvPr/>
        </p:nvSpPr>
        <p:spPr>
          <a:xfrm>
            <a:off x="3429000" y="4059936"/>
            <a:ext cx="1005840" cy="256032"/>
          </a:xfrm>
          <a:prstGeom prst="rect">
            <a:avLst/>
          </a:prstGeom>
          <a:noFill/>
        </p:spPr>
        <p:txBody>
          <a:bodyPr wrap="square" lIns="0" tIns="0" rIns="0" bIns="0" anchor="ctr">
            <a:noAutofit/>
          </a:bodyPr>
          <a:lstStyle/>
          <a:p>
            <a:pPr algn="l" marL="0" indent="0">
              <a:lnSpc>
                <a:spcPct val="100000"/>
              </a:lnSpc>
              <a:buNone/>
            </a:pPr>
            <a:r>
              <a:rPr sz="700" b="0" lang="en-GB">
                <a:solidFill>
                  <a:srgbClr val="5F6368"/>
                </a:solidFill>
                <a:latin typeface="Google Sans Flex"/>
              </a:rPr>
              <a:t>runs, leases, events</a:t>
            </a:r>
          </a:p>
        </p:txBody>
      </p:sp>
      <p:cxnSp>
        <p:nvCxnSpPr>
          <p:cNvPr id="139" name="api to enterprise"/>
          <p:cNvCxnSpPr/>
          <p:nvPr/>
        </p:nvCxnSpPr>
        <p:spPr>
          <a:xfrm>
            <a:off x="5024628" y="4041648"/>
            <a:ext cx="0" cy="292608"/>
          </a:xfrm>
          <a:prstGeom prst="line">
            <a:avLst/>
          </a:prstGeom>
          <a:ln w="12700">
            <a:solidFill>
              <a:srgbClr val="5F6368"/>
            </a:solidFill>
            <a:tailEnd type="triangle" w="med" len="med"/>
          </a:ln>
        </p:spPr>
      </p:cxnSp>
      <p:sp>
        <p:nvSpPr>
          <p:cNvPr id="140" name="edge label"/>
          <p:cNvSpPr txBox="1"/>
          <p:nvPr/>
        </p:nvSpPr>
        <p:spPr>
          <a:xfrm>
            <a:off x="5088636" y="4059936"/>
            <a:ext cx="868680" cy="256032"/>
          </a:xfrm>
          <a:prstGeom prst="rect">
            <a:avLst/>
          </a:prstGeom>
          <a:noFill/>
        </p:spPr>
        <p:txBody>
          <a:bodyPr wrap="square" lIns="0" tIns="0" rIns="0" bIns="0" anchor="ctr">
            <a:noAutofit/>
          </a:bodyPr>
          <a:lstStyle/>
          <a:p>
            <a:pPr algn="l" marL="0" indent="0">
              <a:lnSpc>
                <a:spcPct val="100000"/>
              </a:lnSpc>
              <a:buNone/>
            </a:pPr>
            <a:r>
              <a:rPr sz="700" b="0" lang="en-GB">
                <a:solidFill>
                  <a:srgbClr val="5F6368"/>
                </a:solidFill>
                <a:latin typeface="Google Sans Flex"/>
              </a:rPr>
              <a:t>Google ID token</a:t>
            </a:r>
          </a:p>
        </p:txBody>
      </p:sp>
      <p:cxnSp>
        <p:nvCxnSpPr>
          <p:cNvPr id="141" name="enterprise to firestore"/>
          <p:cNvCxnSpPr/>
          <p:nvPr/>
        </p:nvCxnSpPr>
        <p:spPr>
          <a:xfrm flipH="1">
            <a:off x="4014216" y="4791456"/>
            <a:ext cx="329184" cy="0"/>
          </a:xfrm>
          <a:prstGeom prst="line">
            <a:avLst/>
          </a:prstGeom>
          <a:ln w="12700">
            <a:solidFill>
              <a:srgbClr val="5F6368"/>
            </a:solidFill>
            <a:tailEnd type="triangle" w="med" len="med"/>
          </a:ln>
        </p:spPr>
      </p:cxnSp>
      <p:cxnSp>
        <p:nvCxnSpPr>
          <p:cNvPr id="142" name="ui to api"/>
          <p:cNvCxnSpPr/>
          <p:nvPr/>
        </p:nvCxnSpPr>
        <p:spPr>
          <a:xfrm>
            <a:off x="1984248" y="2258568"/>
            <a:ext cx="841248" cy="0"/>
          </a:xfrm>
          <a:prstGeom prst="line">
            <a:avLst/>
          </a:prstGeom>
          <a:ln w="12700">
            <a:solidFill>
              <a:srgbClr val="5F6368"/>
            </a:solidFill>
            <a:tailEnd type="triangle" w="med" len="med"/>
          </a:ln>
        </p:spPr>
      </p:cxnSp>
      <p:sp>
        <p:nvSpPr>
          <p:cNvPr id="143" name="edge label"/>
          <p:cNvSpPr txBox="1"/>
          <p:nvPr/>
        </p:nvSpPr>
        <p:spPr>
          <a:xfrm>
            <a:off x="2011680" y="2075688"/>
            <a:ext cx="676656" cy="146304"/>
          </a:xfrm>
          <a:prstGeom prst="rect">
            <a:avLst/>
          </a:prstGeom>
          <a:noFill/>
        </p:spPr>
        <p:txBody>
          <a:bodyPr wrap="square" lIns="0" tIns="0" rIns="0" bIns="0" anchor="ctr">
            <a:noAutofit/>
          </a:bodyPr>
          <a:lstStyle/>
          <a:p>
            <a:pPr algn="ctr" marL="0" indent="0">
              <a:lnSpc>
                <a:spcPct val="100000"/>
              </a:lnSpc>
              <a:buNone/>
            </a:pPr>
            <a:r>
              <a:rPr sz="700" b="0" lang="en-GB">
                <a:solidFill>
                  <a:srgbClr val="5F6368"/>
                </a:solidFill>
                <a:latin typeface="Google Sans Flex"/>
              </a:rPr>
              <a:t>/api rewrite</a:t>
            </a:r>
          </a:p>
        </p:txBody>
      </p:sp>
      <p:cxnSp>
        <p:nvCxnSpPr>
          <p:cNvPr id="144" name="firestore to ui"/>
          <p:cNvCxnSpPr/>
          <p:nvPr/>
        </p:nvCxnSpPr>
        <p:spPr>
          <a:xfrm flipH="1" flipV="1">
            <a:off x="1984248" y="2633472"/>
            <a:ext cx="731520" cy="2029968"/>
          </a:xfrm>
          <a:prstGeom prst="bentConnector3">
            <a:avLst/>
          </a:prstGeom>
          <a:ln w="12700">
            <a:solidFill>
              <a:srgbClr val="5F6368"/>
            </a:solidFill>
            <a:tailEnd type="triangle" w="med" len="med"/>
          </a:ln>
        </p:spPr>
      </p:cxnSp>
      <p:sp>
        <p:nvSpPr>
          <p:cNvPr id="145" name="edge label"/>
          <p:cNvSpPr txBox="1"/>
          <p:nvPr/>
        </p:nvSpPr>
        <p:spPr>
          <a:xfrm>
            <a:off x="2011680" y="3200400"/>
            <a:ext cx="676656" cy="274320"/>
          </a:xfrm>
          <a:prstGeom prst="rect">
            <a:avLst/>
          </a:prstGeom>
          <a:solidFill>
            <a:srgbClr val="FFFFFF"/>
          </a:solidFill>
        </p:spPr>
        <p:txBody>
          <a:bodyPr wrap="square" lIns="0" tIns="0" rIns="0" bIns="0" anchor="ctr">
            <a:noAutofit/>
          </a:bodyPr>
          <a:lstStyle/>
          <a:p>
            <a:pPr algn="ctr" marL="0" indent="0">
              <a:lnSpc>
                <a:spcPct val="100000"/>
              </a:lnSpc>
              <a:buNone/>
            </a:pPr>
            <a:r>
              <a:rPr sz="700" b="0" lang="en-GB">
                <a:solidFill>
                  <a:srgbClr val="5F6368"/>
                </a:solidFill>
                <a:latin typeface="Google Sans Flex"/>
              </a:rPr>
              <a:t>onSnapshot,</a:t>
            </a:r>
          </a:p>
          <a:p>
            <a:pPr algn="ctr" marL="0" indent="0">
              <a:lnSpc>
                <a:spcPct val="100000"/>
              </a:lnSpc>
              <a:buNone/>
            </a:pPr>
            <a:r>
              <a:rPr sz="700" b="0" lang="en-GB">
                <a:solidFill>
                  <a:srgbClr val="5F6368"/>
                </a:solidFill>
                <a:latin typeface="Google Sans Flex"/>
              </a:rPr>
              <a:t>read-only</a:t>
            </a:r>
          </a:p>
        </p:txBody>
      </p:sp>
      <p:sp>
        <p:nvSpPr>
          <p:cNvPr id="146" name="cloud storage"/>
          <p:cNvSpPr/>
          <p:nvPr/>
        </p:nvSpPr>
        <p:spPr>
          <a:xfrm>
            <a:off x="6739128" y="2048256"/>
            <a:ext cx="1865376" cy="420624"/>
          </a:xfrm>
          <a:prstGeom prst="can">
            <a:avLst/>
          </a:prstGeom>
          <a:solidFill>
            <a:srgbClr val="FFFFFF"/>
          </a:solidFill>
          <a:ln w="9525">
            <a:solidFill>
              <a:srgbClr val="3C4043"/>
            </a:solidFill>
          </a:ln>
        </p:spPr>
        <p:txBody>
          <a:bodyPr rtlCol="0" anchor="ctr" lIns="27432" rIns="27432" tIns="91440" bIns="18288" wrap="square">
            <a:noAutofit/>
          </a:bodyPr>
          <a:lstStyle/>
          <a:p>
            <a:pPr algn="ctr" marL="0" indent="0">
              <a:lnSpc>
                <a:spcPct val="100000"/>
              </a:lnSpc>
              <a:buNone/>
            </a:pPr>
            <a:r>
              <a:rPr sz="800" b="0" lang="en-GB">
                <a:solidFill>
                  <a:srgbClr val="202124"/>
                </a:solidFill>
                <a:latin typeface="Google Sans Flex SemiBold"/>
              </a:rPr>
              <a:t>Cloud Storage</a:t>
            </a:r>
          </a:p>
        </p:txBody>
      </p:sp>
      <p:cxnSp>
        <p:nvCxnSpPr>
          <p:cNvPr id="147" name="api to storage"/>
          <p:cNvCxnSpPr/>
          <p:nvPr/>
        </p:nvCxnSpPr>
        <p:spPr>
          <a:xfrm>
            <a:off x="5596128" y="2258568"/>
            <a:ext cx="1143000" cy="0"/>
          </a:xfrm>
          <a:prstGeom prst="line">
            <a:avLst/>
          </a:prstGeom>
          <a:ln w="12700">
            <a:solidFill>
              <a:srgbClr val="5F6368"/>
            </a:solidFill>
            <a:tailEnd type="triangle" w="med" len="med"/>
          </a:ln>
        </p:spPr>
      </p:cxnSp>
      <p:sp>
        <p:nvSpPr>
          <p:cNvPr id="148" name="edge label"/>
          <p:cNvSpPr txBox="1"/>
          <p:nvPr/>
        </p:nvSpPr>
        <p:spPr>
          <a:xfrm>
            <a:off x="5724144" y="2075688"/>
            <a:ext cx="996696" cy="146304"/>
          </a:xfrm>
          <a:prstGeom prst="rect">
            <a:avLst/>
          </a:prstGeom>
          <a:noFill/>
        </p:spPr>
        <p:txBody>
          <a:bodyPr wrap="square" lIns="0" tIns="0" rIns="0" bIns="0" anchor="ctr">
            <a:noAutofit/>
          </a:bodyPr>
          <a:lstStyle/>
          <a:p>
            <a:pPr algn="ctr" marL="0" indent="0">
              <a:lnSpc>
                <a:spcPct val="100000"/>
              </a:lnSpc>
              <a:buNone/>
            </a:pPr>
            <a:r>
              <a:rPr sz="700" b="0" lang="en-GB">
                <a:solidFill>
                  <a:srgbClr val="5F6368"/>
                </a:solidFill>
                <a:latin typeface="Google Sans Flex"/>
              </a:rPr>
              <a:t>signed URLs</a:t>
            </a:r>
          </a:p>
        </p:txBody>
      </p:sp>
      <p:sp>
        <p:nvSpPr>
          <p:cNvPr id="149" name="gemini"/>
          <p:cNvSpPr/>
          <p:nvPr/>
        </p:nvSpPr>
        <p:spPr>
          <a:xfrm>
            <a:off x="6556248" y="2542032"/>
            <a:ext cx="2231136" cy="548640"/>
          </a:xfrm>
          <a:prstGeom prst="roundRect">
            <a:avLst>
              <a:gd name="adj" fmla="val 8333"/>
            </a:avLst>
          </a:prstGeom>
          <a:solidFill>
            <a:srgbClr val="E8F0FE"/>
          </a:solidFill>
          <a:ln w="9525">
            <a:solidFill>
              <a:srgbClr val="1A73E8"/>
            </a:solidFill>
          </a:ln>
        </p:spPr>
        <p:txBody>
          <a:bodyPr rtlCol="0" anchor="ctr" lIns="54864" rIns="54864" tIns="27432" bIns="27432" wrap="square">
            <a:noAutofit/>
          </a:bodyPr>
          <a:lstStyle/>
          <a:p>
            <a:pPr algn="ctr" marL="0" indent="0">
              <a:lnSpc>
                <a:spcPct val="100000"/>
              </a:lnSpc>
              <a:buNone/>
            </a:pPr>
            <a:r>
              <a:rPr sz="850" b="0" lang="en-GB">
                <a:solidFill>
                  <a:srgbClr val="202124"/>
                </a:solidFill>
                <a:latin typeface="Google Sans Flex SemiBold"/>
              </a:rPr>
              <a:t>Gemini 3.8 Flash</a:t>
            </a:r>
          </a:p>
          <a:p>
            <a:pPr algn="ctr" marL="0" indent="0">
              <a:lnSpc>
                <a:spcPct val="100000"/>
              </a:lnSpc>
              <a:buNone/>
            </a:pPr>
            <a:r>
              <a:rPr sz="750" b="0" lang="en-GB">
                <a:solidFill>
                  <a:srgbClr val="3C4043"/>
                </a:solidFill>
                <a:latin typeface="Google Sans Flex"/>
              </a:rPr>
              <a:t>on Vertex AI (global)</a:t>
            </a:r>
          </a:p>
        </p:txBody>
      </p:sp>
      <p:cxnSp>
        <p:nvCxnSpPr>
          <p:cNvPr id="150" name="adk to gemini"/>
          <p:cNvCxnSpPr/>
          <p:nvPr/>
        </p:nvCxnSpPr>
        <p:spPr>
          <a:xfrm>
            <a:off x="5596128" y="2816352"/>
            <a:ext cx="960120" cy="0"/>
          </a:xfrm>
          <a:prstGeom prst="line">
            <a:avLst/>
          </a:prstGeom>
          <a:ln w="12700">
            <a:solidFill>
              <a:srgbClr val="5F6368"/>
            </a:solidFill>
            <a:tailEnd type="triangle" w="med" len="med"/>
          </a:ln>
        </p:spPr>
      </p:cxnSp>
      <p:sp>
        <p:nvSpPr>
          <p:cNvPr id="151" name="edge label"/>
          <p:cNvSpPr txBox="1"/>
          <p:nvPr/>
        </p:nvSpPr>
        <p:spPr>
          <a:xfrm>
            <a:off x="5724144" y="2487168"/>
            <a:ext cx="813816" cy="301752"/>
          </a:xfrm>
          <a:prstGeom prst="rect">
            <a:avLst/>
          </a:prstGeom>
          <a:noFill/>
        </p:spPr>
        <p:txBody>
          <a:bodyPr wrap="square" lIns="0" tIns="0" rIns="0" bIns="0" anchor="ctr">
            <a:noAutofit/>
          </a:bodyPr>
          <a:lstStyle/>
          <a:p>
            <a:pPr algn="ctr" marL="0" indent="0">
              <a:lnSpc>
                <a:spcPct val="100000"/>
              </a:lnSpc>
              <a:buNone/>
            </a:pPr>
            <a:r>
              <a:rPr sz="700" b="0" lang="en-GB">
                <a:solidFill>
                  <a:srgbClr val="5F6368"/>
                </a:solidFill>
                <a:latin typeface="Google Sans Flex"/>
              </a:rPr>
              <a:t>structured output,</a:t>
            </a:r>
          </a:p>
          <a:p>
            <a:pPr algn="ctr" marL="0" indent="0">
              <a:lnSpc>
                <a:spcPct val="100000"/>
              </a:lnSpc>
              <a:buNone/>
            </a:pPr>
            <a:r>
              <a:rPr sz="700" b="0" lang="en-GB">
                <a:solidFill>
                  <a:srgbClr val="5F6368"/>
                </a:solidFill>
                <a:latin typeface="Google Sans Flex"/>
              </a:rPr>
              <a:t>function calls</a:t>
            </a:r>
          </a:p>
        </p:txBody>
      </p:sp>
      <p:sp>
        <p:nvSpPr>
          <p:cNvPr id="152" name="cloud build"/>
          <p:cNvSpPr/>
          <p:nvPr/>
        </p:nvSpPr>
        <p:spPr>
          <a:xfrm>
            <a:off x="6556248" y="3310128"/>
            <a:ext cx="2231136" cy="384048"/>
          </a:xfrm>
          <a:prstGeom prst="roundRect">
            <a:avLst>
              <a:gd name="adj" fmla="val 11904"/>
            </a:avLst>
          </a:prstGeom>
          <a:solidFill>
            <a:srgbClr val="FFFFFF"/>
          </a:solidFill>
          <a:ln w="9525">
            <a:solidFill>
              <a:srgbClr val="DADCE0"/>
            </a:solidFill>
          </a:ln>
        </p:spPr>
        <p:txBody>
          <a:bodyPr rtlCol="0" anchor="ctr" lIns="54864" rIns="54864" tIns="27432" bIns="27432" wrap="square">
            <a:noAutofit/>
          </a:bodyPr>
          <a:lstStyle/>
          <a:p>
            <a:pPr algn="ctr" marL="0" indent="0">
              <a:lnSpc>
                <a:spcPct val="100000"/>
              </a:lnSpc>
              <a:buNone/>
            </a:pPr>
            <a:r>
              <a:rPr sz="850" b="0" lang="en-GB">
                <a:solidFill>
                  <a:srgbClr val="202124"/>
                </a:solidFill>
                <a:latin typeface="Google Sans Flex SemiBold"/>
              </a:rPr>
              <a:t>Cloud Build</a:t>
            </a:r>
          </a:p>
          <a:p>
            <a:pPr algn="ctr" marL="0" indent="0">
              <a:lnSpc>
                <a:spcPct val="100000"/>
              </a:lnSpc>
              <a:buNone/>
            </a:pPr>
            <a:r>
              <a:rPr sz="750" b="0" lang="en-GB">
                <a:solidFill>
                  <a:srgbClr val="3C4043"/>
                </a:solidFill>
                <a:latin typeface="Google Sans Flex"/>
              </a:rPr>
              <a:t>one image</a:t>
            </a:r>
          </a:p>
        </p:txBody>
      </p:sp>
      <p:cxnSp>
        <p:nvCxnSpPr>
          <p:cNvPr id="153" name="build to api"/>
          <p:cNvCxnSpPr/>
          <p:nvPr/>
        </p:nvCxnSpPr>
        <p:spPr>
          <a:xfrm flipH="1">
            <a:off x="5705856" y="3502152"/>
            <a:ext cx="850392" cy="0"/>
          </a:xfrm>
          <a:prstGeom prst="line">
            <a:avLst/>
          </a:prstGeom>
          <a:ln w="12700">
            <a:solidFill>
              <a:srgbClr val="5F6368"/>
            </a:solidFill>
            <a:prstDash val="dash"/>
            <a:tailEnd type="triangle" w="med" len="med"/>
          </a:ln>
        </p:spPr>
      </p:cxnSp>
      <p:cxnSp>
        <p:nvCxnSpPr>
          <p:cNvPr id="154" name="build to enterprise"/>
          <p:cNvCxnSpPr/>
          <p:nvPr/>
        </p:nvCxnSpPr>
        <p:spPr>
          <a:xfrm flipH="1">
            <a:off x="5705856" y="3502152"/>
            <a:ext cx="850392" cy="1051560"/>
          </a:xfrm>
          <a:prstGeom prst="bentConnector3">
            <a:avLst/>
          </a:prstGeom>
          <a:ln w="12700">
            <a:solidFill>
              <a:srgbClr val="5F6368"/>
            </a:solidFill>
            <a:prstDash val="dash"/>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kicker"/>
          <p:cNvSpPr txBox="1"/>
          <p:nvPr/>
        </p:nvSpPr>
        <p:spPr>
          <a:xfrm>
            <a:off x="356616" y="1344168"/>
            <a:ext cx="1463040" cy="182880"/>
          </a:xfrm>
          <a:prstGeom prst="rect">
            <a:avLst/>
          </a:prstGeom>
          <a:noFill/>
        </p:spPr>
        <p:txBody>
          <a:bodyPr wrap="square" lIns="0" tIns="0" rIns="0" bIns="0" anchor="t">
            <a:noAutofit/>
          </a:bodyPr>
          <a:lstStyle/>
          <a:p>
            <a:pPr algn="l" marL="0" indent="0">
              <a:lnSpc>
                <a:spcPct val="100000"/>
              </a:lnSpc>
              <a:buNone/>
            </a:pPr>
            <a:r>
              <a:rPr sz="800" b="0" lang="en-GB" spc="80">
                <a:solidFill>
                  <a:srgbClr val="3C4043"/>
                </a:solidFill>
                <a:latin typeface="Roboto Mono"/>
              </a:rPr>
              <a:t>AI</a:t>
            </a:r>
          </a:p>
        </p:txBody>
      </p:sp>
      <p:sp>
        <p:nvSpPr>
          <p:cNvPr id="121" name="tech chip"/>
          <p:cNvSpPr/>
          <p:nvPr/>
        </p:nvSpPr>
        <p:spPr>
          <a:xfrm>
            <a:off x="1956816" y="1243584"/>
            <a:ext cx="2204063"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Gemini 3.8 Flash on Vertex AI</a:t>
            </a:r>
          </a:p>
        </p:txBody>
      </p:sp>
      <p:sp>
        <p:nvSpPr>
          <p:cNvPr id="122" name="tech chip"/>
          <p:cNvSpPr/>
          <p:nvPr/>
        </p:nvSpPr>
        <p:spPr>
          <a:xfrm>
            <a:off x="4288895" y="1243584"/>
            <a:ext cx="1088139"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Gemini Live</a:t>
            </a:r>
          </a:p>
        </p:txBody>
      </p:sp>
      <p:sp>
        <p:nvSpPr>
          <p:cNvPr id="123" name="tech chip"/>
          <p:cNvSpPr/>
          <p:nvPr/>
        </p:nvSpPr>
        <p:spPr>
          <a:xfrm>
            <a:off x="5505050" y="1243584"/>
            <a:ext cx="1335164"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Google ADK 2.x</a:t>
            </a:r>
          </a:p>
        </p:txBody>
      </p:sp>
      <p:cxnSp>
        <p:nvCxnSpPr>
          <p:cNvPr id="124" name="rule"/>
          <p:cNvCxnSpPr/>
          <p:nvPr/>
        </p:nvCxnSpPr>
        <p:spPr>
          <a:xfrm>
            <a:off x="356616" y="1801368"/>
            <a:ext cx="8430768" cy="0"/>
          </a:xfrm>
          <a:prstGeom prst="line">
            <a:avLst/>
          </a:prstGeom>
          <a:ln w="9525">
            <a:solidFill>
              <a:srgbClr val="E8EAED"/>
            </a:solidFill>
          </a:ln>
        </p:spPr>
      </p:cxnSp>
      <p:sp>
        <p:nvSpPr>
          <p:cNvPr id="125" name="kicker"/>
          <p:cNvSpPr txBox="1"/>
          <p:nvPr/>
        </p:nvSpPr>
        <p:spPr>
          <a:xfrm>
            <a:off x="356616" y="2075688"/>
            <a:ext cx="1463040" cy="182880"/>
          </a:xfrm>
          <a:prstGeom prst="rect">
            <a:avLst/>
          </a:prstGeom>
          <a:noFill/>
        </p:spPr>
        <p:txBody>
          <a:bodyPr wrap="square" lIns="0" tIns="0" rIns="0" bIns="0" anchor="t">
            <a:noAutofit/>
          </a:bodyPr>
          <a:lstStyle/>
          <a:p>
            <a:pPr algn="l" marL="0" indent="0">
              <a:lnSpc>
                <a:spcPct val="100000"/>
              </a:lnSpc>
              <a:buNone/>
            </a:pPr>
            <a:r>
              <a:rPr sz="800" b="0" lang="en-GB" spc="80">
                <a:solidFill>
                  <a:srgbClr val="3C4043"/>
                </a:solidFill>
                <a:latin typeface="Roboto Mono"/>
              </a:rPr>
              <a:t>GOOGLE CLOUD</a:t>
            </a:r>
          </a:p>
        </p:txBody>
      </p:sp>
      <p:sp>
        <p:nvSpPr>
          <p:cNvPr id="126" name="tech chip"/>
          <p:cNvSpPr/>
          <p:nvPr/>
        </p:nvSpPr>
        <p:spPr>
          <a:xfrm>
            <a:off x="1956816" y="1975104"/>
            <a:ext cx="994086"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Cloud Run</a:t>
            </a:r>
          </a:p>
        </p:txBody>
      </p:sp>
      <p:sp>
        <p:nvSpPr>
          <p:cNvPr id="127" name="tech chip"/>
          <p:cNvSpPr/>
          <p:nvPr/>
        </p:nvSpPr>
        <p:spPr>
          <a:xfrm>
            <a:off x="3078918" y="1975104"/>
            <a:ext cx="914806"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Firestore</a:t>
            </a:r>
          </a:p>
        </p:txBody>
      </p:sp>
      <p:sp>
        <p:nvSpPr>
          <p:cNvPr id="128" name="tech chip"/>
          <p:cNvSpPr/>
          <p:nvPr/>
        </p:nvSpPr>
        <p:spPr>
          <a:xfrm>
            <a:off x="4121741" y="1975104"/>
            <a:ext cx="1261332"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Cloud Storage</a:t>
            </a:r>
          </a:p>
        </p:txBody>
      </p:sp>
      <p:sp>
        <p:nvSpPr>
          <p:cNvPr id="129" name="tech chip"/>
          <p:cNvSpPr/>
          <p:nvPr/>
        </p:nvSpPr>
        <p:spPr>
          <a:xfrm>
            <a:off x="5511089" y="1975104"/>
            <a:ext cx="1067184"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Cloud Build</a:t>
            </a:r>
          </a:p>
        </p:txBody>
      </p:sp>
      <p:cxnSp>
        <p:nvCxnSpPr>
          <p:cNvPr id="130" name="rule"/>
          <p:cNvCxnSpPr/>
          <p:nvPr/>
        </p:nvCxnSpPr>
        <p:spPr>
          <a:xfrm>
            <a:off x="356616" y="2532888"/>
            <a:ext cx="8430768" cy="0"/>
          </a:xfrm>
          <a:prstGeom prst="line">
            <a:avLst/>
          </a:prstGeom>
          <a:ln w="9525">
            <a:solidFill>
              <a:srgbClr val="E8EAED"/>
            </a:solidFill>
          </a:ln>
        </p:spPr>
      </p:cxnSp>
      <p:sp>
        <p:nvSpPr>
          <p:cNvPr id="131" name="kicker"/>
          <p:cNvSpPr txBox="1"/>
          <p:nvPr/>
        </p:nvSpPr>
        <p:spPr>
          <a:xfrm>
            <a:off x="356616" y="2807208"/>
            <a:ext cx="1463040" cy="182880"/>
          </a:xfrm>
          <a:prstGeom prst="rect">
            <a:avLst/>
          </a:prstGeom>
          <a:noFill/>
        </p:spPr>
        <p:txBody>
          <a:bodyPr wrap="square" lIns="0" tIns="0" rIns="0" bIns="0" anchor="t">
            <a:noAutofit/>
          </a:bodyPr>
          <a:lstStyle/>
          <a:p>
            <a:pPr algn="l" marL="0" indent="0">
              <a:lnSpc>
                <a:spcPct val="100000"/>
              </a:lnSpc>
              <a:buNone/>
            </a:pPr>
            <a:r>
              <a:rPr sz="800" b="0" lang="en-GB" spc="80">
                <a:solidFill>
                  <a:srgbClr val="3C4043"/>
                </a:solidFill>
                <a:latin typeface="Roboto Mono"/>
              </a:rPr>
              <a:t>FIREBASE</a:t>
            </a:r>
          </a:p>
        </p:txBody>
      </p:sp>
      <p:sp>
        <p:nvSpPr>
          <p:cNvPr id="132" name="tech chip"/>
          <p:cNvSpPr/>
          <p:nvPr/>
        </p:nvSpPr>
        <p:spPr>
          <a:xfrm>
            <a:off x="1956816" y="2706624"/>
            <a:ext cx="835736"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Hosting</a:t>
            </a:r>
          </a:p>
        </p:txBody>
      </p:sp>
      <p:sp>
        <p:nvSpPr>
          <p:cNvPr id="133" name="tech chip"/>
          <p:cNvSpPr/>
          <p:nvPr/>
        </p:nvSpPr>
        <p:spPr>
          <a:xfrm>
            <a:off x="2920568" y="2706624"/>
            <a:ext cx="640121"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Auth</a:t>
            </a:r>
          </a:p>
        </p:txBody>
      </p:sp>
      <p:sp>
        <p:nvSpPr>
          <p:cNvPr id="134" name="tech chip"/>
          <p:cNvSpPr/>
          <p:nvPr/>
        </p:nvSpPr>
        <p:spPr>
          <a:xfrm>
            <a:off x="3688705" y="2706624"/>
            <a:ext cx="1042527"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App Check</a:t>
            </a:r>
          </a:p>
        </p:txBody>
      </p:sp>
      <p:sp>
        <p:nvSpPr>
          <p:cNvPr id="135" name="tech chip"/>
          <p:cNvSpPr/>
          <p:nvPr/>
        </p:nvSpPr>
        <p:spPr>
          <a:xfrm>
            <a:off x="4859249" y="2706624"/>
            <a:ext cx="847471"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AI Logic</a:t>
            </a:r>
          </a:p>
        </p:txBody>
      </p:sp>
      <p:cxnSp>
        <p:nvCxnSpPr>
          <p:cNvPr id="136" name="rule"/>
          <p:cNvCxnSpPr/>
          <p:nvPr/>
        </p:nvCxnSpPr>
        <p:spPr>
          <a:xfrm>
            <a:off x="356616" y="3264408"/>
            <a:ext cx="8430768" cy="0"/>
          </a:xfrm>
          <a:prstGeom prst="line">
            <a:avLst/>
          </a:prstGeom>
          <a:ln w="9525">
            <a:solidFill>
              <a:srgbClr val="E8EAED"/>
            </a:solidFill>
          </a:ln>
        </p:spPr>
      </p:cxnSp>
      <p:sp>
        <p:nvSpPr>
          <p:cNvPr id="137" name="kicker"/>
          <p:cNvSpPr txBox="1"/>
          <p:nvPr/>
        </p:nvSpPr>
        <p:spPr>
          <a:xfrm>
            <a:off x="356616" y="3538728"/>
            <a:ext cx="1463040" cy="182880"/>
          </a:xfrm>
          <a:prstGeom prst="rect">
            <a:avLst/>
          </a:prstGeom>
          <a:noFill/>
        </p:spPr>
        <p:txBody>
          <a:bodyPr wrap="square" lIns="0" tIns="0" rIns="0" bIns="0" anchor="t">
            <a:noAutofit/>
          </a:bodyPr>
          <a:lstStyle/>
          <a:p>
            <a:pPr algn="l" marL="0" indent="0">
              <a:lnSpc>
                <a:spcPct val="100000"/>
              </a:lnSpc>
              <a:buNone/>
            </a:pPr>
            <a:r>
              <a:rPr sz="800" b="0" lang="en-GB" spc="80">
                <a:solidFill>
                  <a:srgbClr val="3C4043"/>
                </a:solidFill>
                <a:latin typeface="Roboto Mono"/>
              </a:rPr>
              <a:t>ENGINE</a:t>
            </a:r>
          </a:p>
        </p:txBody>
      </p:sp>
      <p:sp>
        <p:nvSpPr>
          <p:cNvPr id="138" name="tech chip"/>
          <p:cNvSpPr/>
          <p:nvPr/>
        </p:nvSpPr>
        <p:spPr>
          <a:xfrm>
            <a:off x="1956816" y="3438144"/>
            <a:ext cx="818972"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FastAPI</a:t>
            </a:r>
          </a:p>
        </p:txBody>
      </p:sp>
      <p:sp>
        <p:nvSpPr>
          <p:cNvPr id="139" name="tech chip"/>
          <p:cNvSpPr/>
          <p:nvPr/>
        </p:nvSpPr>
        <p:spPr>
          <a:xfrm>
            <a:off x="2903804" y="3438144"/>
            <a:ext cx="1154182"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pandapower</a:t>
            </a:r>
          </a:p>
        </p:txBody>
      </p:sp>
      <p:sp>
        <p:nvSpPr>
          <p:cNvPr id="140" name="tech chip"/>
          <p:cNvSpPr/>
          <p:nvPr/>
        </p:nvSpPr>
        <p:spPr>
          <a:xfrm>
            <a:off x="4186003" y="3438144"/>
            <a:ext cx="828542"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shapely</a:t>
            </a:r>
          </a:p>
        </p:txBody>
      </p:sp>
      <p:sp>
        <p:nvSpPr>
          <p:cNvPr id="141" name="tech chip"/>
          <p:cNvSpPr/>
          <p:nvPr/>
        </p:nvSpPr>
        <p:spPr>
          <a:xfrm>
            <a:off x="5142560" y="3438144"/>
            <a:ext cx="687969"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ezdxf</a:t>
            </a:r>
          </a:p>
        </p:txBody>
      </p:sp>
      <p:cxnSp>
        <p:nvCxnSpPr>
          <p:cNvPr id="142" name="rule"/>
          <p:cNvCxnSpPr/>
          <p:nvPr/>
        </p:nvCxnSpPr>
        <p:spPr>
          <a:xfrm>
            <a:off x="356616" y="3995928"/>
            <a:ext cx="8430768" cy="0"/>
          </a:xfrm>
          <a:prstGeom prst="line">
            <a:avLst/>
          </a:prstGeom>
          <a:ln w="9525">
            <a:solidFill>
              <a:srgbClr val="E8EAED"/>
            </a:solidFill>
          </a:ln>
        </p:spPr>
      </p:cxnSp>
      <p:sp>
        <p:nvSpPr>
          <p:cNvPr id="143" name="kicker"/>
          <p:cNvSpPr txBox="1"/>
          <p:nvPr/>
        </p:nvSpPr>
        <p:spPr>
          <a:xfrm>
            <a:off x="356616" y="4270248"/>
            <a:ext cx="1463040" cy="182880"/>
          </a:xfrm>
          <a:prstGeom prst="rect">
            <a:avLst/>
          </a:prstGeom>
          <a:noFill/>
        </p:spPr>
        <p:txBody>
          <a:bodyPr wrap="square" lIns="0" tIns="0" rIns="0" bIns="0" anchor="t">
            <a:noAutofit/>
          </a:bodyPr>
          <a:lstStyle/>
          <a:p>
            <a:pPr algn="l" marL="0" indent="0">
              <a:lnSpc>
                <a:spcPct val="100000"/>
              </a:lnSpc>
              <a:buNone/>
            </a:pPr>
            <a:r>
              <a:rPr sz="800" b="0" lang="en-GB" spc="80">
                <a:solidFill>
                  <a:srgbClr val="3C4043"/>
                </a:solidFill>
                <a:latin typeface="Roboto Mono"/>
              </a:rPr>
              <a:t>INTERFACE</a:t>
            </a:r>
          </a:p>
        </p:txBody>
      </p:sp>
      <p:sp>
        <p:nvSpPr>
          <p:cNvPr id="144" name="tech chip"/>
          <p:cNvSpPr/>
          <p:nvPr/>
        </p:nvSpPr>
        <p:spPr>
          <a:xfrm>
            <a:off x="1956816" y="4169664"/>
            <a:ext cx="867064"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React 19</a:t>
            </a:r>
          </a:p>
        </p:txBody>
      </p:sp>
      <p:sp>
        <p:nvSpPr>
          <p:cNvPr id="145" name="tech chip"/>
          <p:cNvSpPr/>
          <p:nvPr/>
        </p:nvSpPr>
        <p:spPr>
          <a:xfrm>
            <a:off x="2951896" y="4169664"/>
            <a:ext cx="1421359"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React Flow + ELK</a:t>
            </a:r>
          </a:p>
        </p:txBody>
      </p:sp>
      <p:sp>
        <p:nvSpPr>
          <p:cNvPr id="146" name="tech chip"/>
          <p:cNvSpPr/>
          <p:nvPr/>
        </p:nvSpPr>
        <p:spPr>
          <a:xfrm>
            <a:off x="4501271" y="4169664"/>
            <a:ext cx="1424467" cy="384048"/>
          </a:xfrm>
          <a:prstGeom prst="roundRect">
            <a:avLst>
              <a:gd name="adj" fmla="val 50000"/>
            </a:avLst>
          </a:prstGeom>
          <a:solidFill>
            <a:srgbClr val="FFFFFF"/>
          </a:solidFill>
          <a:ln w="9525">
            <a:solidFill>
              <a:srgbClr val="DADCE0"/>
            </a:solidFill>
          </a:ln>
        </p:spPr>
        <p:txBody>
          <a:bodyPr rtlCol="0" anchor="ctr" lIns="54864" rIns="54864" tIns="0" bIns="0" wrap="square">
            <a:noAutofit/>
          </a:bodyPr>
          <a:lstStyle/>
          <a:p>
            <a:pPr algn="ctr" marL="0" indent="0">
              <a:lnSpc>
                <a:spcPct val="100000"/>
              </a:lnSpc>
              <a:buNone/>
            </a:pPr>
            <a:r>
              <a:rPr sz="1100" b="0" lang="en-GB">
                <a:solidFill>
                  <a:srgbClr val="202124"/>
                </a:solidFill>
                <a:latin typeface="Google Sans Flex Medium"/>
              </a:rPr>
              <a:t>react-three-fiber</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run cost card"/>
          <p:cNvSpPr/>
          <p:nvPr/>
        </p:nvSpPr>
        <p:spPr>
          <a:xfrm>
            <a:off x="356616" y="1133856"/>
            <a:ext cx="4297680" cy="1874520"/>
          </a:xfrm>
          <a:prstGeom prst="roundRect">
            <a:avLst>
              <a:gd name="adj" fmla="val 3902"/>
            </a:avLst>
          </a:prstGeom>
          <a:solidFill>
            <a:srgbClr val="F8F9FA"/>
          </a:solidFill>
          <a:ln w="9525">
            <a:solidFill>
              <a:srgbClr val="E8EAED"/>
            </a:solidFill>
          </a:ln>
        </p:spPr>
        <p:txBody>
          <a:bodyPr rtlCol="0" anchor="ctr" lIns="0" rIns="0" tIns="0" bIns="0"/>
          <a:lstStyle/>
          <a:p>
            <a:pPr algn="ctr"/>
          </a:p>
        </p:txBody>
      </p:sp>
      <p:sp>
        <p:nvSpPr>
          <p:cNvPr id="129" name="badge receipt"/>
          <p:cNvSpPr/>
          <p:nvPr/>
        </p:nvSpPr>
        <p:spPr>
          <a:xfrm>
            <a:off x="539496" y="1298448"/>
            <a:ext cx="347472" cy="347472"/>
          </a:xfrm>
          <a:prstGeom prst="ellipse">
            <a:avLst/>
          </a:prstGeom>
          <a:solidFill>
            <a:srgbClr val="FFFFFF"/>
          </a:solidFill>
          <a:ln>
            <a:noFill/>
          </a:ln>
        </p:spPr>
        <p:txBody>
          <a:bodyPr rtlCol="0" anchor="ctr" lIns="0" rIns="0" tIns="0" bIns="0"/>
          <a:lstStyle/>
          <a:p>
            <a:pPr algn="ctr"/>
          </a:p>
        </p:txBody>
      </p:sp>
      <p:pic>
        <p:nvPicPr>
          <p:cNvPr id="130" name="icon receipt" descr=""/>
          <p:cNvPicPr>
            <a:picLocks noChangeAspect="1"/>
          </p:cNvPicPr>
          <p:nvPr/>
        </p:nvPicPr>
        <p:blipFill>
          <a:blip r:embed="rId5"/>
          <a:stretch>
            <a:fillRect/>
          </a:stretch>
        </p:blipFill>
        <p:spPr>
          <a:xfrm>
            <a:off x="622889" y="1381841"/>
            <a:ext cx="180685" cy="180685"/>
          </a:xfrm>
          <a:prstGeom prst="rect">
            <a:avLst/>
          </a:prstGeom>
        </p:spPr>
      </p:pic>
      <p:sp>
        <p:nvSpPr>
          <p:cNvPr id="131" name="card title"/>
          <p:cNvSpPr txBox="1"/>
          <p:nvPr/>
        </p:nvSpPr>
        <p:spPr>
          <a:xfrm>
            <a:off x="996696" y="1298448"/>
            <a:ext cx="3291840" cy="347472"/>
          </a:xfrm>
          <a:prstGeom prst="rect">
            <a:avLst/>
          </a:prstGeom>
          <a:noFill/>
        </p:spPr>
        <p:txBody>
          <a:bodyPr wrap="square" lIns="0" tIns="0" rIns="0" bIns="0" anchor="ctr">
            <a:noAutofit/>
          </a:bodyPr>
          <a:lstStyle/>
          <a:p>
            <a:pPr algn="l" marL="0" indent="0">
              <a:lnSpc>
                <a:spcPct val="100000"/>
              </a:lnSpc>
              <a:buNone/>
            </a:pPr>
            <a:r>
              <a:rPr sz="1400" b="0" lang="en-GB">
                <a:solidFill>
                  <a:srgbClr val="202124"/>
                </a:solidFill>
                <a:latin typeface="Google Sans Flex SemiBold"/>
              </a:rPr>
              <a:t>Run cost</a:t>
            </a:r>
          </a:p>
        </p:txBody>
      </p:sp>
      <p:sp>
        <p:nvSpPr>
          <p:cNvPr id="132" name="run cost bullets"/>
          <p:cNvSpPr txBox="1"/>
          <p:nvPr/>
        </p:nvSpPr>
        <p:spPr>
          <a:xfrm>
            <a:off x="557784" y="1810512"/>
            <a:ext cx="3931920" cy="1088136"/>
          </a:xfrm>
          <a:prstGeom prst="rect">
            <a:avLst/>
          </a:prstGeom>
          <a:noFill/>
        </p:spPr>
        <p:txBody>
          <a:bodyPr wrap="square" lIns="0" tIns="0" rIns="0" bIns="0" anchor="t">
            <a:noAutofit/>
          </a:bodyPr>
          <a:lstStyle/>
          <a:p>
            <a:pPr algn="l" marL="146304" indent="-146304">
              <a:lnSpc>
                <a:spcPct val="100000"/>
              </a:lnSpc>
              <a:spcAft>
                <a:spcPts val="380"/>
              </a:spcAft>
              <a:buClr>
                <a:srgbClr val="80868B"/>
              </a:buClr>
              <a:buFont typeface="Arial"/>
              <a:buChar char="•"/>
            </a:pPr>
            <a:r>
              <a:rPr sz="1150" b="0" lang="en-GB">
                <a:solidFill>
                  <a:srgbClr val="3C4043"/>
                </a:solidFill>
                <a:latin typeface="Google Sans Flex"/>
              </a:rPr>
              <a:t>1 warm Cloud Run instance</a:t>
            </a:r>
            <a:r>
              <a:rPr sz="900" b="0" lang="en-GB">
                <a:solidFill>
                  <a:srgbClr val="8A4B00"/>
                </a:solidFill>
                <a:highlight>
                  <a:srgbClr val="FDEBD0"/>
                </a:highlight>
                <a:latin typeface="Google Sans Flex"/>
              </a:rPr>
              <a:t> (spec)</a:t>
            </a:r>
          </a:p>
          <a:p>
            <a:pPr algn="l" marL="146304" indent="-146304">
              <a:lnSpc>
                <a:spcPct val="100000"/>
              </a:lnSpc>
              <a:spcAft>
                <a:spcPts val="380"/>
              </a:spcAft>
              <a:buClr>
                <a:srgbClr val="80868B"/>
              </a:buClr>
              <a:buFont typeface="Arial"/>
              <a:buChar char="•"/>
            </a:pPr>
            <a:r>
              <a:rPr sz="1150" b="0" lang="en-GB">
                <a:solidFill>
                  <a:srgbClr val="3C4043"/>
                </a:solidFill>
                <a:latin typeface="Google Sans Flex"/>
              </a:rPr>
              <a:t>USD 200 budget with alerts</a:t>
            </a:r>
            <a:r>
              <a:rPr sz="900" b="0" lang="en-GB">
                <a:solidFill>
                  <a:srgbClr val="8A4B00"/>
                </a:solidFill>
                <a:highlight>
                  <a:srgbClr val="FDEBD0"/>
                </a:highlight>
                <a:latin typeface="Google Sans Flex"/>
              </a:rPr>
              <a:t> (spec)</a:t>
            </a:r>
          </a:p>
          <a:p>
            <a:pPr algn="l" marL="146304" indent="-146304">
              <a:lnSpc>
                <a:spcPct val="100000"/>
              </a:lnSpc>
              <a:spcAft>
                <a:spcPts val="380"/>
              </a:spcAft>
              <a:buClr>
                <a:srgbClr val="80868B"/>
              </a:buClr>
              <a:buFont typeface="Arial"/>
              <a:buChar char="•"/>
            </a:pPr>
            <a:r>
              <a:rPr sz="1150" b="0" lang="en-GB">
                <a:solidFill>
                  <a:srgbClr val="3C4043"/>
                </a:solidFill>
                <a:latin typeface="Google Sans Flex"/>
              </a:rPr>
              <a:t>Gemini 3.8 Flash: $0.75 / $3.75 per 1M tokens¹²</a:t>
            </a:r>
          </a:p>
          <a:p>
            <a:pPr algn="l" marL="146304" indent="-146304">
              <a:lnSpc>
                <a:spcPct val="100000"/>
              </a:lnSpc>
              <a:spcAft>
                <a:spcPts val="380"/>
              </a:spcAft>
              <a:buClr>
                <a:srgbClr val="80868B"/>
              </a:buClr>
              <a:buFont typeface="Arial"/>
              <a:buChar char="•"/>
            </a:pPr>
            <a:r>
              <a:rPr sz="1150" b="0" lang="en-GB">
                <a:solidFill>
                  <a:srgbClr val="3C4043"/>
                </a:solidFill>
                <a:latin typeface="Google Sans Flex"/>
              </a:rPr>
              <a:t>Per design: </a:t>
            </a:r>
            <a:r>
              <a:rPr sz="1150" b="0" lang="en-GB">
                <a:solidFill>
                  <a:srgbClr val="3C4043"/>
                </a:solidFill>
                <a:latin typeface="Google Sans Flex"/>
              </a:rPr>
              <a:t>~$0.057 (measured on a live run, 15 Oct 2026)</a:t>
            </a:r>
          </a:p>
        </p:txBody>
      </p:sp>
      <p:sp>
        <p:nvSpPr>
          <p:cNvPr id="133" name="charge card"/>
          <p:cNvSpPr/>
          <p:nvPr/>
        </p:nvSpPr>
        <p:spPr>
          <a:xfrm>
            <a:off x="4837176" y="1133856"/>
            <a:ext cx="3950208" cy="1874520"/>
          </a:xfrm>
          <a:prstGeom prst="roundRect">
            <a:avLst>
              <a:gd name="adj" fmla="val 3902"/>
            </a:avLst>
          </a:prstGeom>
          <a:solidFill>
            <a:srgbClr val="F8F9FA"/>
          </a:solidFill>
          <a:ln w="9525">
            <a:solidFill>
              <a:srgbClr val="E8EAED"/>
            </a:solidFill>
          </a:ln>
        </p:spPr>
        <p:txBody>
          <a:bodyPr rtlCol="0" anchor="ctr" lIns="0" rIns="0" tIns="0" bIns="0"/>
          <a:lstStyle/>
          <a:p>
            <a:pPr algn="ctr"/>
          </a:p>
        </p:txBody>
      </p:sp>
      <p:sp>
        <p:nvSpPr>
          <p:cNvPr id="134" name="badge users"/>
          <p:cNvSpPr/>
          <p:nvPr/>
        </p:nvSpPr>
        <p:spPr>
          <a:xfrm>
            <a:off x="5020056" y="1298448"/>
            <a:ext cx="347472" cy="347472"/>
          </a:xfrm>
          <a:prstGeom prst="ellipse">
            <a:avLst/>
          </a:prstGeom>
          <a:solidFill>
            <a:srgbClr val="FFFFFF"/>
          </a:solidFill>
          <a:ln>
            <a:noFill/>
          </a:ln>
        </p:spPr>
        <p:txBody>
          <a:bodyPr rtlCol="0" anchor="ctr" lIns="0" rIns="0" tIns="0" bIns="0"/>
          <a:lstStyle/>
          <a:p>
            <a:pPr algn="ctr"/>
          </a:p>
        </p:txBody>
      </p:sp>
      <p:pic>
        <p:nvPicPr>
          <p:cNvPr id="135" name="icon users" descr=""/>
          <p:cNvPicPr>
            <a:picLocks noChangeAspect="1"/>
          </p:cNvPicPr>
          <p:nvPr/>
        </p:nvPicPr>
        <p:blipFill>
          <a:blip r:embed="rId6"/>
          <a:stretch>
            <a:fillRect/>
          </a:stretch>
        </p:blipFill>
        <p:spPr>
          <a:xfrm>
            <a:off x="5103449" y="1381841"/>
            <a:ext cx="180685" cy="180685"/>
          </a:xfrm>
          <a:prstGeom prst="rect">
            <a:avLst/>
          </a:prstGeom>
        </p:spPr>
      </p:pic>
      <p:sp>
        <p:nvSpPr>
          <p:cNvPr id="136" name="card title"/>
          <p:cNvSpPr txBox="1"/>
          <p:nvPr/>
        </p:nvSpPr>
        <p:spPr>
          <a:xfrm>
            <a:off x="5477256" y="1298448"/>
            <a:ext cx="3017520" cy="347472"/>
          </a:xfrm>
          <a:prstGeom prst="rect">
            <a:avLst/>
          </a:prstGeom>
          <a:noFill/>
        </p:spPr>
        <p:txBody>
          <a:bodyPr wrap="square" lIns="0" tIns="0" rIns="0" bIns="0" anchor="ctr">
            <a:noAutofit/>
          </a:bodyPr>
          <a:lstStyle/>
          <a:p>
            <a:pPr algn="l" marL="0" indent="0">
              <a:lnSpc>
                <a:spcPct val="100000"/>
              </a:lnSpc>
              <a:buNone/>
            </a:pPr>
            <a:r>
              <a:rPr sz="1400" b="0" lang="en-GB">
                <a:solidFill>
                  <a:srgbClr val="202124"/>
                </a:solidFill>
                <a:latin typeface="Google Sans Flex SemiBold"/>
              </a:rPr>
              <a:t>How we charge</a:t>
            </a:r>
          </a:p>
        </p:txBody>
      </p:sp>
      <p:sp>
        <p:nvSpPr>
          <p:cNvPr id="137" name="charge text"/>
          <p:cNvSpPr txBox="1"/>
          <p:nvPr/>
        </p:nvSpPr>
        <p:spPr>
          <a:xfrm>
            <a:off x="5038344" y="1810512"/>
            <a:ext cx="3547872" cy="1097280"/>
          </a:xfrm>
          <a:prstGeom prst="rect">
            <a:avLst/>
          </a:prstGeom>
          <a:noFill/>
        </p:spPr>
        <p:txBody>
          <a:bodyPr wrap="square" lIns="0" tIns="0" rIns="0" bIns="0" anchor="t">
            <a:noAutofit/>
          </a:bodyPr>
          <a:lstStyle/>
          <a:p>
            <a:pPr algn="l" marL="0" indent="0">
              <a:lnSpc>
                <a:spcPct val="100000"/>
              </a:lnSpc>
              <a:buNone/>
            </a:pPr>
            <a:r>
              <a:rPr sz="1500" b="0" lang="en-GB">
                <a:solidFill>
                  <a:srgbClr val="202124"/>
                </a:solidFill>
                <a:latin typeface="Google Sans Flex Medium"/>
              </a:rPr>
              <a:t>Seats for design teams; enterprise tier adds ERP/CRM connectors.</a:t>
            </a:r>
          </a:p>
        </p:txBody>
      </p:sp>
      <p:sp>
        <p:nvSpPr>
          <p:cNvPr id="138" name="kicker"/>
          <p:cNvSpPr txBox="1"/>
          <p:nvPr/>
        </p:nvSpPr>
        <p:spPr>
          <a:xfrm>
            <a:off x="356616" y="3337560"/>
            <a:ext cx="2743200" cy="182880"/>
          </a:xfrm>
          <a:prstGeom prst="rect">
            <a:avLst/>
          </a:prstGeom>
          <a:noFill/>
        </p:spPr>
        <p:txBody>
          <a:bodyPr wrap="square" lIns="0" tIns="0" rIns="0" bIns="0" anchor="t">
            <a:noAutofit/>
          </a:bodyPr>
          <a:lstStyle/>
          <a:p>
            <a:pPr algn="l" marL="0" indent="0">
              <a:lnSpc>
                <a:spcPct val="100000"/>
              </a:lnSpc>
              <a:buNone/>
            </a:pPr>
            <a:r>
              <a:rPr sz="700" b="0" lang="en-GB" spc="80">
                <a:solidFill>
                  <a:srgbClr val="5F6368"/>
                </a:solidFill>
                <a:latin typeface="Roboto Mono"/>
              </a:rPr>
              <a:t>ENTERPRISE INTEGRATION</a:t>
            </a:r>
          </a:p>
        </p:txBody>
      </p:sp>
      <p:sp>
        <p:nvSpPr>
          <p:cNvPr id="139" name="strip kirchhoff"/>
          <p:cNvSpPr/>
          <p:nvPr/>
        </p:nvSpPr>
        <p:spPr>
          <a:xfrm>
            <a:off x="356616" y="3831336"/>
            <a:ext cx="1371600" cy="365760"/>
          </a:xfrm>
          <a:prstGeom prst="roundRect">
            <a:avLst>
              <a:gd name="adj" fmla="val 12500"/>
            </a:avLst>
          </a:prstGeom>
          <a:solidFill>
            <a:srgbClr val="202124"/>
          </a:solidFill>
          <a:ln w="9525">
            <a:solidFill>
              <a:srgbClr val="202124"/>
            </a:solidFill>
          </a:ln>
        </p:spPr>
        <p:txBody>
          <a:bodyPr rtlCol="0" anchor="ctr" lIns="54864" rIns="54864" tIns="27432" bIns="27432" wrap="square">
            <a:noAutofit/>
          </a:bodyPr>
          <a:lstStyle/>
          <a:p>
            <a:pPr algn="ctr" marL="0" indent="0">
              <a:lnSpc>
                <a:spcPct val="100000"/>
              </a:lnSpc>
              <a:buNone/>
            </a:pPr>
            <a:r>
              <a:rPr sz="1000" b="0" lang="en-GB">
                <a:solidFill>
                  <a:srgbClr val="FFFFFF"/>
                </a:solidFill>
                <a:latin typeface="Google Sans Flex SemiBold"/>
              </a:rPr>
              <a:t>Kirchhoff</a:t>
            </a:r>
          </a:p>
        </p:txBody>
      </p:sp>
      <p:sp>
        <p:nvSpPr>
          <p:cNvPr id="140" name="strip api"/>
          <p:cNvSpPr/>
          <p:nvPr/>
        </p:nvSpPr>
        <p:spPr>
          <a:xfrm>
            <a:off x="2231136" y="3831336"/>
            <a:ext cx="1451610" cy="365760"/>
          </a:xfrm>
          <a:prstGeom prst="roundRect">
            <a:avLst>
              <a:gd name="adj" fmla="val 12500"/>
            </a:avLst>
          </a:prstGeom>
          <a:solidFill>
            <a:srgbClr val="FFFFFF"/>
          </a:solidFill>
          <a:ln w="9525">
            <a:solidFill>
              <a:srgbClr val="DADCE0"/>
            </a:solidFill>
          </a:ln>
        </p:spPr>
        <p:txBody>
          <a:bodyPr rtlCol="0" anchor="ctr" lIns="0" rIns="0" tIns="0" bIns="0" wrap="square">
            <a:noAutofit/>
          </a:bodyPr>
          <a:lstStyle/>
          <a:p>
            <a:pPr algn="ctr" marL="0" indent="0">
              <a:lnSpc>
                <a:spcPct val="100000"/>
              </a:lnSpc>
              <a:buNone/>
            </a:pPr>
            <a:r>
              <a:rPr sz="950" b="0" lang="en-GB">
                <a:solidFill>
                  <a:srgbClr val="202124"/>
                </a:solidFill>
                <a:latin typeface="Roboto Mono"/>
              </a:rPr>
              <a:t>/api/enterprise</a:t>
            </a:r>
          </a:p>
        </p:txBody>
      </p:sp>
      <p:sp>
        <p:nvSpPr>
          <p:cNvPr id="141" name="strip erp"/>
          <p:cNvSpPr/>
          <p:nvPr/>
        </p:nvSpPr>
        <p:spPr>
          <a:xfrm>
            <a:off x="4231386" y="3630168"/>
            <a:ext cx="1920240" cy="329184"/>
          </a:xfrm>
          <a:prstGeom prst="roundRect">
            <a:avLst>
              <a:gd name="adj" fmla="val 13888"/>
            </a:avLst>
          </a:prstGeom>
          <a:solidFill>
            <a:srgbClr val="F3E8FD"/>
          </a:solidFill>
          <a:ln w="9525">
            <a:solidFill>
              <a:srgbClr val="9334E6"/>
            </a:solidFill>
          </a:ln>
        </p:spPr>
        <p:txBody>
          <a:bodyPr rtlCol="0" anchor="ctr" lIns="54864" rIns="54864" tIns="27432" bIns="27432" wrap="square">
            <a:noAutofit/>
          </a:bodyPr>
          <a:lstStyle/>
          <a:p>
            <a:pPr algn="ctr" marL="0" indent="0">
              <a:lnSpc>
                <a:spcPct val="100000"/>
              </a:lnSpc>
              <a:buNone/>
            </a:pPr>
            <a:r>
              <a:rPr sz="950" b="0" lang="en-GB">
                <a:solidFill>
                  <a:srgbClr val="202124"/>
                </a:solidFill>
                <a:latin typeface="Google Sans Flex Medium"/>
              </a:rPr>
              <a:t>ERP (SAP-style)</a:t>
            </a:r>
          </a:p>
        </p:txBody>
      </p:sp>
      <p:sp>
        <p:nvSpPr>
          <p:cNvPr id="142" name="strip crm"/>
          <p:cNvSpPr/>
          <p:nvPr/>
        </p:nvSpPr>
        <p:spPr>
          <a:xfrm>
            <a:off x="4231386" y="4069080"/>
            <a:ext cx="1920240" cy="329184"/>
          </a:xfrm>
          <a:prstGeom prst="roundRect">
            <a:avLst>
              <a:gd name="adj" fmla="val 13888"/>
            </a:avLst>
          </a:prstGeom>
          <a:solidFill>
            <a:srgbClr val="F3E8FD"/>
          </a:solidFill>
          <a:ln w="9525">
            <a:solidFill>
              <a:srgbClr val="9334E6"/>
            </a:solidFill>
          </a:ln>
        </p:spPr>
        <p:txBody>
          <a:bodyPr rtlCol="0" anchor="ctr" lIns="54864" rIns="54864" tIns="27432" bIns="27432" wrap="square">
            <a:noAutofit/>
          </a:bodyPr>
          <a:lstStyle/>
          <a:p>
            <a:pPr algn="ctr" marL="0" indent="0">
              <a:lnSpc>
                <a:spcPct val="100000"/>
              </a:lnSpc>
              <a:buNone/>
            </a:pPr>
            <a:r>
              <a:rPr sz="950" b="0" lang="en-GB">
                <a:solidFill>
                  <a:srgbClr val="202124"/>
                </a:solidFill>
                <a:latin typeface="Google Sans Flex Medium"/>
              </a:rPr>
              <a:t>CRM (Salesforce-style)</a:t>
            </a:r>
          </a:p>
        </p:txBody>
      </p:sp>
      <p:cxnSp>
        <p:nvCxnSpPr>
          <p:cNvPr id="143" name="arrow"/>
          <p:cNvCxnSpPr>
            <a:stCxn id="139" idx="3"/>
            <a:endCxn id="140" idx="1"/>
          </p:cNvCxnSpPr>
          <p:nvPr/>
        </p:nvCxnSpPr>
        <p:spPr>
          <a:xfrm flipV="1">
            <a:off x="1728216" y="4014216"/>
            <a:ext cx="502920" cy="0"/>
          </a:xfrm>
          <a:prstGeom prst="line">
            <a:avLst/>
          </a:prstGeom>
          <a:ln w="12700">
            <a:solidFill>
              <a:srgbClr val="5F6368"/>
            </a:solidFill>
            <a:tailEnd type="triangle" w="med" len="med"/>
          </a:ln>
        </p:spPr>
      </p:cxnSp>
      <p:cxnSp>
        <p:nvCxnSpPr>
          <p:cNvPr id="144" name="arrow"/>
          <p:cNvCxnSpPr>
            <a:stCxn id="140" idx="3"/>
            <a:endCxn id="141" idx="1"/>
          </p:cNvCxnSpPr>
          <p:nvPr/>
        </p:nvCxnSpPr>
        <p:spPr>
          <a:xfrm flipV="1">
            <a:off x="3682746" y="3794760"/>
            <a:ext cx="548640" cy="219456"/>
          </a:xfrm>
          <a:prstGeom prst="bentConnector3">
            <a:avLst/>
          </a:prstGeom>
          <a:ln w="12700">
            <a:solidFill>
              <a:srgbClr val="5F6368"/>
            </a:solidFill>
            <a:tailEnd type="triangle" w="med" len="med"/>
          </a:ln>
        </p:spPr>
      </p:cxnSp>
      <p:cxnSp>
        <p:nvCxnSpPr>
          <p:cNvPr id="145" name="arrow"/>
          <p:cNvCxnSpPr>
            <a:stCxn id="140" idx="3"/>
            <a:endCxn id="142" idx="1"/>
          </p:cNvCxnSpPr>
          <p:nvPr/>
        </p:nvCxnSpPr>
        <p:spPr>
          <a:xfrm>
            <a:off x="3682746" y="4014216"/>
            <a:ext cx="548640" cy="219456"/>
          </a:xfrm>
          <a:prstGeom prst="bentConnector3">
            <a:avLst/>
          </a:prstGeom>
          <a:ln w="12700">
            <a:solidFill>
              <a:srgbClr val="5F6368"/>
            </a:solidFill>
            <a:tailEnd type="triangle" w="med" len="med"/>
          </a:ln>
        </p:spPr>
      </p:cxnSp>
      <p:sp>
        <p:nvSpPr>
          <p:cNvPr id="146" name="strip caption"/>
          <p:cNvSpPr txBox="1"/>
          <p:nvPr/>
        </p:nvSpPr>
        <p:spPr>
          <a:xfrm>
            <a:off x="6334506" y="3739896"/>
            <a:ext cx="2452878" cy="548640"/>
          </a:xfrm>
          <a:prstGeom prst="rect">
            <a:avLst/>
          </a:prstGeom>
          <a:noFill/>
        </p:spPr>
        <p:txBody>
          <a:bodyPr wrap="square" lIns="0" tIns="0" rIns="0" bIns="0" anchor="ctr">
            <a:noAutofit/>
          </a:bodyPr>
          <a:lstStyle/>
          <a:p>
            <a:pPr algn="l" marL="0" indent="0">
              <a:lnSpc>
                <a:spcPct val="100000"/>
              </a:lnSpc>
              <a:buNone/>
            </a:pPr>
            <a:r>
              <a:rPr sz="950" b="0" lang="en-GB">
                <a:solidFill>
                  <a:srgbClr val="5F6368"/>
                </a:solidFill>
                <a:latin typeface="Google Sans Flex"/>
              </a:rPr>
              <a:t>sandbox (simulated) today; real connectors on the roadmap</a:t>
            </a:r>
          </a:p>
        </p:txBody>
      </p:sp>
      <p:sp>
        <p:nvSpPr>
          <p:cNvPr id="147"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¹² Gemini API pricing: $0.75 in / $3.75 out per million tokens through 31 Dec 2026, doubling from 1 Jan 2027.</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SHOT placeholder shots/s11-1-projects-dashboard.png"/>
          <p:cNvSpPr/>
          <p:nvPr/>
        </p:nvSpPr>
        <p:spPr>
          <a:xfrm>
            <a:off x="356616" y="1133856"/>
            <a:ext cx="2688336" cy="1512189"/>
          </a:xfrm>
          <a:prstGeom prst="roundRect">
            <a:avLst>
              <a:gd name="adj" fmla="val 3628"/>
            </a:avLst>
          </a:prstGeom>
          <a:solidFill>
            <a:srgbClr val="FFF4EC"/>
          </a:solidFill>
          <a:ln w="12700">
            <a:solidFill>
              <a:srgbClr val="C2410C"/>
            </a:solidFill>
            <a:prstDash val="dash"/>
          </a:ln>
        </p:spPr>
        <p:txBody>
          <a:bodyPr rtlCol="0" anchor="ctr" lIns="0" rIns="0" tIns="0" bIns="0"/>
          <a:lstStyle/>
          <a:p>
            <a:pPr algn="ctr"/>
          </a:p>
        </p:txBody>
      </p:sp>
      <p:pic>
        <p:nvPicPr>
          <p:cNvPr id="137" name="icon camera" descr=""/>
          <p:cNvPicPr>
            <a:picLocks noChangeAspect="1"/>
          </p:cNvPicPr>
          <p:nvPr/>
        </p:nvPicPr>
        <p:blipFill>
          <a:blip r:embed="rId5"/>
          <a:stretch>
            <a:fillRect/>
          </a:stretch>
        </p:blipFill>
        <p:spPr>
          <a:xfrm>
            <a:off x="466344" y="1243584"/>
            <a:ext cx="201168" cy="201168"/>
          </a:xfrm>
          <a:prstGeom prst="rect">
            <a:avLst/>
          </a:prstGeom>
        </p:spPr>
      </p:pic>
      <p:sp>
        <p:nvSpPr>
          <p:cNvPr id="138" name="SHOT label"/>
          <p:cNvSpPr txBox="1"/>
          <p:nvPr/>
        </p:nvSpPr>
        <p:spPr>
          <a:xfrm>
            <a:off x="722376" y="1234440"/>
            <a:ext cx="2212848"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shots/s11-1-projects-dashboard.png</a:t>
            </a:r>
          </a:p>
        </p:txBody>
      </p:sp>
      <p:sp>
        <p:nvSpPr>
          <p:cNvPr id="139" name="SHOT text"/>
          <p:cNvSpPr txBox="1"/>
          <p:nvPr/>
        </p:nvSpPr>
        <p:spPr>
          <a:xfrm>
            <a:off x="466344" y="1490472"/>
            <a:ext cx="2468880" cy="1045845"/>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Projects dashboard. Hall A "Signed", Hall B "Not started", Grid and Solar cards; fictional-data banner visible.</a:t>
            </a:r>
          </a:p>
        </p:txBody>
      </p:sp>
      <p:sp>
        <p:nvSpPr>
          <p:cNvPr id="140" name="number 1"/>
          <p:cNvSpPr/>
          <p:nvPr/>
        </p:nvSpPr>
        <p:spPr>
          <a:xfrm>
            <a:off x="356616" y="2691765"/>
            <a:ext cx="164592" cy="164592"/>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700" b="0" lang="en-GB">
                <a:solidFill>
                  <a:srgbClr val="FFFFFF"/>
                </a:solidFill>
                <a:latin typeface="Google Sans Flex SemiBold"/>
              </a:rPr>
              <a:t>1</a:t>
            </a:r>
          </a:p>
        </p:txBody>
      </p:sp>
      <p:sp>
        <p:nvSpPr>
          <p:cNvPr id="141" name="snapshot caption"/>
          <p:cNvSpPr txBox="1"/>
          <p:nvPr/>
        </p:nvSpPr>
        <p:spPr>
          <a:xfrm>
            <a:off x="585216" y="2664333"/>
            <a:ext cx="2459736" cy="219456"/>
          </a:xfrm>
          <a:prstGeom prst="rect">
            <a:avLst/>
          </a:prstGeom>
          <a:noFill/>
        </p:spPr>
        <p:txBody>
          <a:bodyPr wrap="square" lIns="0" tIns="0" rIns="0" bIns="0" anchor="ctr">
            <a:noAutofit/>
          </a:bodyPr>
          <a:lstStyle/>
          <a:p>
            <a:pPr algn="l" marL="0" indent="0">
              <a:lnSpc>
                <a:spcPct val="100000"/>
              </a:lnSpc>
              <a:buNone/>
            </a:pPr>
            <a:r>
              <a:rPr sz="950" b="0" lang="en-GB">
                <a:solidFill>
                  <a:srgbClr val="202124"/>
                </a:solidFill>
                <a:latin typeface="Google Sans Flex Medium"/>
              </a:rPr>
              <a:t>Your firm's projects, already in motion</a:t>
            </a:r>
          </a:p>
        </p:txBody>
      </p:sp>
      <p:sp>
        <p:nvSpPr>
          <p:cNvPr id="142" name="SHOT placeholder shots/s11-2-hall-b-live-run.png"/>
          <p:cNvSpPr/>
          <p:nvPr/>
        </p:nvSpPr>
        <p:spPr>
          <a:xfrm>
            <a:off x="3227832" y="1133856"/>
            <a:ext cx="2688336" cy="1512189"/>
          </a:xfrm>
          <a:prstGeom prst="roundRect">
            <a:avLst>
              <a:gd name="adj" fmla="val 3628"/>
            </a:avLst>
          </a:prstGeom>
          <a:solidFill>
            <a:srgbClr val="FFF4EC"/>
          </a:solidFill>
          <a:ln w="12700">
            <a:solidFill>
              <a:srgbClr val="C2410C"/>
            </a:solidFill>
            <a:prstDash val="dash"/>
          </a:ln>
        </p:spPr>
        <p:txBody>
          <a:bodyPr rtlCol="0" anchor="ctr" lIns="0" rIns="0" tIns="0" bIns="0"/>
          <a:lstStyle/>
          <a:p>
            <a:pPr algn="ctr"/>
          </a:p>
        </p:txBody>
      </p:sp>
      <p:pic>
        <p:nvPicPr>
          <p:cNvPr id="143" name="icon camera" descr=""/>
          <p:cNvPicPr>
            <a:picLocks noChangeAspect="1"/>
          </p:cNvPicPr>
          <p:nvPr/>
        </p:nvPicPr>
        <p:blipFill>
          <a:blip r:embed="rId5"/>
          <a:stretch>
            <a:fillRect/>
          </a:stretch>
        </p:blipFill>
        <p:spPr>
          <a:xfrm>
            <a:off x="3337560" y="1243584"/>
            <a:ext cx="201168" cy="201168"/>
          </a:xfrm>
          <a:prstGeom prst="rect">
            <a:avLst/>
          </a:prstGeom>
        </p:spPr>
      </p:pic>
      <p:sp>
        <p:nvSpPr>
          <p:cNvPr id="144" name="SHOT label"/>
          <p:cNvSpPr txBox="1"/>
          <p:nvPr/>
        </p:nvSpPr>
        <p:spPr>
          <a:xfrm>
            <a:off x="3593592" y="1234440"/>
            <a:ext cx="2212848"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shots/s11-2-hall-b-live-run.png</a:t>
            </a:r>
          </a:p>
        </p:txBody>
      </p:sp>
      <p:sp>
        <p:nvSpPr>
          <p:cNvPr id="145" name="SHOT text"/>
          <p:cNvSpPr txBox="1"/>
          <p:nvPr/>
        </p:nvSpPr>
        <p:spPr>
          <a:xfrm>
            <a:off x="3337560" y="1490472"/>
            <a:ext cx="2468880" cy="1045845"/>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Workspace during the Hall B live run. Power and Cooling lanes both active; elapsed-time clock; SLD staging in.</a:t>
            </a:r>
          </a:p>
        </p:txBody>
      </p:sp>
      <p:sp>
        <p:nvSpPr>
          <p:cNvPr id="146" name="number 2"/>
          <p:cNvSpPr/>
          <p:nvPr/>
        </p:nvSpPr>
        <p:spPr>
          <a:xfrm>
            <a:off x="3227832" y="2691765"/>
            <a:ext cx="164592" cy="164592"/>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700" b="0" lang="en-GB">
                <a:solidFill>
                  <a:srgbClr val="FFFFFF"/>
                </a:solidFill>
                <a:latin typeface="Google Sans Flex SemiBold"/>
              </a:rPr>
              <a:t>2</a:t>
            </a:r>
          </a:p>
        </p:txBody>
      </p:sp>
      <p:sp>
        <p:nvSpPr>
          <p:cNvPr id="147" name="snapshot caption"/>
          <p:cNvSpPr txBox="1"/>
          <p:nvPr/>
        </p:nvSpPr>
        <p:spPr>
          <a:xfrm>
            <a:off x="3456432" y="2664333"/>
            <a:ext cx="2459736" cy="219456"/>
          </a:xfrm>
          <a:prstGeom prst="rect">
            <a:avLst/>
          </a:prstGeom>
          <a:noFill/>
        </p:spPr>
        <p:txBody>
          <a:bodyPr wrap="square" lIns="0" tIns="0" rIns="0" bIns="0" anchor="ctr">
            <a:noAutofit/>
          </a:bodyPr>
          <a:lstStyle/>
          <a:p>
            <a:pPr algn="l" marL="0" indent="0">
              <a:lnSpc>
                <a:spcPct val="100000"/>
              </a:lnSpc>
              <a:buNone/>
            </a:pPr>
            <a:r>
              <a:rPr sz="950" b="0" lang="en-GB">
                <a:solidFill>
                  <a:srgbClr val="202124"/>
                </a:solidFill>
                <a:latin typeface="Google Sans Flex Medium"/>
              </a:rPr>
              <a:t>Agents design in parallel</a:t>
            </a:r>
          </a:p>
        </p:txBody>
      </p:sp>
      <p:sp>
        <p:nvSpPr>
          <p:cNvPr id="148" name="SHOT placeholder shots/s11-3-finding-drawer-r11.png"/>
          <p:cNvSpPr/>
          <p:nvPr/>
        </p:nvSpPr>
        <p:spPr>
          <a:xfrm>
            <a:off x="6099048" y="1133856"/>
            <a:ext cx="2688336" cy="1512189"/>
          </a:xfrm>
          <a:prstGeom prst="roundRect">
            <a:avLst>
              <a:gd name="adj" fmla="val 3628"/>
            </a:avLst>
          </a:prstGeom>
          <a:solidFill>
            <a:srgbClr val="FFF4EC"/>
          </a:solidFill>
          <a:ln w="12700">
            <a:solidFill>
              <a:srgbClr val="C2410C"/>
            </a:solidFill>
            <a:prstDash val="dash"/>
          </a:ln>
        </p:spPr>
        <p:txBody>
          <a:bodyPr rtlCol="0" anchor="ctr" lIns="0" rIns="0" tIns="0" bIns="0"/>
          <a:lstStyle/>
          <a:p>
            <a:pPr algn="ctr"/>
          </a:p>
        </p:txBody>
      </p:sp>
      <p:pic>
        <p:nvPicPr>
          <p:cNvPr id="149" name="icon camera" descr=""/>
          <p:cNvPicPr>
            <a:picLocks noChangeAspect="1"/>
          </p:cNvPicPr>
          <p:nvPr/>
        </p:nvPicPr>
        <p:blipFill>
          <a:blip r:embed="rId5"/>
          <a:stretch>
            <a:fillRect/>
          </a:stretch>
        </p:blipFill>
        <p:spPr>
          <a:xfrm>
            <a:off x="6208776" y="1243584"/>
            <a:ext cx="201168" cy="201168"/>
          </a:xfrm>
          <a:prstGeom prst="rect">
            <a:avLst/>
          </a:prstGeom>
        </p:spPr>
      </p:pic>
      <p:sp>
        <p:nvSpPr>
          <p:cNvPr id="150" name="SHOT label"/>
          <p:cNvSpPr txBox="1"/>
          <p:nvPr/>
        </p:nvSpPr>
        <p:spPr>
          <a:xfrm>
            <a:off x="6464808" y="1234440"/>
            <a:ext cx="2212848"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shots/s11-3-finding-drawer-r11.png</a:t>
            </a:r>
          </a:p>
        </p:txBody>
      </p:sp>
      <p:sp>
        <p:nvSpPr>
          <p:cNvPr id="151" name="SHOT text"/>
          <p:cNvSpPr txBox="1"/>
          <p:nvPr/>
        </p:nvSpPr>
        <p:spPr>
          <a:xfrm>
            <a:off x="6208776" y="1490472"/>
            <a:ext cx="2468880" cy="1045845"/>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3D hall, R11 finding drawer open. H-Z2 red where it crosses FB-03; §6.3.4 clause chip; both fix options with cost deltas.</a:t>
            </a:r>
          </a:p>
        </p:txBody>
      </p:sp>
      <p:sp>
        <p:nvSpPr>
          <p:cNvPr id="152" name="number 3"/>
          <p:cNvSpPr/>
          <p:nvPr/>
        </p:nvSpPr>
        <p:spPr>
          <a:xfrm>
            <a:off x="6099048" y="2691765"/>
            <a:ext cx="164592" cy="164592"/>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700" b="0" lang="en-GB">
                <a:solidFill>
                  <a:srgbClr val="FFFFFF"/>
                </a:solidFill>
                <a:latin typeface="Google Sans Flex SemiBold"/>
              </a:rPr>
              <a:t>3</a:t>
            </a:r>
          </a:p>
        </p:txBody>
      </p:sp>
      <p:sp>
        <p:nvSpPr>
          <p:cNvPr id="153" name="snapshot caption"/>
          <p:cNvSpPr txBox="1"/>
          <p:nvPr/>
        </p:nvSpPr>
        <p:spPr>
          <a:xfrm>
            <a:off x="6327648" y="2664333"/>
            <a:ext cx="2459736" cy="219456"/>
          </a:xfrm>
          <a:prstGeom prst="rect">
            <a:avLst/>
          </a:prstGeom>
          <a:noFill/>
        </p:spPr>
        <p:txBody>
          <a:bodyPr wrap="square" lIns="0" tIns="0" rIns="0" bIns="0" anchor="ctr">
            <a:noAutofit/>
          </a:bodyPr>
          <a:lstStyle/>
          <a:p>
            <a:pPr algn="l" marL="0" indent="0">
              <a:lnSpc>
                <a:spcPct val="100000"/>
              </a:lnSpc>
              <a:buNone/>
            </a:pPr>
            <a:r>
              <a:rPr sz="950" b="0" lang="en-GB">
                <a:solidFill>
                  <a:srgbClr val="202124"/>
                </a:solidFill>
                <a:latin typeface="Google Sans Flex Medium"/>
              </a:rPr>
              <a:t>Every finding cites its clause</a:t>
            </a:r>
          </a:p>
        </p:txBody>
      </p:sp>
      <p:sp>
        <p:nvSpPr>
          <p:cNvPr id="154" name="SHOT placeholder shots/s11-4-options-r15-swap.png"/>
          <p:cNvSpPr/>
          <p:nvPr/>
        </p:nvSpPr>
        <p:spPr>
          <a:xfrm>
            <a:off x="356616" y="2956941"/>
            <a:ext cx="2688336" cy="1512189"/>
          </a:xfrm>
          <a:prstGeom prst="roundRect">
            <a:avLst>
              <a:gd name="adj" fmla="val 3628"/>
            </a:avLst>
          </a:prstGeom>
          <a:solidFill>
            <a:srgbClr val="FFF4EC"/>
          </a:solidFill>
          <a:ln w="12700">
            <a:solidFill>
              <a:srgbClr val="C2410C"/>
            </a:solidFill>
            <a:prstDash val="dash"/>
          </a:ln>
        </p:spPr>
        <p:txBody>
          <a:bodyPr rtlCol="0" anchor="ctr" lIns="0" rIns="0" tIns="0" bIns="0"/>
          <a:lstStyle/>
          <a:p>
            <a:pPr algn="ctr"/>
          </a:p>
        </p:txBody>
      </p:sp>
      <p:pic>
        <p:nvPicPr>
          <p:cNvPr id="155" name="icon camera" descr=""/>
          <p:cNvPicPr>
            <a:picLocks noChangeAspect="1"/>
          </p:cNvPicPr>
          <p:nvPr/>
        </p:nvPicPr>
        <p:blipFill>
          <a:blip r:embed="rId5"/>
          <a:stretch>
            <a:fillRect/>
          </a:stretch>
        </p:blipFill>
        <p:spPr>
          <a:xfrm>
            <a:off x="466344" y="3066669"/>
            <a:ext cx="201168" cy="201168"/>
          </a:xfrm>
          <a:prstGeom prst="rect">
            <a:avLst/>
          </a:prstGeom>
        </p:spPr>
      </p:pic>
      <p:sp>
        <p:nvSpPr>
          <p:cNvPr id="156" name="SHOT label"/>
          <p:cNvSpPr txBox="1"/>
          <p:nvPr/>
        </p:nvSpPr>
        <p:spPr>
          <a:xfrm>
            <a:off x="722376" y="3057525"/>
            <a:ext cx="2212848"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shots/s11-4-options-r15-swap.png</a:t>
            </a:r>
          </a:p>
        </p:txBody>
      </p:sp>
      <p:sp>
        <p:nvSpPr>
          <p:cNvPr id="157" name="SHOT text"/>
          <p:cNvSpPr txBox="1"/>
          <p:nvPr/>
        </p:nvSpPr>
        <p:spPr>
          <a:xfrm>
            <a:off x="466344" y="3313557"/>
            <a:ext cx="2468880" cy="1045845"/>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Options tab, 2N card. "2.5 MVA · stock 0 · 98 wk &gt; 26 wk (§2.3)" struck through; "3.15 MVA · stock 6 · 38.07% / 76.15%"; fault level 65.42 kA.</a:t>
            </a:r>
          </a:p>
        </p:txBody>
      </p:sp>
      <p:sp>
        <p:nvSpPr>
          <p:cNvPr id="158" name="number 4"/>
          <p:cNvSpPr/>
          <p:nvPr/>
        </p:nvSpPr>
        <p:spPr>
          <a:xfrm>
            <a:off x="356616" y="4514850"/>
            <a:ext cx="164592" cy="164592"/>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700" b="0" lang="en-GB">
                <a:solidFill>
                  <a:srgbClr val="FFFFFF"/>
                </a:solidFill>
                <a:latin typeface="Google Sans Flex SemiBold"/>
              </a:rPr>
              <a:t>4</a:t>
            </a:r>
          </a:p>
        </p:txBody>
      </p:sp>
      <p:sp>
        <p:nvSpPr>
          <p:cNvPr id="159" name="snapshot caption"/>
          <p:cNvSpPr txBox="1"/>
          <p:nvPr/>
        </p:nvSpPr>
        <p:spPr>
          <a:xfrm>
            <a:off x="585216" y="4487418"/>
            <a:ext cx="2459736" cy="219456"/>
          </a:xfrm>
          <a:prstGeom prst="rect">
            <a:avLst/>
          </a:prstGeom>
          <a:noFill/>
        </p:spPr>
        <p:txBody>
          <a:bodyPr wrap="square" lIns="0" tIns="0" rIns="0" bIns="0" anchor="ctr">
            <a:noAutofit/>
          </a:bodyPr>
          <a:lstStyle/>
          <a:p>
            <a:pPr algn="l" marL="0" indent="0">
              <a:lnSpc>
                <a:spcPct val="100000"/>
              </a:lnSpc>
              <a:buNone/>
            </a:pPr>
            <a:r>
              <a:rPr sz="950" b="0" lang="en-GB">
                <a:solidFill>
                  <a:srgbClr val="202124"/>
                </a:solidFill>
                <a:latin typeface="Google Sans Flex Medium"/>
              </a:rPr>
              <a:t>98 weeks → ships from stock</a:t>
            </a:r>
          </a:p>
        </p:txBody>
      </p:sp>
      <p:sp>
        <p:nvSpPr>
          <p:cNvPr id="160" name="SHOT placeholder shots/s11-5-what-if-200kw.png"/>
          <p:cNvSpPr/>
          <p:nvPr/>
        </p:nvSpPr>
        <p:spPr>
          <a:xfrm>
            <a:off x="3227832" y="2956941"/>
            <a:ext cx="2688336" cy="1512189"/>
          </a:xfrm>
          <a:prstGeom prst="roundRect">
            <a:avLst>
              <a:gd name="adj" fmla="val 3628"/>
            </a:avLst>
          </a:prstGeom>
          <a:solidFill>
            <a:srgbClr val="FFF4EC"/>
          </a:solidFill>
          <a:ln w="12700">
            <a:solidFill>
              <a:srgbClr val="C2410C"/>
            </a:solidFill>
            <a:prstDash val="dash"/>
          </a:ln>
        </p:spPr>
        <p:txBody>
          <a:bodyPr rtlCol="0" anchor="ctr" lIns="0" rIns="0" tIns="0" bIns="0"/>
          <a:lstStyle/>
          <a:p>
            <a:pPr algn="ctr"/>
          </a:p>
        </p:txBody>
      </p:sp>
      <p:pic>
        <p:nvPicPr>
          <p:cNvPr id="161" name="icon camera" descr=""/>
          <p:cNvPicPr>
            <a:picLocks noChangeAspect="1"/>
          </p:cNvPicPr>
          <p:nvPr/>
        </p:nvPicPr>
        <p:blipFill>
          <a:blip r:embed="rId5"/>
          <a:stretch>
            <a:fillRect/>
          </a:stretch>
        </p:blipFill>
        <p:spPr>
          <a:xfrm>
            <a:off x="3337560" y="3066669"/>
            <a:ext cx="201168" cy="201168"/>
          </a:xfrm>
          <a:prstGeom prst="rect">
            <a:avLst/>
          </a:prstGeom>
        </p:spPr>
      </p:pic>
      <p:sp>
        <p:nvSpPr>
          <p:cNvPr id="162" name="SHOT label"/>
          <p:cNvSpPr txBox="1"/>
          <p:nvPr/>
        </p:nvSpPr>
        <p:spPr>
          <a:xfrm>
            <a:off x="3593592" y="3057525"/>
            <a:ext cx="2212848"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shots/s11-5-what-if-200kw.png</a:t>
            </a:r>
          </a:p>
        </p:txBody>
      </p:sp>
      <p:sp>
        <p:nvSpPr>
          <p:cNvPr id="163" name="SHOT text"/>
          <p:cNvSpPr txBox="1"/>
          <p:nvPr/>
        </p:nvSpPr>
        <p:spPr>
          <a:xfrm>
            <a:off x="3337560" y="3313557"/>
            <a:ext cx="2468880" cy="1045845"/>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What-if at 200 kW per rack. Impact chain lit rack → busway → board → transformer (power colour) and rack → zone → CDU (cooling colour); counters "60 findings · 18 impact chains".</a:t>
            </a:r>
          </a:p>
        </p:txBody>
      </p:sp>
      <p:sp>
        <p:nvSpPr>
          <p:cNvPr id="164" name="number 5"/>
          <p:cNvSpPr/>
          <p:nvPr/>
        </p:nvSpPr>
        <p:spPr>
          <a:xfrm>
            <a:off x="3227832" y="4514850"/>
            <a:ext cx="164592" cy="164592"/>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700" b="0" lang="en-GB">
                <a:solidFill>
                  <a:srgbClr val="FFFFFF"/>
                </a:solidFill>
                <a:latin typeface="Google Sans Flex SemiBold"/>
              </a:rPr>
              <a:t>5</a:t>
            </a:r>
          </a:p>
        </p:txBody>
      </p:sp>
      <p:sp>
        <p:nvSpPr>
          <p:cNvPr id="165" name="snapshot caption"/>
          <p:cNvSpPr txBox="1"/>
          <p:nvPr/>
        </p:nvSpPr>
        <p:spPr>
          <a:xfrm>
            <a:off x="3456432" y="4487418"/>
            <a:ext cx="2459736" cy="219456"/>
          </a:xfrm>
          <a:prstGeom prst="rect">
            <a:avLst/>
          </a:prstGeom>
          <a:noFill/>
        </p:spPr>
        <p:txBody>
          <a:bodyPr wrap="square" lIns="0" tIns="0" rIns="0" bIns="0" anchor="ctr">
            <a:noAutofit/>
          </a:bodyPr>
          <a:lstStyle/>
          <a:p>
            <a:pPr algn="l" marL="0" indent="0">
              <a:lnSpc>
                <a:spcPct val="100000"/>
              </a:lnSpc>
              <a:buNone/>
            </a:pPr>
            <a:r>
              <a:rPr sz="950" b="0" lang="en-GB">
                <a:solidFill>
                  <a:srgbClr val="202124"/>
                </a:solidFill>
                <a:latin typeface="Google Sans Flex Medium"/>
              </a:rPr>
              <a:t>200 kW per rack: 18 impact chains</a:t>
            </a:r>
          </a:p>
        </p:txBody>
      </p:sp>
      <p:sp>
        <p:nvSpPr>
          <p:cNvPr id="166" name="SHOT placeholder shots/s11-6-review-approved.png"/>
          <p:cNvSpPr/>
          <p:nvPr/>
        </p:nvSpPr>
        <p:spPr>
          <a:xfrm>
            <a:off x="6099048" y="2956941"/>
            <a:ext cx="2688336" cy="1512189"/>
          </a:xfrm>
          <a:prstGeom prst="roundRect">
            <a:avLst>
              <a:gd name="adj" fmla="val 3628"/>
            </a:avLst>
          </a:prstGeom>
          <a:solidFill>
            <a:srgbClr val="FFF4EC"/>
          </a:solidFill>
          <a:ln w="12700">
            <a:solidFill>
              <a:srgbClr val="C2410C"/>
            </a:solidFill>
            <a:prstDash val="dash"/>
          </a:ln>
        </p:spPr>
        <p:txBody>
          <a:bodyPr rtlCol="0" anchor="ctr" lIns="0" rIns="0" tIns="0" bIns="0"/>
          <a:lstStyle/>
          <a:p>
            <a:pPr algn="ctr"/>
          </a:p>
        </p:txBody>
      </p:sp>
      <p:pic>
        <p:nvPicPr>
          <p:cNvPr id="167" name="icon camera" descr=""/>
          <p:cNvPicPr>
            <a:picLocks noChangeAspect="1"/>
          </p:cNvPicPr>
          <p:nvPr/>
        </p:nvPicPr>
        <p:blipFill>
          <a:blip r:embed="rId5"/>
          <a:stretch>
            <a:fillRect/>
          </a:stretch>
        </p:blipFill>
        <p:spPr>
          <a:xfrm>
            <a:off x="6208776" y="3066669"/>
            <a:ext cx="201168" cy="201168"/>
          </a:xfrm>
          <a:prstGeom prst="rect">
            <a:avLst/>
          </a:prstGeom>
        </p:spPr>
      </p:pic>
      <p:sp>
        <p:nvSpPr>
          <p:cNvPr id="168" name="SHOT label"/>
          <p:cNvSpPr txBox="1"/>
          <p:nvPr/>
        </p:nvSpPr>
        <p:spPr>
          <a:xfrm>
            <a:off x="6464808" y="3057525"/>
            <a:ext cx="2212848"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shots/s11-6-review-approved.png</a:t>
            </a:r>
          </a:p>
        </p:txBody>
      </p:sp>
      <p:sp>
        <p:nvSpPr>
          <p:cNvPr id="169" name="SHOT text"/>
          <p:cNvSpPr txBox="1"/>
          <p:nvPr/>
        </p:nvSpPr>
        <p:spPr>
          <a:xfrm>
            <a:off x="6208776" y="3313557"/>
            <a:ext cx="2468880" cy="1045845"/>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Review page after approval. Diff, ledger with its "not checked" list, stamp "You (Demo Reviewer) · time · revision hash".</a:t>
            </a:r>
          </a:p>
        </p:txBody>
      </p:sp>
      <p:sp>
        <p:nvSpPr>
          <p:cNvPr id="170" name="number 6"/>
          <p:cNvSpPr/>
          <p:nvPr/>
        </p:nvSpPr>
        <p:spPr>
          <a:xfrm>
            <a:off x="6099048" y="4514850"/>
            <a:ext cx="164592" cy="164592"/>
          </a:xfrm>
          <a:prstGeom prst="ellipse">
            <a:avLst/>
          </a:prstGeom>
          <a:solidFill>
            <a:srgbClr val="202124"/>
          </a:solidFill>
          <a:ln>
            <a:noFill/>
          </a:ln>
        </p:spPr>
        <p:txBody>
          <a:bodyPr rtlCol="0" anchor="ctr" lIns="0" rIns="0" tIns="0" bIns="0" wrap="square">
            <a:noAutofit/>
          </a:bodyPr>
          <a:lstStyle/>
          <a:p>
            <a:pPr algn="ctr" marL="0" indent="0">
              <a:lnSpc>
                <a:spcPct val="100000"/>
              </a:lnSpc>
              <a:buNone/>
            </a:pPr>
            <a:r>
              <a:rPr sz="700" b="0" lang="en-GB">
                <a:solidFill>
                  <a:srgbClr val="FFFFFF"/>
                </a:solidFill>
                <a:latin typeface="Google Sans Flex SemiBold"/>
              </a:rPr>
              <a:t>6</a:t>
            </a:r>
          </a:p>
        </p:txBody>
      </p:sp>
      <p:sp>
        <p:nvSpPr>
          <p:cNvPr id="171" name="snapshot caption"/>
          <p:cNvSpPr txBox="1"/>
          <p:nvPr/>
        </p:nvSpPr>
        <p:spPr>
          <a:xfrm>
            <a:off x="6327648" y="4487418"/>
            <a:ext cx="2459736" cy="219456"/>
          </a:xfrm>
          <a:prstGeom prst="rect">
            <a:avLst/>
          </a:prstGeom>
          <a:noFill/>
        </p:spPr>
        <p:txBody>
          <a:bodyPr wrap="square" lIns="0" tIns="0" rIns="0" bIns="0" anchor="ctr">
            <a:noAutofit/>
          </a:bodyPr>
          <a:lstStyle/>
          <a:p>
            <a:pPr algn="l" marL="0" indent="0">
              <a:lnSpc>
                <a:spcPct val="100000"/>
              </a:lnSpc>
              <a:buNone/>
            </a:pPr>
            <a:r>
              <a:rPr sz="950" b="0" lang="en-GB">
                <a:solidFill>
                  <a:srgbClr val="202124"/>
                </a:solidFill>
                <a:latin typeface="Google Sans Flex Medium"/>
              </a:rPr>
              <a:t>Signed, with a revision hash</a:t>
            </a:r>
          </a:p>
        </p:txBody>
      </p:sp>
      <p:sp>
        <p:nvSpPr>
          <p:cNvPr id="172"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All companies, people and data shown are fictional. IEC-based, illustrative values, not for construction.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stat tile"/>
          <p:cNvSpPr/>
          <p:nvPr/>
        </p:nvSpPr>
        <p:spPr>
          <a:xfrm>
            <a:off x="356616" y="1133856"/>
            <a:ext cx="1874520" cy="1188720"/>
          </a:xfrm>
          <a:prstGeom prst="roundRect">
            <a:avLst>
              <a:gd name="adj" fmla="val 6153"/>
            </a:avLst>
          </a:prstGeom>
          <a:solidFill>
            <a:srgbClr val="F8F9FA"/>
          </a:solidFill>
          <a:ln w="9525">
            <a:solidFill>
              <a:srgbClr val="E8EAED"/>
            </a:solidFill>
          </a:ln>
        </p:spPr>
        <p:txBody>
          <a:bodyPr rtlCol="0" anchor="ctr" lIns="0" rIns="0" tIns="0" bIns="0"/>
          <a:lstStyle/>
          <a:p>
            <a:pPr algn="ctr"/>
          </a:p>
        </p:txBody>
      </p:sp>
      <p:pic>
        <p:nvPicPr>
          <p:cNvPr id="145" name="icon shield-check" descr=""/>
          <p:cNvPicPr>
            <a:picLocks noChangeAspect="1"/>
          </p:cNvPicPr>
          <p:nvPr/>
        </p:nvPicPr>
        <p:blipFill>
          <a:blip r:embed="rId5"/>
          <a:stretch>
            <a:fillRect/>
          </a:stretch>
        </p:blipFill>
        <p:spPr>
          <a:xfrm>
            <a:off x="1901952" y="1261872"/>
            <a:ext cx="201168" cy="201168"/>
          </a:xfrm>
          <a:prstGeom prst="rect">
            <a:avLst/>
          </a:prstGeom>
        </p:spPr>
      </p:pic>
      <p:sp>
        <p:nvSpPr>
          <p:cNvPr id="146" name="stat value"/>
          <p:cNvSpPr txBox="1"/>
          <p:nvPr/>
        </p:nvSpPr>
        <p:spPr>
          <a:xfrm>
            <a:off x="502920" y="1225296"/>
            <a:ext cx="1371600" cy="475488"/>
          </a:xfrm>
          <a:prstGeom prst="rect">
            <a:avLst/>
          </a:prstGeom>
          <a:noFill/>
        </p:spPr>
        <p:txBody>
          <a:bodyPr wrap="square" lIns="0" tIns="0" rIns="0" bIns="0" anchor="ctr">
            <a:noAutofit/>
          </a:bodyPr>
          <a:lstStyle/>
          <a:p>
            <a:pPr algn="l" marL="0" indent="0">
              <a:lnSpc>
                <a:spcPct val="100000"/>
              </a:lnSpc>
              <a:buNone/>
            </a:pPr>
            <a:r>
              <a:rPr sz="2400" b="0" lang="en-GB">
                <a:solidFill>
                  <a:srgbClr val="202124"/>
                </a:solidFill>
                <a:latin typeface="Google Sans Flex Medium"/>
              </a:rPr>
              <a:t>35/35</a:t>
            </a:r>
          </a:p>
        </p:txBody>
      </p:sp>
      <p:sp>
        <p:nvSpPr>
          <p:cNvPr id="147" name="stat label"/>
          <p:cNvSpPr txBox="1"/>
          <p:nvPr/>
        </p:nvSpPr>
        <p:spPr>
          <a:xfrm>
            <a:off x="502920" y="1737360"/>
            <a:ext cx="1600200" cy="530352"/>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seeded design faults caught, </a:t>
            </a:r>
            <a:r>
              <a:rPr sz="950" b="0" lang="en-GB">
                <a:solidFill>
                  <a:srgbClr val="3C4043"/>
                </a:solidFill>
                <a:latin typeface="Google Sans Flex SemiBold"/>
              </a:rPr>
              <a:t>0</a:t>
            </a:r>
            <a:r>
              <a:rPr sz="950" b="0" lang="en-GB">
                <a:solidFill>
                  <a:srgbClr val="3C4043"/>
                </a:solidFill>
                <a:latin typeface="Google Sans Flex"/>
              </a:rPr>
              <a:t> false positives</a:t>
            </a:r>
          </a:p>
        </p:txBody>
      </p:sp>
      <p:sp>
        <p:nvSpPr>
          <p:cNvPr id="148" name="stat tile"/>
          <p:cNvSpPr/>
          <p:nvPr/>
        </p:nvSpPr>
        <p:spPr>
          <a:xfrm>
            <a:off x="2368296" y="1133856"/>
            <a:ext cx="1874520" cy="1188720"/>
          </a:xfrm>
          <a:prstGeom prst="roundRect">
            <a:avLst>
              <a:gd name="adj" fmla="val 6153"/>
            </a:avLst>
          </a:prstGeom>
          <a:solidFill>
            <a:srgbClr val="F8F9FA"/>
          </a:solidFill>
          <a:ln w="9525">
            <a:solidFill>
              <a:srgbClr val="E8EAED"/>
            </a:solidFill>
          </a:ln>
        </p:spPr>
        <p:txBody>
          <a:bodyPr rtlCol="0" anchor="ctr" lIns="0" rIns="0" tIns="0" bIns="0"/>
          <a:lstStyle/>
          <a:p>
            <a:pPr algn="ctr"/>
          </a:p>
        </p:txBody>
      </p:sp>
      <p:pic>
        <p:nvPicPr>
          <p:cNvPr id="149" name="icon list-checks" descr=""/>
          <p:cNvPicPr>
            <a:picLocks noChangeAspect="1"/>
          </p:cNvPicPr>
          <p:nvPr/>
        </p:nvPicPr>
        <p:blipFill>
          <a:blip r:embed="rId6"/>
          <a:stretch>
            <a:fillRect/>
          </a:stretch>
        </p:blipFill>
        <p:spPr>
          <a:xfrm>
            <a:off x="3913632" y="1261872"/>
            <a:ext cx="201168" cy="201168"/>
          </a:xfrm>
          <a:prstGeom prst="rect">
            <a:avLst/>
          </a:prstGeom>
        </p:spPr>
      </p:pic>
      <p:sp>
        <p:nvSpPr>
          <p:cNvPr id="150" name="stat value"/>
          <p:cNvSpPr txBox="1"/>
          <p:nvPr/>
        </p:nvSpPr>
        <p:spPr>
          <a:xfrm>
            <a:off x="2514600" y="1225296"/>
            <a:ext cx="1371600" cy="475488"/>
          </a:xfrm>
          <a:prstGeom prst="rect">
            <a:avLst/>
          </a:prstGeom>
          <a:noFill/>
        </p:spPr>
        <p:txBody>
          <a:bodyPr wrap="square" lIns="0" tIns="0" rIns="0" bIns="0" anchor="ctr">
            <a:noAutofit/>
          </a:bodyPr>
          <a:lstStyle/>
          <a:p>
            <a:pPr algn="l" marL="0" indent="0">
              <a:lnSpc>
                <a:spcPct val="100000"/>
              </a:lnSpc>
              <a:buNone/>
            </a:pPr>
            <a:r>
              <a:rPr sz="2400" b="0" lang="en-GB">
                <a:solidFill>
                  <a:srgbClr val="202124"/>
                </a:solidFill>
                <a:latin typeface="Google Sans Flex Medium"/>
              </a:rPr>
              <a:t>149</a:t>
            </a:r>
          </a:p>
        </p:txBody>
      </p:sp>
      <p:sp>
        <p:nvSpPr>
          <p:cNvPr id="151" name="stat label"/>
          <p:cNvSpPr txBox="1"/>
          <p:nvPr/>
        </p:nvSpPr>
        <p:spPr>
          <a:xfrm>
            <a:off x="2514600" y="1737360"/>
            <a:ext cx="1600200" cy="530352"/>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first-pass checks: 147 pass, 2 fail, both fixed</a:t>
            </a:r>
          </a:p>
        </p:txBody>
      </p:sp>
      <p:sp>
        <p:nvSpPr>
          <p:cNvPr id="152" name="stat tile"/>
          <p:cNvSpPr/>
          <p:nvPr/>
        </p:nvSpPr>
        <p:spPr>
          <a:xfrm>
            <a:off x="4379976" y="1133856"/>
            <a:ext cx="1874520" cy="1188720"/>
          </a:xfrm>
          <a:prstGeom prst="roundRect">
            <a:avLst>
              <a:gd name="adj" fmla="val 6153"/>
            </a:avLst>
          </a:prstGeom>
          <a:solidFill>
            <a:srgbClr val="F8F9FA"/>
          </a:solidFill>
          <a:ln w="9525">
            <a:solidFill>
              <a:srgbClr val="E8EAED"/>
            </a:solidFill>
          </a:ln>
        </p:spPr>
        <p:txBody>
          <a:bodyPr rtlCol="0" anchor="ctr" lIns="0" rIns="0" tIns="0" bIns="0"/>
          <a:lstStyle/>
          <a:p>
            <a:pPr algn="ctr"/>
          </a:p>
        </p:txBody>
      </p:sp>
      <p:pic>
        <p:nvPicPr>
          <p:cNvPr id="153" name="icon timer" descr=""/>
          <p:cNvPicPr>
            <a:picLocks noChangeAspect="1"/>
          </p:cNvPicPr>
          <p:nvPr/>
        </p:nvPicPr>
        <p:blipFill>
          <a:blip r:embed="rId7"/>
          <a:stretch>
            <a:fillRect/>
          </a:stretch>
        </p:blipFill>
        <p:spPr>
          <a:xfrm>
            <a:off x="5925312" y="1261872"/>
            <a:ext cx="201168" cy="201168"/>
          </a:xfrm>
          <a:prstGeom prst="rect">
            <a:avLst/>
          </a:prstGeom>
        </p:spPr>
      </p:pic>
      <p:sp>
        <p:nvSpPr>
          <p:cNvPr id="154" name="stat value"/>
          <p:cNvSpPr txBox="1"/>
          <p:nvPr/>
        </p:nvSpPr>
        <p:spPr>
          <a:xfrm>
            <a:off x="4526280" y="1225296"/>
            <a:ext cx="1371600" cy="475488"/>
          </a:xfrm>
          <a:prstGeom prst="rect">
            <a:avLst/>
          </a:prstGeom>
          <a:noFill/>
        </p:spPr>
        <p:txBody>
          <a:bodyPr wrap="square" lIns="0" tIns="0" rIns="0" bIns="0" anchor="ctr">
            <a:noAutofit/>
          </a:bodyPr>
          <a:lstStyle/>
          <a:p>
            <a:pPr algn="l" marL="0" indent="0">
              <a:lnSpc>
                <a:spcPct val="100000"/>
              </a:lnSpc>
              <a:buNone/>
            </a:pPr>
            <a:r>
              <a:rPr sz="2400" b="0" lang="en-GB">
                <a:solidFill>
                  <a:srgbClr val="202124"/>
                </a:solidFill>
                <a:latin typeface="Google Sans Flex Medium"/>
              </a:rPr>
              <a:t>~8 ms</a:t>
            </a:r>
          </a:p>
        </p:txBody>
      </p:sp>
      <p:sp>
        <p:nvSpPr>
          <p:cNvPr id="155" name="stat label"/>
          <p:cNvSpPr txBox="1"/>
          <p:nvPr/>
        </p:nvSpPr>
        <p:spPr>
          <a:xfrm>
            <a:off x="4526280" y="1737360"/>
            <a:ext cx="1600200" cy="530352"/>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per what-if after warm-up</a:t>
            </a:r>
          </a:p>
        </p:txBody>
      </p:sp>
      <p:sp>
        <p:nvSpPr>
          <p:cNvPr id="156" name="stat tile"/>
          <p:cNvSpPr/>
          <p:nvPr/>
        </p:nvSpPr>
        <p:spPr>
          <a:xfrm>
            <a:off x="6391656" y="1133856"/>
            <a:ext cx="2395728" cy="1188720"/>
          </a:xfrm>
          <a:prstGeom prst="roundRect">
            <a:avLst>
              <a:gd name="adj" fmla="val 6153"/>
            </a:avLst>
          </a:prstGeom>
          <a:solidFill>
            <a:srgbClr val="F8F9FA"/>
          </a:solidFill>
          <a:ln w="9525">
            <a:solidFill>
              <a:srgbClr val="E8EAED"/>
            </a:solidFill>
          </a:ln>
        </p:spPr>
        <p:txBody>
          <a:bodyPr rtlCol="0" anchor="ctr" lIns="0" rIns="0" tIns="0" bIns="0"/>
          <a:lstStyle/>
          <a:p>
            <a:pPr algn="ctr"/>
          </a:p>
        </p:txBody>
      </p:sp>
      <p:pic>
        <p:nvPicPr>
          <p:cNvPr id="157" name="icon fingerprint" descr=""/>
          <p:cNvPicPr>
            <a:picLocks noChangeAspect="1"/>
          </p:cNvPicPr>
          <p:nvPr/>
        </p:nvPicPr>
        <p:blipFill>
          <a:blip r:embed="rId8"/>
          <a:stretch>
            <a:fillRect/>
          </a:stretch>
        </p:blipFill>
        <p:spPr>
          <a:xfrm>
            <a:off x="8458200" y="1261872"/>
            <a:ext cx="201168" cy="201168"/>
          </a:xfrm>
          <a:prstGeom prst="rect">
            <a:avLst/>
          </a:prstGeom>
        </p:spPr>
      </p:pic>
      <p:sp>
        <p:nvSpPr>
          <p:cNvPr id="158" name="stat value"/>
          <p:cNvSpPr txBox="1"/>
          <p:nvPr/>
        </p:nvSpPr>
        <p:spPr>
          <a:xfrm>
            <a:off x="6537960" y="1225296"/>
            <a:ext cx="1892808" cy="475488"/>
          </a:xfrm>
          <a:prstGeom prst="rect">
            <a:avLst/>
          </a:prstGeom>
          <a:noFill/>
        </p:spPr>
        <p:txBody>
          <a:bodyPr wrap="square" lIns="0" tIns="0" rIns="0" bIns="0" anchor="ctr">
            <a:noAutofit/>
          </a:bodyPr>
          <a:lstStyle/>
          <a:p>
            <a:pPr algn="l" marL="0" indent="0">
              <a:lnSpc>
                <a:spcPct val="100000"/>
              </a:lnSpc>
              <a:buNone/>
            </a:pPr>
            <a:r>
              <a:rPr sz="2300" b="0" lang="en-GB">
                <a:solidFill>
                  <a:srgbClr val="202124"/>
                </a:solidFill>
                <a:latin typeface="Google Sans Flex Medium"/>
              </a:rPr>
              <a:t>Byte-identical</a:t>
            </a:r>
          </a:p>
        </p:txBody>
      </p:sp>
      <p:sp>
        <p:nvSpPr>
          <p:cNvPr id="159" name="stat label"/>
          <p:cNvSpPr txBox="1"/>
          <p:nvPr/>
        </p:nvSpPr>
        <p:spPr>
          <a:xfrm>
            <a:off x="6537960" y="1737360"/>
            <a:ext cx="2121408" cy="530352"/>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output across Python hash seeds</a:t>
            </a:r>
          </a:p>
        </p:txBody>
      </p:sp>
      <p:sp>
        <p:nvSpPr>
          <p:cNvPr id="160" name="SHOT placeholder shots/s12-compliance-matrix-first-pass.png"/>
          <p:cNvSpPr/>
          <p:nvPr/>
        </p:nvSpPr>
        <p:spPr>
          <a:xfrm>
            <a:off x="356616" y="2487168"/>
            <a:ext cx="3950208" cy="2221992"/>
          </a:xfrm>
          <a:prstGeom prst="roundRect">
            <a:avLst>
              <a:gd name="adj" fmla="val 2469"/>
            </a:avLst>
          </a:prstGeom>
          <a:solidFill>
            <a:srgbClr val="FFF4EC"/>
          </a:solidFill>
          <a:ln w="12700">
            <a:solidFill>
              <a:srgbClr val="C2410C"/>
            </a:solidFill>
            <a:prstDash val="dash"/>
          </a:ln>
        </p:spPr>
        <p:txBody>
          <a:bodyPr rtlCol="0" anchor="ctr" lIns="0" rIns="0" tIns="0" bIns="0"/>
          <a:lstStyle/>
          <a:p>
            <a:pPr algn="ctr"/>
          </a:p>
        </p:txBody>
      </p:sp>
      <p:pic>
        <p:nvPicPr>
          <p:cNvPr id="161" name="icon camera" descr=""/>
          <p:cNvPicPr>
            <a:picLocks noChangeAspect="1"/>
          </p:cNvPicPr>
          <p:nvPr/>
        </p:nvPicPr>
        <p:blipFill>
          <a:blip r:embed="rId9"/>
          <a:stretch>
            <a:fillRect/>
          </a:stretch>
        </p:blipFill>
        <p:spPr>
          <a:xfrm>
            <a:off x="466344" y="2596896"/>
            <a:ext cx="201168" cy="201168"/>
          </a:xfrm>
          <a:prstGeom prst="rect">
            <a:avLst/>
          </a:prstGeom>
        </p:spPr>
      </p:pic>
      <p:sp>
        <p:nvSpPr>
          <p:cNvPr id="162" name="SHOT label"/>
          <p:cNvSpPr txBox="1"/>
          <p:nvPr/>
        </p:nvSpPr>
        <p:spPr>
          <a:xfrm>
            <a:off x="722376" y="2587752"/>
            <a:ext cx="3474720"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shots/s12-compliance-matrix-first-pass.png</a:t>
            </a:r>
          </a:p>
        </p:txBody>
      </p:sp>
      <p:sp>
        <p:nvSpPr>
          <p:cNvPr id="163" name="SHOT text"/>
          <p:cNvSpPr txBox="1"/>
          <p:nvPr/>
        </p:nvSpPr>
        <p:spPr>
          <a:xfrm>
            <a:off x="466344" y="2843784"/>
            <a:ext cx="3730752" cy="1755648"/>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Compliance matrix at the end of the first pass. Counter "149 checks · 147 pass · 2 fail" with the two red cells (R05 FA-01, R11 H-Z2).</a:t>
            </a:r>
          </a:p>
        </p:txBody>
      </p:sp>
      <p:sp>
        <p:nvSpPr>
          <p:cNvPr id="164" name="estimate tile"/>
          <p:cNvSpPr/>
          <p:nvPr/>
        </p:nvSpPr>
        <p:spPr>
          <a:xfrm>
            <a:off x="4489704" y="2487168"/>
            <a:ext cx="4297680" cy="2221992"/>
          </a:xfrm>
          <a:prstGeom prst="roundRect">
            <a:avLst>
              <a:gd name="adj" fmla="val 3292"/>
            </a:avLst>
          </a:prstGeom>
          <a:solidFill>
            <a:srgbClr val="FFFFFF"/>
          </a:solidFill>
          <a:ln w="9525">
            <a:solidFill>
              <a:srgbClr val="DADCE0"/>
            </a:solidFill>
            <a:prstDash val="dash"/>
          </a:ln>
        </p:spPr>
        <p:txBody>
          <a:bodyPr rtlCol="0" anchor="ctr" lIns="0" rIns="0" tIns="0" bIns="0"/>
          <a:lstStyle/>
          <a:p>
            <a:pPr algn="ctr"/>
          </a:p>
        </p:txBody>
      </p:sp>
      <p:sp>
        <p:nvSpPr>
          <p:cNvPr id="165" name="estimate tag"/>
          <p:cNvSpPr/>
          <p:nvPr/>
        </p:nvSpPr>
        <p:spPr>
          <a:xfrm>
            <a:off x="4672584" y="2670048"/>
            <a:ext cx="786384" cy="201168"/>
          </a:xfrm>
          <a:prstGeom prst="roundRect">
            <a:avLst>
              <a:gd name="adj" fmla="val 50000"/>
            </a:avLst>
          </a:prstGeom>
          <a:solidFill>
            <a:srgbClr val="F1F3F4"/>
          </a:solidFill>
          <a:ln>
            <a:noFill/>
          </a:ln>
        </p:spPr>
        <p:txBody>
          <a:bodyPr rtlCol="0" anchor="ctr" lIns="0" rIns="0" tIns="0" bIns="0" wrap="square">
            <a:noAutofit/>
          </a:bodyPr>
          <a:lstStyle/>
          <a:p>
            <a:pPr algn="ctr" marL="0" indent="0">
              <a:lnSpc>
                <a:spcPct val="100000"/>
              </a:lnSpc>
              <a:buNone/>
            </a:pPr>
            <a:r>
              <a:rPr sz="700" b="0" lang="en-GB" spc="60">
                <a:solidFill>
                  <a:srgbClr val="5F6368"/>
                </a:solidFill>
                <a:latin typeface="Roboto Mono"/>
              </a:rPr>
              <a:t>ESTIMATE</a:t>
            </a:r>
          </a:p>
        </p:txBody>
      </p:sp>
      <p:pic>
        <p:nvPicPr>
          <p:cNvPr id="166" name="icon clock" descr=""/>
          <p:cNvPicPr>
            <a:picLocks noChangeAspect="1"/>
          </p:cNvPicPr>
          <p:nvPr/>
        </p:nvPicPr>
        <p:blipFill>
          <a:blip r:embed="rId10"/>
          <a:stretch>
            <a:fillRect/>
          </a:stretch>
        </p:blipFill>
        <p:spPr>
          <a:xfrm>
            <a:off x="8385048" y="2670048"/>
            <a:ext cx="201168" cy="201168"/>
          </a:xfrm>
          <a:prstGeom prst="rect">
            <a:avLst/>
          </a:prstGeom>
        </p:spPr>
      </p:pic>
      <p:sp>
        <p:nvSpPr>
          <p:cNvPr id="167" name="estimate value"/>
          <p:cNvSpPr txBox="1"/>
          <p:nvPr/>
        </p:nvSpPr>
        <p:spPr>
          <a:xfrm>
            <a:off x="4672584" y="3054096"/>
            <a:ext cx="3931920" cy="457200"/>
          </a:xfrm>
          <a:prstGeom prst="rect">
            <a:avLst/>
          </a:prstGeom>
          <a:noFill/>
        </p:spPr>
        <p:txBody>
          <a:bodyPr wrap="square" lIns="0" tIns="0" rIns="0" bIns="0" anchor="ctr">
            <a:noAutofit/>
          </a:bodyPr>
          <a:lstStyle/>
          <a:p>
            <a:pPr algn="l" marL="0" indent="0">
              <a:lnSpc>
                <a:spcPct val="100000"/>
              </a:lnSpc>
              <a:buNone/>
            </a:pPr>
            <a:r>
              <a:rPr sz="2400" b="0" lang="en-GB">
                <a:solidFill>
                  <a:srgbClr val="202124"/>
                </a:solidFill>
                <a:latin typeface="Google Sans Flex Medium"/>
              </a:rPr>
              <a:t>~10 engineer-hours</a:t>
            </a:r>
          </a:p>
        </p:txBody>
      </p:sp>
      <p:sp>
        <p:nvSpPr>
          <p:cNvPr id="168" name="estimate label"/>
          <p:cNvSpPr txBox="1"/>
          <p:nvPr/>
        </p:nvSpPr>
        <p:spPr>
          <a:xfrm>
            <a:off x="4672584" y="3547872"/>
            <a:ext cx="3931920" cy="1033272"/>
          </a:xfrm>
          <a:prstGeom prst="rect">
            <a:avLst/>
          </a:prstGeom>
          <a:noFill/>
        </p:spPr>
        <p:txBody>
          <a:bodyPr wrap="square" lIns="0" tIns="0" rIns="0" bIns="0" anchor="t">
            <a:noAutofit/>
          </a:bodyPr>
          <a:lstStyle/>
          <a:p>
            <a:pPr algn="l" marL="0" indent="0">
              <a:lnSpc>
                <a:spcPct val="100000"/>
              </a:lnSpc>
              <a:buNone/>
            </a:pPr>
            <a:r>
              <a:rPr sz="1100" b="0" lang="en-GB">
                <a:solidFill>
                  <a:srgbClr val="3C4043"/>
                </a:solidFill>
                <a:latin typeface="Google Sans Flex"/>
              </a:rPr>
              <a:t>saved per change iteration (basis in notes)</a:t>
            </a:r>
          </a:p>
        </p:txBody>
      </p:sp>
      <p:sp>
        <p:nvSpPr>
          <p:cNvPr id="169"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IEC-based, illustrative values, not for construction.</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admap column"/>
          <p:cNvSpPr/>
          <p:nvPr/>
        </p:nvSpPr>
        <p:spPr>
          <a:xfrm>
            <a:off x="356616" y="1133856"/>
            <a:ext cx="2688336" cy="1097280"/>
          </a:xfrm>
          <a:prstGeom prst="roundRect">
            <a:avLst>
              <a:gd name="adj" fmla="val 6666"/>
            </a:avLst>
          </a:prstGeom>
          <a:solidFill>
            <a:srgbClr val="F8F9FA"/>
          </a:solidFill>
          <a:ln w="9525">
            <a:solidFill>
              <a:srgbClr val="E8EAED"/>
            </a:solidFill>
          </a:ln>
        </p:spPr>
        <p:txBody>
          <a:bodyPr rtlCol="0" anchor="ctr" lIns="0" rIns="0" tIns="0" bIns="0"/>
          <a:lstStyle/>
          <a:p>
            <a:pPr algn="ctr"/>
          </a:p>
        </p:txBody>
      </p:sp>
      <p:pic>
        <p:nvPicPr>
          <p:cNvPr id="153" name="icon map-pin" descr=""/>
          <p:cNvPicPr>
            <a:picLocks noChangeAspect="1"/>
          </p:cNvPicPr>
          <p:nvPr/>
        </p:nvPicPr>
        <p:blipFill>
          <a:blip r:embed="rId5"/>
          <a:stretch>
            <a:fillRect/>
          </a:stretch>
        </p:blipFill>
        <p:spPr>
          <a:xfrm>
            <a:off x="502920" y="1271016"/>
            <a:ext cx="182880" cy="182880"/>
          </a:xfrm>
          <a:prstGeom prst="rect">
            <a:avLst/>
          </a:prstGeom>
        </p:spPr>
      </p:pic>
      <p:sp>
        <p:nvSpPr>
          <p:cNvPr id="154" name="roadmap label"/>
          <p:cNvSpPr txBox="1"/>
          <p:nvPr/>
        </p:nvSpPr>
        <p:spPr>
          <a:xfrm>
            <a:off x="758952" y="1243584"/>
            <a:ext cx="2139696" cy="237744"/>
          </a:xfrm>
          <a:prstGeom prst="rect">
            <a:avLst/>
          </a:prstGeom>
          <a:noFill/>
        </p:spPr>
        <p:txBody>
          <a:bodyPr wrap="square" lIns="0" tIns="0" rIns="0" bIns="0" anchor="ctr">
            <a:noAutofit/>
          </a:bodyPr>
          <a:lstStyle/>
          <a:p>
            <a:pPr algn="l" marL="0" indent="0">
              <a:lnSpc>
                <a:spcPct val="100000"/>
              </a:lnSpc>
              <a:buNone/>
            </a:pPr>
            <a:r>
              <a:rPr sz="1100" b="0" lang="en-GB">
                <a:solidFill>
                  <a:srgbClr val="202124"/>
                </a:solidFill>
                <a:latin typeface="Google Sans Flex SemiBold"/>
              </a:rPr>
              <a:t>Now</a:t>
            </a:r>
          </a:p>
        </p:txBody>
      </p:sp>
      <p:sp>
        <p:nvSpPr>
          <p:cNvPr id="155" name="roadmap text"/>
          <p:cNvSpPr txBox="1"/>
          <p:nvPr/>
        </p:nvSpPr>
        <p:spPr>
          <a:xfrm>
            <a:off x="502920" y="1536192"/>
            <a:ext cx="2395728" cy="640080"/>
          </a:xfrm>
          <a:prstGeom prst="rect">
            <a:avLst/>
          </a:prstGeom>
          <a:noFill/>
        </p:spPr>
        <p:txBody>
          <a:bodyPr wrap="square" lIns="0" tIns="0" rIns="0" bIns="0" anchor="t">
            <a:noAutofit/>
          </a:bodyPr>
          <a:lstStyle/>
          <a:p>
            <a:pPr algn="l" marL="0" indent="0">
              <a:lnSpc>
                <a:spcPct val="100000"/>
              </a:lnSpc>
              <a:buNone/>
            </a:pPr>
            <a:r>
              <a:rPr sz="1050" b="0" lang="en-GB">
                <a:solidFill>
                  <a:srgbClr val="3C4043"/>
                </a:solidFill>
                <a:latin typeface="Google Sans Flex"/>
              </a:rPr>
              <a:t>AI data hall, plus thin Grid (132 kV line) and Solar packs on the same engine.</a:t>
            </a:r>
          </a:p>
        </p:txBody>
      </p:sp>
      <p:sp>
        <p:nvSpPr>
          <p:cNvPr id="156" name="roadmap column"/>
          <p:cNvSpPr/>
          <p:nvPr/>
        </p:nvSpPr>
        <p:spPr>
          <a:xfrm>
            <a:off x="3227832" y="1133856"/>
            <a:ext cx="2688336" cy="1097280"/>
          </a:xfrm>
          <a:prstGeom prst="roundRect">
            <a:avLst>
              <a:gd name="adj" fmla="val 6666"/>
            </a:avLst>
          </a:prstGeom>
          <a:solidFill>
            <a:srgbClr val="F8F9FA"/>
          </a:solidFill>
          <a:ln w="9525">
            <a:solidFill>
              <a:srgbClr val="E8EAED"/>
            </a:solidFill>
          </a:ln>
        </p:spPr>
        <p:txBody>
          <a:bodyPr rtlCol="0" anchor="ctr" lIns="0" rIns="0" tIns="0" bIns="0"/>
          <a:lstStyle/>
          <a:p>
            <a:pPr algn="ctr"/>
          </a:p>
        </p:txBody>
      </p:sp>
      <p:pic>
        <p:nvPicPr>
          <p:cNvPr id="157" name="icon rocket" descr=""/>
          <p:cNvPicPr>
            <a:picLocks noChangeAspect="1"/>
          </p:cNvPicPr>
          <p:nvPr/>
        </p:nvPicPr>
        <p:blipFill>
          <a:blip r:embed="rId6"/>
          <a:stretch>
            <a:fillRect/>
          </a:stretch>
        </p:blipFill>
        <p:spPr>
          <a:xfrm>
            <a:off x="3374136" y="1271016"/>
            <a:ext cx="182880" cy="182880"/>
          </a:xfrm>
          <a:prstGeom prst="rect">
            <a:avLst/>
          </a:prstGeom>
        </p:spPr>
      </p:pic>
      <p:sp>
        <p:nvSpPr>
          <p:cNvPr id="158" name="roadmap label"/>
          <p:cNvSpPr txBox="1"/>
          <p:nvPr/>
        </p:nvSpPr>
        <p:spPr>
          <a:xfrm>
            <a:off x="3630168" y="1243584"/>
            <a:ext cx="2139696" cy="237744"/>
          </a:xfrm>
          <a:prstGeom prst="rect">
            <a:avLst/>
          </a:prstGeom>
          <a:noFill/>
        </p:spPr>
        <p:txBody>
          <a:bodyPr wrap="square" lIns="0" tIns="0" rIns="0" bIns="0" anchor="ctr">
            <a:noAutofit/>
          </a:bodyPr>
          <a:lstStyle/>
          <a:p>
            <a:pPr algn="l" marL="0" indent="0">
              <a:lnSpc>
                <a:spcPct val="100000"/>
              </a:lnSpc>
              <a:buNone/>
            </a:pPr>
            <a:r>
              <a:rPr sz="1100" b="0" lang="en-GB">
                <a:solidFill>
                  <a:srgbClr val="202124"/>
                </a:solidFill>
                <a:latin typeface="Google Sans Flex SemiBold"/>
              </a:rPr>
              <a:t>Next</a:t>
            </a:r>
          </a:p>
        </p:txBody>
      </p:sp>
      <p:sp>
        <p:nvSpPr>
          <p:cNvPr id="159" name="roadmap text"/>
          <p:cNvSpPr txBox="1"/>
          <p:nvPr/>
        </p:nvSpPr>
        <p:spPr>
          <a:xfrm>
            <a:off x="3374136" y="1536192"/>
            <a:ext cx="2395728" cy="640080"/>
          </a:xfrm>
          <a:prstGeom prst="rect">
            <a:avLst/>
          </a:prstGeom>
          <a:noFill/>
        </p:spPr>
        <p:txBody>
          <a:bodyPr wrap="square" lIns="0" tIns="0" rIns="0" bIns="0" anchor="t">
            <a:noAutofit/>
          </a:bodyPr>
          <a:lstStyle/>
          <a:p>
            <a:pPr algn="l" marL="0" indent="0">
              <a:lnSpc>
                <a:spcPct val="100000"/>
              </a:lnSpc>
              <a:buNone/>
            </a:pPr>
            <a:r>
              <a:rPr sz="1050" b="0" lang="en-GB">
                <a:solidFill>
                  <a:srgbClr val="3C4043"/>
                </a:solidFill>
                <a:latin typeface="Google Sans Flex"/>
              </a:rPr>
              <a:t>Real SAP and Salesforce connectors, Revit/IFC round-trip, PLM, 800 VDC architectures, on-prem Gemma.</a:t>
            </a:r>
          </a:p>
        </p:txBody>
      </p:sp>
      <p:sp>
        <p:nvSpPr>
          <p:cNvPr id="160" name="roadmap column"/>
          <p:cNvSpPr/>
          <p:nvPr/>
        </p:nvSpPr>
        <p:spPr>
          <a:xfrm>
            <a:off x="6099048" y="1133856"/>
            <a:ext cx="2688336" cy="1097280"/>
          </a:xfrm>
          <a:prstGeom prst="roundRect">
            <a:avLst>
              <a:gd name="adj" fmla="val 6666"/>
            </a:avLst>
          </a:prstGeom>
          <a:solidFill>
            <a:srgbClr val="F8F9FA"/>
          </a:solidFill>
          <a:ln w="9525">
            <a:solidFill>
              <a:srgbClr val="E8EAED"/>
            </a:solidFill>
          </a:ln>
        </p:spPr>
        <p:txBody>
          <a:bodyPr rtlCol="0" anchor="ctr" lIns="0" rIns="0" tIns="0" bIns="0"/>
          <a:lstStyle/>
          <a:p>
            <a:pPr algn="ctr"/>
          </a:p>
        </p:txBody>
      </p:sp>
      <p:pic>
        <p:nvPicPr>
          <p:cNvPr id="161" name="icon network" descr=""/>
          <p:cNvPicPr>
            <a:picLocks noChangeAspect="1"/>
          </p:cNvPicPr>
          <p:nvPr/>
        </p:nvPicPr>
        <p:blipFill>
          <a:blip r:embed="rId7"/>
          <a:stretch>
            <a:fillRect/>
          </a:stretch>
        </p:blipFill>
        <p:spPr>
          <a:xfrm>
            <a:off x="6245352" y="1271016"/>
            <a:ext cx="182880" cy="182880"/>
          </a:xfrm>
          <a:prstGeom prst="rect">
            <a:avLst/>
          </a:prstGeom>
        </p:spPr>
      </p:pic>
      <p:sp>
        <p:nvSpPr>
          <p:cNvPr id="162" name="roadmap label"/>
          <p:cNvSpPr txBox="1"/>
          <p:nvPr/>
        </p:nvSpPr>
        <p:spPr>
          <a:xfrm>
            <a:off x="6501384" y="1243584"/>
            <a:ext cx="2139696" cy="237744"/>
          </a:xfrm>
          <a:prstGeom prst="rect">
            <a:avLst/>
          </a:prstGeom>
          <a:noFill/>
        </p:spPr>
        <p:txBody>
          <a:bodyPr wrap="square" lIns="0" tIns="0" rIns="0" bIns="0" anchor="ctr">
            <a:noAutofit/>
          </a:bodyPr>
          <a:lstStyle/>
          <a:p>
            <a:pPr algn="l" marL="0" indent="0">
              <a:lnSpc>
                <a:spcPct val="100000"/>
              </a:lnSpc>
              <a:buNone/>
            </a:pPr>
            <a:r>
              <a:rPr sz="1100" b="0" lang="en-GB">
                <a:solidFill>
                  <a:srgbClr val="202124"/>
                </a:solidFill>
                <a:latin typeface="Google Sans Flex SemiBold"/>
              </a:rPr>
              <a:t>Smart engineering</a:t>
            </a:r>
          </a:p>
        </p:txBody>
      </p:sp>
      <p:sp>
        <p:nvSpPr>
          <p:cNvPr id="163" name="roadmap text"/>
          <p:cNvSpPr txBox="1"/>
          <p:nvPr/>
        </p:nvSpPr>
        <p:spPr>
          <a:xfrm>
            <a:off x="6245352" y="1536192"/>
            <a:ext cx="2395728" cy="640080"/>
          </a:xfrm>
          <a:prstGeom prst="rect">
            <a:avLst/>
          </a:prstGeom>
          <a:noFill/>
        </p:spPr>
        <p:txBody>
          <a:bodyPr wrap="square" lIns="0" tIns="0" rIns="0" bIns="0" anchor="t">
            <a:noAutofit/>
          </a:bodyPr>
          <a:lstStyle/>
          <a:p>
            <a:pPr algn="l" marL="0" indent="0">
              <a:lnSpc>
                <a:spcPct val="100000"/>
              </a:lnSpc>
              <a:buNone/>
            </a:pPr>
            <a:r>
              <a:rPr sz="1050" b="0" lang="en-GB">
                <a:solidFill>
                  <a:srgbClr val="3C4043"/>
                </a:solidFill>
                <a:latin typeface="Google Sans Flex"/>
              </a:rPr>
              <a:t>One thread from tender to procurement.</a:t>
            </a:r>
          </a:p>
        </p:txBody>
      </p:sp>
      <p:sp>
        <p:nvSpPr>
          <p:cNvPr id="164" name="SHOT placeholder shots/s13-grid-pack.png"/>
          <p:cNvSpPr/>
          <p:nvPr/>
        </p:nvSpPr>
        <p:spPr>
          <a:xfrm>
            <a:off x="356616" y="2395728"/>
            <a:ext cx="4123944" cy="2313432"/>
          </a:xfrm>
          <a:prstGeom prst="roundRect">
            <a:avLst>
              <a:gd name="adj" fmla="val 2371"/>
            </a:avLst>
          </a:prstGeom>
          <a:solidFill>
            <a:srgbClr val="FFF4EC"/>
          </a:solidFill>
          <a:ln w="12700">
            <a:solidFill>
              <a:srgbClr val="C2410C"/>
            </a:solidFill>
            <a:prstDash val="dash"/>
          </a:ln>
        </p:spPr>
        <p:txBody>
          <a:bodyPr rtlCol="0" anchor="ctr" lIns="0" rIns="0" tIns="0" bIns="0"/>
          <a:lstStyle/>
          <a:p>
            <a:pPr algn="ctr"/>
          </a:p>
        </p:txBody>
      </p:sp>
      <p:pic>
        <p:nvPicPr>
          <p:cNvPr id="165" name="icon camera" descr=""/>
          <p:cNvPicPr>
            <a:picLocks noChangeAspect="1"/>
          </p:cNvPicPr>
          <p:nvPr/>
        </p:nvPicPr>
        <p:blipFill>
          <a:blip r:embed="rId8"/>
          <a:stretch>
            <a:fillRect/>
          </a:stretch>
        </p:blipFill>
        <p:spPr>
          <a:xfrm>
            <a:off x="466344" y="2505456"/>
            <a:ext cx="201168" cy="201168"/>
          </a:xfrm>
          <a:prstGeom prst="rect">
            <a:avLst/>
          </a:prstGeom>
        </p:spPr>
      </p:pic>
      <p:sp>
        <p:nvSpPr>
          <p:cNvPr id="166" name="SHOT label"/>
          <p:cNvSpPr txBox="1"/>
          <p:nvPr/>
        </p:nvSpPr>
        <p:spPr>
          <a:xfrm>
            <a:off x="722376" y="2496312"/>
            <a:ext cx="3648456"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shots/s13-grid-pack.png</a:t>
            </a:r>
          </a:p>
        </p:txBody>
      </p:sp>
      <p:sp>
        <p:nvSpPr>
          <p:cNvPr id="167" name="SHOT text"/>
          <p:cNvSpPr txBox="1"/>
          <p:nvPr/>
        </p:nvSpPr>
        <p:spPr>
          <a:xfrm>
            <a:off x="466344" y="2752344"/>
            <a:ext cx="3904488" cy="1847088"/>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Grid pack. 132 kV line on the static map, conductor comparison cards, mini SLD.</a:t>
            </a:r>
          </a:p>
        </p:txBody>
      </p:sp>
      <p:sp>
        <p:nvSpPr>
          <p:cNvPr id="168" name="SHOT placeholder shots/s13-solar-pack.png"/>
          <p:cNvSpPr/>
          <p:nvPr/>
        </p:nvSpPr>
        <p:spPr>
          <a:xfrm>
            <a:off x="4663440" y="2395728"/>
            <a:ext cx="4123944" cy="2313432"/>
          </a:xfrm>
          <a:prstGeom prst="roundRect">
            <a:avLst>
              <a:gd name="adj" fmla="val 2371"/>
            </a:avLst>
          </a:prstGeom>
          <a:solidFill>
            <a:srgbClr val="FFF4EC"/>
          </a:solidFill>
          <a:ln w="12700">
            <a:solidFill>
              <a:srgbClr val="C2410C"/>
            </a:solidFill>
            <a:prstDash val="dash"/>
          </a:ln>
        </p:spPr>
        <p:txBody>
          <a:bodyPr rtlCol="0" anchor="ctr" lIns="0" rIns="0" tIns="0" bIns="0"/>
          <a:lstStyle/>
          <a:p>
            <a:pPr algn="ctr"/>
          </a:p>
        </p:txBody>
      </p:sp>
      <p:pic>
        <p:nvPicPr>
          <p:cNvPr id="169" name="icon camera" descr=""/>
          <p:cNvPicPr>
            <a:picLocks noChangeAspect="1"/>
          </p:cNvPicPr>
          <p:nvPr/>
        </p:nvPicPr>
        <p:blipFill>
          <a:blip r:embed="rId8"/>
          <a:stretch>
            <a:fillRect/>
          </a:stretch>
        </p:blipFill>
        <p:spPr>
          <a:xfrm>
            <a:off x="4773168" y="2505456"/>
            <a:ext cx="201168" cy="201168"/>
          </a:xfrm>
          <a:prstGeom prst="rect">
            <a:avLst/>
          </a:prstGeom>
        </p:spPr>
      </p:pic>
      <p:sp>
        <p:nvSpPr>
          <p:cNvPr id="170" name="SHOT label"/>
          <p:cNvSpPr txBox="1"/>
          <p:nvPr/>
        </p:nvSpPr>
        <p:spPr>
          <a:xfrm>
            <a:off x="5029200" y="2496312"/>
            <a:ext cx="3648456" cy="237744"/>
          </a:xfrm>
          <a:prstGeom prst="rect">
            <a:avLst/>
          </a:prstGeom>
          <a:noFill/>
        </p:spPr>
        <p:txBody>
          <a:bodyPr wrap="square" lIns="0" tIns="0" rIns="0" bIns="0" anchor="ctr">
            <a:noAutofit/>
          </a:bodyPr>
          <a:lstStyle/>
          <a:p>
            <a:pPr algn="l" marL="0" indent="0">
              <a:lnSpc>
                <a:spcPct val="100000"/>
              </a:lnSpc>
              <a:buNone/>
            </a:pPr>
            <a:r>
              <a:rPr sz="700" b="0" lang="en-GB">
                <a:solidFill>
                  <a:srgbClr val="9A3412"/>
                </a:solidFill>
                <a:latin typeface="Roboto Mono"/>
              </a:rPr>
              <a:t>SCREENSHOT  shots/s13-solar-pack.png</a:t>
            </a:r>
          </a:p>
        </p:txBody>
      </p:sp>
      <p:sp>
        <p:nvSpPr>
          <p:cNvPr id="171" name="SHOT text"/>
          <p:cNvSpPr txBox="1"/>
          <p:nvPr/>
        </p:nvSpPr>
        <p:spPr>
          <a:xfrm>
            <a:off x="4773168" y="2752344"/>
            <a:ext cx="3904488" cy="1847088"/>
          </a:xfrm>
          <a:prstGeom prst="rect">
            <a:avLst/>
          </a:prstGeom>
          <a:noFill/>
        </p:spPr>
        <p:txBody>
          <a:bodyPr wrap="square" lIns="0" tIns="0" rIns="0" bIns="0" anchor="t">
            <a:noAutofit/>
          </a:bodyPr>
          <a:lstStyle/>
          <a:p>
            <a:pPr algn="l" marL="0" indent="0">
              <a:lnSpc>
                <a:spcPct val="100000"/>
              </a:lnSpc>
              <a:buNone/>
            </a:pPr>
            <a:r>
              <a:rPr sz="800" b="0" lang="en-GB">
                <a:solidFill>
                  <a:srgbClr val="9A3412"/>
                </a:solidFill>
                <a:latin typeface="Google Sans Flex"/>
              </a:rPr>
              <a:t>Solar pack. Field layout with tables; card "STR-28 recommended · 327 tables · ~5,036 kWp · DC/AC 1.26 · clear-sky yield ~2,639 kWh/kWp (clear-sky only)".</a:t>
            </a:r>
          </a:p>
        </p:txBody>
      </p:sp>
      <p:sp>
        <p:nvSpPr>
          <p:cNvPr id="172" name="footer small print"/>
          <p:cNvSpPr txBox="1"/>
          <p:nvPr/>
        </p:nvSpPr>
        <p:spPr>
          <a:xfrm>
            <a:off x="356616" y="4800600"/>
            <a:ext cx="8430768" cy="182880"/>
          </a:xfrm>
          <a:prstGeom prst="rect">
            <a:avLst/>
          </a:prstGeom>
          <a:noFill/>
        </p:spPr>
        <p:txBody>
          <a:bodyPr wrap="square" lIns="0" tIns="0" rIns="0" bIns="0" anchor="b">
            <a:noAutofit/>
          </a:bodyPr>
          <a:lstStyle/>
          <a:p>
            <a:pPr algn="l" marL="0" indent="0">
              <a:lnSpc>
                <a:spcPct val="100000"/>
              </a:lnSpc>
              <a:buNone/>
            </a:pPr>
            <a:r>
              <a:rPr sz="750" b="0" lang="en-GB">
                <a:solidFill>
                  <a:srgbClr val="80868B"/>
                </a:solidFill>
                <a:latin typeface="Google Sans Flex"/>
              </a:rPr>
              <a:t>IEC-based, illustrative values, not for construction. Demo data is fictional.</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56235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p:txBody>
      </p:sp>
      <p:sp>
        <p:nvSpPr>
          <p:cNvPr id="160" name="link row"/>
          <p:cNvSpPr/>
          <p:nvPr/>
        </p:nvSpPr>
        <p:spPr>
          <a:xfrm>
            <a:off x="356616" y="1133856"/>
            <a:ext cx="8430768" cy="1078992"/>
          </a:xfrm>
          <a:prstGeom prst="roundRect">
            <a:avLst>
              <a:gd name="adj" fmla="val 6779"/>
            </a:avLst>
          </a:prstGeom>
          <a:solidFill>
            <a:srgbClr val="F8F9FA"/>
          </a:solidFill>
          <a:ln w="9525">
            <a:solidFill>
              <a:srgbClr val="E8EAED"/>
            </a:solidFill>
          </a:ln>
        </p:spPr>
        <p:txBody>
          <a:bodyPr rtlCol="0" anchor="ctr" lIns="0" rIns="0" tIns="0" bIns="0"/>
          <a:lstStyle/>
          <a:p>
            <a:pPr algn="ctr"/>
          </a:p>
        </p:txBody>
      </p:sp>
      <p:sp>
        <p:nvSpPr>
          <p:cNvPr id="161" name="badge github"/>
          <p:cNvSpPr/>
          <p:nvPr/>
        </p:nvSpPr>
        <p:spPr>
          <a:xfrm>
            <a:off x="557784" y="1444752"/>
            <a:ext cx="457200" cy="457200"/>
          </a:xfrm>
          <a:prstGeom prst="ellipse">
            <a:avLst/>
          </a:prstGeom>
          <a:solidFill>
            <a:srgbClr val="FFFFFF"/>
          </a:solidFill>
          <a:ln>
            <a:noFill/>
          </a:ln>
        </p:spPr>
        <p:txBody>
          <a:bodyPr rtlCol="0" anchor="ctr" lIns="0" rIns="0" tIns="0" bIns="0"/>
          <a:lstStyle/>
          <a:p>
            <a:pPr algn="ctr"/>
          </a:p>
        </p:txBody>
      </p:sp>
      <p:pic>
        <p:nvPicPr>
          <p:cNvPr id="162" name="icon github" descr=""/>
          <p:cNvPicPr>
            <a:picLocks noChangeAspect="1"/>
          </p:cNvPicPr>
          <p:nvPr/>
        </p:nvPicPr>
        <p:blipFill>
          <a:blip r:embed="rId5"/>
          <a:stretch>
            <a:fillRect/>
          </a:stretch>
        </p:blipFill>
        <p:spPr>
          <a:xfrm>
            <a:off x="667512" y="1554480"/>
            <a:ext cx="237744" cy="237744"/>
          </a:xfrm>
          <a:prstGeom prst="rect">
            <a:avLst/>
          </a:prstGeom>
        </p:spPr>
      </p:pic>
      <p:sp>
        <p:nvSpPr>
          <p:cNvPr id="163" name="template prompt"/>
          <p:cNvSpPr txBox="1"/>
          <p:nvPr/>
        </p:nvSpPr>
        <p:spPr>
          <a:xfrm>
            <a:off x="1225296" y="1280160"/>
            <a:ext cx="6035040" cy="219456"/>
          </a:xfrm>
          <a:prstGeom prst="rect">
            <a:avLst/>
          </a:prstGeom>
          <a:noFill/>
        </p:spPr>
        <p:txBody>
          <a:bodyPr wrap="square" lIns="0" tIns="0" rIns="0" bIns="0" anchor="t">
            <a:noAutofit/>
          </a:bodyPr>
          <a:lstStyle/>
          <a:p>
            <a:pPr algn="l" marL="0" indent="0">
              <a:lnSpc>
                <a:spcPct val="100000"/>
              </a:lnSpc>
              <a:buNone/>
            </a:pPr>
            <a:r>
              <a:rPr sz="1050" b="0" lang="en-GB">
                <a:solidFill>
                  <a:srgbClr val="5F6368"/>
                </a:solidFill>
                <a:latin typeface="Google Sans Flex Medium"/>
              </a:rPr>
              <a:t>GitHub Public Repository</a:t>
            </a:r>
          </a:p>
        </p:txBody>
      </p:sp>
      <p:sp>
        <p:nvSpPr>
          <p:cNvPr id="164" name="link url"/>
          <p:cNvSpPr txBox="1"/>
          <p:nvPr/>
        </p:nvSpPr>
        <p:spPr>
          <a:xfrm>
            <a:off x="1225296" y="1517904"/>
            <a:ext cx="6172200" cy="329184"/>
          </a:xfrm>
          <a:prstGeom prst="rect">
            <a:avLst/>
          </a:prstGeom>
          <a:noFill/>
        </p:spPr>
        <p:txBody>
          <a:bodyPr wrap="square" lIns="0" tIns="0" rIns="0" bIns="0" anchor="ctr">
            <a:noAutofit/>
          </a:bodyPr>
          <a:lstStyle/>
          <a:p>
            <a:pPr algn="l" marL="0" indent="0">
              <a:lnSpc>
                <a:spcPct val="100000"/>
              </a:lnSpc>
              <a:buNone/>
            </a:pPr>
            <a:r>
              <a:rPr sz="1500" b="0" lang="en-GB">
                <a:solidFill>
                  <a:srgbClr val="202124"/>
                </a:solidFill>
                <a:latin typeface="Roboto Mono"/>
                <a:hlinkClick r:id="rId6">
                  <a:extLst>
                    <a:ext uri="{A12FA001-AC4F-418D-AE19-62706E023703}">
                      <ahyp:hlinkClr val="tx"/>
                    </a:ext>
                  </a:extLst>
                </a:hlinkClick>
              </a:rPr>
              <a:t>https://github.com/mehular0ra/kirchhoff</a:t>
            </a:r>
          </a:p>
        </p:txBody>
      </p:sp>
      <p:pic>
        <p:nvPicPr>
          <p:cNvPr id="165" name="QR GitHub Public Repository" descr="image.png"/>
          <p:cNvPicPr>
            <a:picLocks noChangeAspect="1"/>
          </p:cNvPicPr>
          <p:nvPr/>
        </p:nvPicPr>
        <p:blipFill>
          <a:blip r:embed="rId7"/>
          <a:stretch>
            <a:fillRect/>
          </a:stretch>
        </p:blipFill>
        <p:spPr>
          <a:xfrm>
            <a:off x="7781544" y="1261872"/>
            <a:ext cx="822960" cy="822960"/>
          </a:xfrm>
          <a:prstGeom prst="rect">
            <a:avLst/>
          </a:prstGeom>
        </p:spPr>
      </p:pic>
      <p:sp>
        <p:nvSpPr>
          <p:cNvPr id="166" name="link row"/>
          <p:cNvSpPr/>
          <p:nvPr/>
        </p:nvSpPr>
        <p:spPr>
          <a:xfrm>
            <a:off x="356616" y="2322576"/>
            <a:ext cx="8430768" cy="1078992"/>
          </a:xfrm>
          <a:prstGeom prst="roundRect">
            <a:avLst>
              <a:gd name="adj" fmla="val 6779"/>
            </a:avLst>
          </a:prstGeom>
          <a:solidFill>
            <a:srgbClr val="F8F9FA"/>
          </a:solidFill>
          <a:ln w="9525">
            <a:solidFill>
              <a:srgbClr val="E8EAED"/>
            </a:solidFill>
          </a:ln>
        </p:spPr>
        <p:txBody>
          <a:bodyPr rtlCol="0" anchor="ctr" lIns="0" rIns="0" tIns="0" bIns="0"/>
          <a:lstStyle/>
          <a:p>
            <a:pPr algn="ctr"/>
          </a:p>
        </p:txBody>
      </p:sp>
      <p:sp>
        <p:nvSpPr>
          <p:cNvPr id="167" name="badge circle-play"/>
          <p:cNvSpPr/>
          <p:nvPr/>
        </p:nvSpPr>
        <p:spPr>
          <a:xfrm>
            <a:off x="557784" y="2633472"/>
            <a:ext cx="457200" cy="457200"/>
          </a:xfrm>
          <a:prstGeom prst="ellipse">
            <a:avLst/>
          </a:prstGeom>
          <a:solidFill>
            <a:srgbClr val="FFFFFF"/>
          </a:solidFill>
          <a:ln>
            <a:noFill/>
          </a:ln>
        </p:spPr>
        <p:txBody>
          <a:bodyPr rtlCol="0" anchor="ctr" lIns="0" rIns="0" tIns="0" bIns="0"/>
          <a:lstStyle/>
          <a:p>
            <a:pPr algn="ctr"/>
          </a:p>
        </p:txBody>
      </p:sp>
      <p:pic>
        <p:nvPicPr>
          <p:cNvPr id="168" name="icon circle-play" descr=""/>
          <p:cNvPicPr>
            <a:picLocks noChangeAspect="1"/>
          </p:cNvPicPr>
          <p:nvPr/>
        </p:nvPicPr>
        <p:blipFill>
          <a:blip r:embed="rId8"/>
          <a:stretch>
            <a:fillRect/>
          </a:stretch>
        </p:blipFill>
        <p:spPr>
          <a:xfrm>
            <a:off x="667512" y="2743200"/>
            <a:ext cx="237744" cy="237744"/>
          </a:xfrm>
          <a:prstGeom prst="rect">
            <a:avLst/>
          </a:prstGeom>
        </p:spPr>
      </p:pic>
      <p:sp>
        <p:nvSpPr>
          <p:cNvPr id="169" name="template prompt"/>
          <p:cNvSpPr txBox="1"/>
          <p:nvPr/>
        </p:nvSpPr>
        <p:spPr>
          <a:xfrm>
            <a:off x="1225296" y="2468880"/>
            <a:ext cx="6035040" cy="219456"/>
          </a:xfrm>
          <a:prstGeom prst="rect">
            <a:avLst/>
          </a:prstGeom>
          <a:noFill/>
        </p:spPr>
        <p:txBody>
          <a:bodyPr wrap="square" lIns="0" tIns="0" rIns="0" bIns="0" anchor="t">
            <a:noAutofit/>
          </a:bodyPr>
          <a:lstStyle/>
          <a:p>
            <a:pPr algn="l" marL="0" indent="0">
              <a:lnSpc>
                <a:spcPct val="100000"/>
              </a:lnSpc>
              <a:buNone/>
            </a:pPr>
            <a:r>
              <a:rPr sz="1050" b="0" lang="en-GB">
                <a:solidFill>
                  <a:srgbClr val="5F6368"/>
                </a:solidFill>
                <a:latin typeface="Google Sans Flex Medium"/>
              </a:rPr>
              <a:t>Demo Video Link (3 Minutes)</a:t>
            </a:r>
          </a:p>
        </p:txBody>
      </p:sp>
      <p:sp>
        <p:nvSpPr>
          <p:cNvPr id="170" name="link url"/>
          <p:cNvSpPr txBox="1"/>
          <p:nvPr/>
        </p:nvSpPr>
        <p:spPr>
          <a:xfrm>
            <a:off x="1225296" y="2706624"/>
            <a:ext cx="6172200" cy="329184"/>
          </a:xfrm>
          <a:prstGeom prst="rect">
            <a:avLst/>
          </a:prstGeom>
          <a:noFill/>
        </p:spPr>
        <p:txBody>
          <a:bodyPr wrap="square" lIns="0" tIns="0" rIns="0" bIns="0" anchor="ctr">
            <a:noAutofit/>
          </a:bodyPr>
          <a:lstStyle/>
          <a:p>
            <a:pPr algn="l" marL="0" indent="0">
              <a:lnSpc>
                <a:spcPct val="100000"/>
              </a:lnSpc>
              <a:buNone/>
            </a:pPr>
            <a:r>
              <a:rPr sz="1500" b="0" lang="en-GB">
                <a:solidFill>
                  <a:srgbClr val="5C3D00"/>
                </a:solidFill>
                <a:highlight>
                  <a:srgbClr val="FFE58F"/>
                </a:highlight>
                <a:latin typeface="Google Sans Flex SemiBold"/>
              </a:rPr>
              <a:t>[TBD: video URL]</a:t>
            </a:r>
          </a:p>
        </p:txBody>
      </p:sp>
      <p:sp>
        <p:nvSpPr>
          <p:cNvPr id="171" name="link note"/>
          <p:cNvSpPr txBox="1"/>
          <p:nvPr/>
        </p:nvSpPr>
        <p:spPr>
          <a:xfrm>
            <a:off x="1225296" y="3054096"/>
            <a:ext cx="6172200" cy="219456"/>
          </a:xfrm>
          <a:prstGeom prst="rect">
            <a:avLst/>
          </a:prstGeom>
          <a:noFill/>
        </p:spPr>
        <p:txBody>
          <a:bodyPr wrap="square" lIns="0" tIns="0" rIns="0" bIns="0" anchor="t">
            <a:noAutofit/>
          </a:bodyPr>
          <a:lstStyle/>
          <a:p>
            <a:pPr algn="l" marL="0" indent="0">
              <a:lnSpc>
                <a:spcPct val="100000"/>
              </a:lnSpc>
              <a:buNone/>
            </a:pPr>
            <a:r>
              <a:rPr sz="950" b="0" lang="en-GB">
                <a:solidFill>
                  <a:srgbClr val="5F6368"/>
                </a:solidFill>
                <a:latin typeface="Google Sans Flex"/>
              </a:rPr>
              <a:t>(runs 2:45)</a:t>
            </a:r>
          </a:p>
        </p:txBody>
      </p:sp>
      <p:sp>
        <p:nvSpPr>
          <p:cNvPr id="172" name="QR placeholder"/>
          <p:cNvSpPr/>
          <p:nvPr/>
        </p:nvSpPr>
        <p:spPr>
          <a:xfrm>
            <a:off x="7781544" y="2450592"/>
            <a:ext cx="822960" cy="822960"/>
          </a:xfrm>
          <a:prstGeom prst="roundRect">
            <a:avLst>
              <a:gd name="adj" fmla="val 6666"/>
            </a:avLst>
          </a:prstGeom>
          <a:solidFill>
            <a:srgbClr val="FFFFFF"/>
          </a:solidFill>
          <a:ln w="12700">
            <a:solidFill>
              <a:srgbClr val="C2410C"/>
            </a:solidFill>
            <a:prstDash val="dash"/>
          </a:ln>
        </p:spPr>
        <p:txBody>
          <a:bodyPr rtlCol="0" anchor="ctr" lIns="54864" rIns="54864" tIns="36576" bIns="36576" wrap="square">
            <a:noAutofit/>
          </a:bodyPr>
          <a:lstStyle/>
          <a:p>
            <a:pPr algn="ctr" marL="0" indent="0">
              <a:lnSpc>
                <a:spcPct val="100000"/>
              </a:lnSpc>
              <a:buNone/>
            </a:pPr>
            <a:r>
              <a:rPr sz="650" b="0" lang="en-GB">
                <a:solidFill>
                  <a:srgbClr val="9A3412"/>
                </a:solidFill>
                <a:latin typeface="Google Sans Flex"/>
              </a:rPr>
              <a:t>QR appears</a:t>
            </a:r>
          </a:p>
          <a:p>
            <a:pPr algn="ctr" marL="0" indent="0">
              <a:lnSpc>
                <a:spcPct val="100000"/>
              </a:lnSpc>
              <a:buNone/>
            </a:pPr>
            <a:r>
              <a:rPr sz="650" b="0" lang="en-GB">
                <a:solidFill>
                  <a:srgbClr val="9A3412"/>
                </a:solidFill>
                <a:latin typeface="Google Sans Flex"/>
              </a:rPr>
              <a:t>when the</a:t>
            </a:r>
          </a:p>
          <a:p>
            <a:pPr algn="ctr" marL="0" indent="0">
              <a:lnSpc>
                <a:spcPct val="100000"/>
              </a:lnSpc>
              <a:buNone/>
            </a:pPr>
            <a:r>
              <a:rPr sz="650" b="0" lang="en-GB">
                <a:solidFill>
                  <a:srgbClr val="9A3412"/>
                </a:solidFill>
                <a:latin typeface="Google Sans Flex"/>
              </a:rPr>
              <a:t>URL is filled</a:t>
            </a:r>
          </a:p>
        </p:txBody>
      </p:sp>
      <p:sp>
        <p:nvSpPr>
          <p:cNvPr id="173" name="link row"/>
          <p:cNvSpPr/>
          <p:nvPr/>
        </p:nvSpPr>
        <p:spPr>
          <a:xfrm>
            <a:off x="356616" y="3511296"/>
            <a:ext cx="8430768" cy="1078992"/>
          </a:xfrm>
          <a:prstGeom prst="roundRect">
            <a:avLst>
              <a:gd name="adj" fmla="val 6779"/>
            </a:avLst>
          </a:prstGeom>
          <a:solidFill>
            <a:srgbClr val="F8F9FA"/>
          </a:solidFill>
          <a:ln w="9525">
            <a:solidFill>
              <a:srgbClr val="E8EAED"/>
            </a:solidFill>
          </a:ln>
        </p:spPr>
        <p:txBody>
          <a:bodyPr rtlCol="0" anchor="ctr" lIns="0" rIns="0" tIns="0" bIns="0"/>
          <a:lstStyle/>
          <a:p>
            <a:pPr algn="ctr"/>
          </a:p>
        </p:txBody>
      </p:sp>
      <p:sp>
        <p:nvSpPr>
          <p:cNvPr id="174" name="badge globe"/>
          <p:cNvSpPr/>
          <p:nvPr/>
        </p:nvSpPr>
        <p:spPr>
          <a:xfrm>
            <a:off x="557784" y="3822192"/>
            <a:ext cx="457200" cy="457200"/>
          </a:xfrm>
          <a:prstGeom prst="ellipse">
            <a:avLst/>
          </a:prstGeom>
          <a:solidFill>
            <a:srgbClr val="FFFFFF"/>
          </a:solidFill>
          <a:ln>
            <a:noFill/>
          </a:ln>
        </p:spPr>
        <p:txBody>
          <a:bodyPr rtlCol="0" anchor="ctr" lIns="0" rIns="0" tIns="0" bIns="0"/>
          <a:lstStyle/>
          <a:p>
            <a:pPr algn="ctr"/>
          </a:p>
        </p:txBody>
      </p:sp>
      <p:pic>
        <p:nvPicPr>
          <p:cNvPr id="175" name="icon globe" descr=""/>
          <p:cNvPicPr>
            <a:picLocks noChangeAspect="1"/>
          </p:cNvPicPr>
          <p:nvPr/>
        </p:nvPicPr>
        <p:blipFill>
          <a:blip r:embed="rId9"/>
          <a:stretch>
            <a:fillRect/>
          </a:stretch>
        </p:blipFill>
        <p:spPr>
          <a:xfrm>
            <a:off x="667512" y="3931920"/>
            <a:ext cx="237744" cy="237744"/>
          </a:xfrm>
          <a:prstGeom prst="rect">
            <a:avLst/>
          </a:prstGeom>
        </p:spPr>
      </p:pic>
      <p:sp>
        <p:nvSpPr>
          <p:cNvPr id="176" name="template prompt"/>
          <p:cNvSpPr txBox="1"/>
          <p:nvPr/>
        </p:nvSpPr>
        <p:spPr>
          <a:xfrm>
            <a:off x="1225296" y="3657600"/>
            <a:ext cx="6035040" cy="219456"/>
          </a:xfrm>
          <a:prstGeom prst="rect">
            <a:avLst/>
          </a:prstGeom>
          <a:noFill/>
        </p:spPr>
        <p:txBody>
          <a:bodyPr wrap="square" lIns="0" tIns="0" rIns="0" bIns="0" anchor="t">
            <a:noAutofit/>
          </a:bodyPr>
          <a:lstStyle/>
          <a:p>
            <a:pPr algn="l" marL="0" indent="0">
              <a:lnSpc>
                <a:spcPct val="100000"/>
              </a:lnSpc>
              <a:buNone/>
            </a:pPr>
            <a:r>
              <a:rPr sz="1050" b="0" lang="en-GB">
                <a:solidFill>
                  <a:srgbClr val="5F6368"/>
                </a:solidFill>
                <a:latin typeface="Google Sans Flex Medium"/>
              </a:rPr>
              <a:t>Final Product Link</a:t>
            </a:r>
          </a:p>
        </p:txBody>
      </p:sp>
      <p:sp>
        <p:nvSpPr>
          <p:cNvPr id="177" name="link url"/>
          <p:cNvSpPr txBox="1"/>
          <p:nvPr/>
        </p:nvSpPr>
        <p:spPr>
          <a:xfrm>
            <a:off x="1225296" y="3895344"/>
            <a:ext cx="6172200" cy="329184"/>
          </a:xfrm>
          <a:prstGeom prst="rect">
            <a:avLst/>
          </a:prstGeom>
          <a:noFill/>
        </p:spPr>
        <p:txBody>
          <a:bodyPr wrap="square" lIns="0" tIns="0" rIns="0" bIns="0" anchor="ctr">
            <a:noAutofit/>
          </a:bodyPr>
          <a:lstStyle/>
          <a:p>
            <a:pPr algn="l" marL="0" indent="0">
              <a:lnSpc>
                <a:spcPct val="100000"/>
              </a:lnSpc>
              <a:buNone/>
            </a:pPr>
            <a:r>
              <a:rPr sz="1500" b="0" lang="en-GB">
                <a:solidFill>
                  <a:srgbClr val="202124"/>
                </a:solidFill>
                <a:latin typeface="Roboto Mono"/>
                <a:hlinkClick r:id="rId10">
                  <a:extLst>
                    <a:ext uri="{A12FA001-AC4F-418D-AE19-62706E023703}">
                      <ahyp:hlinkClr val="tx"/>
                    </a:ext>
                  </a:extLst>
                </a:hlinkClick>
              </a:rPr>
              <a:t>https://kirchhoff.web.app</a:t>
            </a:r>
          </a:p>
        </p:txBody>
      </p:sp>
      <p:sp>
        <p:nvSpPr>
          <p:cNvPr id="178" name="link note"/>
          <p:cNvSpPr txBox="1"/>
          <p:nvPr/>
        </p:nvSpPr>
        <p:spPr>
          <a:xfrm>
            <a:off x="1225296" y="4242816"/>
            <a:ext cx="6172200" cy="219456"/>
          </a:xfrm>
          <a:prstGeom prst="rect">
            <a:avLst/>
          </a:prstGeom>
          <a:noFill/>
        </p:spPr>
        <p:txBody>
          <a:bodyPr wrap="square" lIns="0" tIns="0" rIns="0" bIns="0" anchor="t">
            <a:noAutofit/>
          </a:bodyPr>
          <a:lstStyle/>
          <a:p>
            <a:pPr algn="l" marL="0" indent="0">
              <a:lnSpc>
                <a:spcPct val="100000"/>
              </a:lnSpc>
              <a:buNone/>
            </a:pPr>
            <a:r>
              <a:rPr sz="950" b="0" lang="en-GB">
                <a:solidFill>
                  <a:srgbClr val="5F6368"/>
                </a:solidFill>
                <a:latin typeface="Google Sans Flex"/>
              </a:rPr>
              <a:t>(no login: "Enter the demo workspace" opens the guided tour)</a:t>
            </a:r>
          </a:p>
        </p:txBody>
      </p:sp>
      <p:pic>
        <p:nvPicPr>
          <p:cNvPr id="179" name="QR Final Product Link" descr="image.png"/>
          <p:cNvPicPr>
            <a:picLocks noChangeAspect="1"/>
          </p:cNvPicPr>
          <p:nvPr/>
        </p:nvPicPr>
        <p:blipFill>
          <a:blip r:embed="rId11"/>
          <a:stretch>
            <a:fillRect/>
          </a:stretch>
        </p:blipFill>
        <p:spPr>
          <a:xfrm>
            <a:off x="7781544" y="3639312"/>
            <a:ext cx="822960" cy="822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heading"/>
          <p:cNvSpPr txBox="1"/>
          <p:nvPr/>
        </p:nvSpPr>
        <p:spPr>
          <a:xfrm>
            <a:off x="265350" y="663825"/>
            <a:ext cx="8943000" cy="561900"/>
          </a:xfrm>
          <a:prstGeom prst="rect">
            <a:avLst/>
          </a:prstGeom>
          <a:noFill/>
        </p:spPr>
        <p:txBody>
          <a:bodyPr wrap="square" lIns="91425" rIns="91425" tIns="91425" bIns="91425">
            <a:spAutoFit/>
          </a:bodyPr>
          <a:lstStyle/>
          <a:p>
            <a:r>
              <a:rPr sz="1600">
                <a:solidFill>
                  <a:srgbClr val="000000"/>
                </a:solidFill>
                <a:latin typeface="Google Sans Flex Medium"/>
              </a:rPr>
              <a:t>Team Ordinal</a:t>
            </a:r>
          </a:p>
        </p:txBody>
      </p:sp>
      <p:sp>
        <p:nvSpPr>
          <p:cNvPr id="168" name="person card"/>
          <p:cNvSpPr/>
          <p:nvPr/>
        </p:nvSpPr>
        <p:spPr>
          <a:xfrm>
            <a:off x="356616" y="1133856"/>
            <a:ext cx="4078224" cy="1920240"/>
          </a:xfrm>
          <a:prstGeom prst="roundRect">
            <a:avLst>
              <a:gd name="adj" fmla="val 3809"/>
            </a:avLst>
          </a:prstGeom>
          <a:solidFill>
            <a:srgbClr val="F8F9FA"/>
          </a:solidFill>
          <a:ln w="9525">
            <a:solidFill>
              <a:srgbClr val="E8EAED"/>
            </a:solidFill>
          </a:ln>
        </p:spPr>
        <p:txBody>
          <a:bodyPr rtlCol="0" anchor="ctr" lIns="0" rIns="0" tIns="0" bIns="0"/>
          <a:lstStyle/>
          <a:p>
            <a:pPr algn="ctr"/>
          </a:p>
        </p:txBody>
      </p:sp>
      <p:pic>
        <p:nvPicPr>
          <p:cNvPr id="169" name="photo Mehul Arora" descr="mehul.jpg"/>
          <p:cNvPicPr>
            <a:picLocks noChangeAspect="1"/>
          </p:cNvPicPr>
          <p:nvPr/>
        </p:nvPicPr>
        <p:blipFill>
          <a:blip r:embed="rId5"/>
          <a:srcRect/>
          <a:stretch>
            <a:fillRect/>
          </a:stretch>
        </p:blipFill>
        <p:spPr>
          <a:xfrm>
            <a:off x="585216" y="1408176"/>
            <a:ext cx="1371600" cy="1371600"/>
          </a:xfrm>
          <a:prstGeom prst="ellipse">
            <a:avLst/>
          </a:prstGeom>
        </p:spPr>
      </p:pic>
      <p:sp>
        <p:nvSpPr>
          <p:cNvPr id="170" name="person name"/>
          <p:cNvSpPr txBox="1"/>
          <p:nvPr/>
        </p:nvSpPr>
        <p:spPr>
          <a:xfrm>
            <a:off x="2231136" y="1517904"/>
            <a:ext cx="2020824" cy="384048"/>
          </a:xfrm>
          <a:prstGeom prst="rect">
            <a:avLst/>
          </a:prstGeom>
          <a:noFill/>
        </p:spPr>
        <p:txBody>
          <a:bodyPr wrap="square" lIns="0" tIns="0" rIns="0" bIns="0" anchor="ctr">
            <a:noAutofit/>
          </a:bodyPr>
          <a:lstStyle/>
          <a:p>
            <a:pPr algn="l" marL="0" indent="0">
              <a:lnSpc>
                <a:spcPct val="100000"/>
              </a:lnSpc>
              <a:buNone/>
            </a:pPr>
            <a:r>
              <a:rPr sz="1800" b="0" lang="en-GB">
                <a:solidFill>
                  <a:srgbClr val="202124"/>
                </a:solidFill>
                <a:latin typeface="Google Sans Flex SemiBold"/>
              </a:rPr>
              <a:t>Mehul Arora</a:t>
            </a:r>
          </a:p>
        </p:txBody>
      </p:sp>
      <p:sp>
        <p:nvSpPr>
          <p:cNvPr id="171" name="person role"/>
          <p:cNvSpPr txBox="1"/>
          <p:nvPr/>
        </p:nvSpPr>
        <p:spPr>
          <a:xfrm>
            <a:off x="2231136" y="1956816"/>
            <a:ext cx="2020824" cy="914400"/>
          </a:xfrm>
          <a:prstGeom prst="rect">
            <a:avLst/>
          </a:prstGeom>
          <a:noFill/>
        </p:spPr>
        <p:txBody>
          <a:bodyPr wrap="square" lIns="0" tIns="0" rIns="0" bIns="0" anchor="t">
            <a:noAutofit/>
          </a:bodyPr>
          <a:lstStyle/>
          <a:p>
            <a:pPr algn="l" marL="0" indent="0">
              <a:lnSpc>
                <a:spcPct val="100000"/>
              </a:lnSpc>
              <a:buNone/>
            </a:pPr>
            <a:r>
              <a:rPr sz="950" b="0" lang="en-GB">
                <a:solidFill>
                  <a:srgbClr val="3C4043"/>
                </a:solidFill>
                <a:latin typeface="Google Sans Flex"/>
              </a:rPr>
              <a:t>Team lead. </a:t>
            </a:r>
            <a:r>
              <a:rPr sz="950" b="0" lang="en-GB">
                <a:solidFill>
                  <a:srgbClr val="3C4043"/>
                </a:solidFill>
                <a:latin typeface="Google Sans Flex"/>
              </a:rPr>
              <a:t>AI engineer · built Kirchhoff's agents, engine and app; builds production multi-agent systems on Gemini and Google ADK; MS by Research in ML, IIIT Hyderabad</a:t>
            </a:r>
          </a:p>
        </p:txBody>
      </p:sp>
      <p:sp>
        <p:nvSpPr>
          <p:cNvPr id="172" name="person card"/>
          <p:cNvSpPr/>
          <p:nvPr/>
        </p:nvSpPr>
        <p:spPr>
          <a:xfrm>
            <a:off x="4709160" y="1133856"/>
            <a:ext cx="4078224" cy="1920240"/>
          </a:xfrm>
          <a:prstGeom prst="roundRect">
            <a:avLst>
              <a:gd name="adj" fmla="val 3809"/>
            </a:avLst>
          </a:prstGeom>
          <a:solidFill>
            <a:srgbClr val="F8F9FA"/>
          </a:solidFill>
          <a:ln w="9525">
            <a:solidFill>
              <a:srgbClr val="E8EAED"/>
            </a:solidFill>
          </a:ln>
        </p:spPr>
        <p:txBody>
          <a:bodyPr rtlCol="0" anchor="ctr" lIns="0" rIns="0" tIns="0" bIns="0"/>
          <a:lstStyle/>
          <a:p>
            <a:pPr algn="ctr"/>
          </a:p>
        </p:txBody>
      </p:sp>
      <p:pic>
        <p:nvPicPr>
          <p:cNvPr id="173" name="photo Jayadratha" descr="jayadratha.jpg"/>
          <p:cNvPicPr>
            <a:picLocks noChangeAspect="1"/>
          </p:cNvPicPr>
          <p:nvPr/>
        </p:nvPicPr>
        <p:blipFill>
          <a:blip r:embed="rId6"/>
          <a:srcRect/>
          <a:stretch>
            <a:fillRect/>
          </a:stretch>
        </p:blipFill>
        <p:spPr>
          <a:xfrm>
            <a:off x="4937760" y="1408176"/>
            <a:ext cx="1371600" cy="1371600"/>
          </a:xfrm>
          <a:prstGeom prst="ellipse">
            <a:avLst/>
          </a:prstGeom>
        </p:spPr>
      </p:pic>
      <p:sp>
        <p:nvSpPr>
          <p:cNvPr id="174" name="person name"/>
          <p:cNvSpPr txBox="1"/>
          <p:nvPr/>
        </p:nvSpPr>
        <p:spPr>
          <a:xfrm>
            <a:off x="6583680" y="1517904"/>
            <a:ext cx="2020824" cy="384048"/>
          </a:xfrm>
          <a:prstGeom prst="rect">
            <a:avLst/>
          </a:prstGeom>
          <a:noFill/>
        </p:spPr>
        <p:txBody>
          <a:bodyPr wrap="square" lIns="0" tIns="0" rIns="0" bIns="0" anchor="ctr">
            <a:noAutofit/>
          </a:bodyPr>
          <a:lstStyle/>
          <a:p>
            <a:pPr algn="l" marL="0" indent="0">
              <a:lnSpc>
                <a:spcPct val="100000"/>
              </a:lnSpc>
              <a:buNone/>
            </a:pPr>
            <a:r>
              <a:rPr sz="1800" b="0" lang="en-GB">
                <a:solidFill>
                  <a:srgbClr val="202124"/>
                </a:solidFill>
                <a:latin typeface="Google Sans Flex SemiBold"/>
              </a:rPr>
              <a:t>Jayadratha</a:t>
            </a:r>
          </a:p>
        </p:txBody>
      </p:sp>
      <p:sp>
        <p:nvSpPr>
          <p:cNvPr id="175" name="person role"/>
          <p:cNvSpPr txBox="1"/>
          <p:nvPr/>
        </p:nvSpPr>
        <p:spPr>
          <a:xfrm>
            <a:off x="6583680" y="1956816"/>
            <a:ext cx="2020824" cy="914400"/>
          </a:xfrm>
          <a:prstGeom prst="rect">
            <a:avLst/>
          </a:prstGeom>
          <a:noFill/>
        </p:spPr>
        <p:txBody>
          <a:bodyPr wrap="square" lIns="0" tIns="0" rIns="0" bIns="0" anchor="t">
            <a:noAutofit/>
          </a:bodyPr>
          <a:lstStyle/>
          <a:p>
            <a:pPr algn="l" marL="0" indent="0">
              <a:lnSpc>
                <a:spcPct val="100000"/>
              </a:lnSpc>
              <a:buNone/>
            </a:pPr>
            <a:r>
              <a:rPr sz="1100" b="0" lang="en-GB">
                <a:solidFill>
                  <a:srgbClr val="3C4043"/>
                </a:solidFill>
                <a:latin typeface="Google Sans Flex"/>
              </a:rPr>
              <a:t>Graph ML researcher · built the bids inbox, asset agent and test suite, ran cloud and the golden capture; previously at Vikram Solar</a:t>
            </a:r>
          </a:p>
        </p:txBody>
      </p:sp>
      <p:sp>
        <p:nvSpPr>
          <p:cNvPr id="176" name="closing"/>
          <p:cNvSpPr txBox="1"/>
          <p:nvPr/>
        </p:nvSpPr>
        <p:spPr>
          <a:xfrm>
            <a:off x="356616" y="3374136"/>
            <a:ext cx="8430768" cy="365760"/>
          </a:xfrm>
          <a:prstGeom prst="rect">
            <a:avLst/>
          </a:prstGeom>
          <a:noFill/>
        </p:spPr>
        <p:txBody>
          <a:bodyPr wrap="square" lIns="0" tIns="0" rIns="0" bIns="0" anchor="t">
            <a:noAutofit/>
          </a:bodyPr>
          <a:lstStyle/>
          <a:p>
            <a:pPr algn="l" marL="0" indent="0">
              <a:lnSpc>
                <a:spcPct val="100000"/>
              </a:lnSpc>
              <a:buNone/>
            </a:pPr>
            <a:r>
              <a:rPr sz="1600" b="0" lang="en-GB">
                <a:solidFill>
                  <a:srgbClr val="202124"/>
                </a:solidFill>
                <a:latin typeface="Google Sans Flex Medium"/>
              </a:rPr>
              <a:t>Built in JAPAC, for engineering teams everywhere.</a:t>
            </a:r>
          </a:p>
        </p:txBody>
      </p:sp>
      <p:sp>
        <p:nvSpPr>
          <p:cNvPr id="177" name="theme strip"/>
          <p:cNvSpPr/>
          <p:nvPr/>
        </p:nvSpPr>
        <p:spPr>
          <a:xfrm>
            <a:off x="356616" y="3922776"/>
            <a:ext cx="8430768" cy="457200"/>
          </a:xfrm>
          <a:prstGeom prst="roundRect">
            <a:avLst>
              <a:gd name="adj" fmla="val 16000"/>
            </a:avLst>
          </a:prstGeom>
          <a:solidFill>
            <a:srgbClr val="F8F9FA"/>
          </a:solidFill>
          <a:ln w="9525">
            <a:solidFill>
              <a:srgbClr val="E8EAED"/>
            </a:solidFill>
          </a:ln>
        </p:spPr>
        <p:txBody>
          <a:bodyPr rtlCol="0" anchor="ctr" lIns="0" rIns="0" tIns="0" bIns="0"/>
          <a:lstStyle/>
          <a:p>
            <a:pPr algn="ctr"/>
          </a:p>
        </p:txBody>
      </p:sp>
      <p:sp>
        <p:nvSpPr>
          <p:cNvPr id="178" name="theme label"/>
          <p:cNvSpPr txBox="1"/>
          <p:nvPr/>
        </p:nvSpPr>
        <p:spPr>
          <a:xfrm>
            <a:off x="557784" y="3922776"/>
            <a:ext cx="914400" cy="457200"/>
          </a:xfrm>
          <a:prstGeom prst="rect">
            <a:avLst/>
          </a:prstGeom>
          <a:noFill/>
        </p:spPr>
        <p:txBody>
          <a:bodyPr wrap="square" lIns="0" tIns="0" rIns="0" bIns="0" anchor="ctr">
            <a:noAutofit/>
          </a:bodyPr>
          <a:lstStyle/>
          <a:p>
            <a:pPr algn="l" marL="0" indent="0">
              <a:lnSpc>
                <a:spcPct val="100000"/>
              </a:lnSpc>
              <a:buNone/>
            </a:pPr>
            <a:r>
              <a:rPr sz="750" b="0" lang="en-GB" spc="80">
                <a:solidFill>
                  <a:srgbClr val="5F6368"/>
                </a:solidFill>
                <a:latin typeface="Roboto Mono"/>
              </a:rPr>
              <a:t>THEME</a:t>
            </a:r>
          </a:p>
        </p:txBody>
      </p:sp>
      <p:sp>
        <p:nvSpPr>
          <p:cNvPr id="179" name="theme value"/>
          <p:cNvSpPr txBox="1"/>
          <p:nvPr/>
        </p:nvSpPr>
        <p:spPr>
          <a:xfrm>
            <a:off x="1453896" y="3922776"/>
            <a:ext cx="7150608" cy="457200"/>
          </a:xfrm>
          <a:prstGeom prst="rect">
            <a:avLst/>
          </a:prstGeom>
          <a:noFill/>
        </p:spPr>
        <p:txBody>
          <a:bodyPr wrap="square" lIns="0" tIns="0" rIns="0" bIns="0" anchor="ctr">
            <a:noAutofit/>
          </a:bodyPr>
          <a:lstStyle/>
          <a:p>
            <a:pPr algn="l" marL="0" indent="0">
              <a:lnSpc>
                <a:spcPct val="100000"/>
              </a:lnSpc>
              <a:buNone/>
            </a:pPr>
            <a:r>
              <a:rPr sz="1300" b="0" lang="en-GB">
                <a:solidFill>
                  <a:srgbClr val="202124"/>
                </a:solidFill>
                <a:latin typeface="Google Sans Flex Medium"/>
              </a:rPr>
              <a:t>Future of Work &amp; Enterprise Productivity</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
        <p:nvSpPr>
          <p:cNvPr id="173" name="closing product"/>
          <p:cNvSpPr txBox="1"/>
          <p:nvPr/>
        </p:nvSpPr>
        <p:spPr>
          <a:xfrm>
            <a:off x="4846320" y="2212848"/>
            <a:ext cx="3931920" cy="365760"/>
          </a:xfrm>
          <a:prstGeom prst="rect">
            <a:avLst/>
          </a:prstGeom>
          <a:noFill/>
        </p:spPr>
        <p:txBody>
          <a:bodyPr wrap="square" lIns="0" tIns="0" rIns="0" bIns="0" anchor="t">
            <a:noAutofit/>
          </a:bodyPr>
          <a:lstStyle/>
          <a:p>
            <a:pPr algn="l" marL="0" indent="0">
              <a:lnSpc>
                <a:spcPct val="100000"/>
              </a:lnSpc>
              <a:buNone/>
            </a:pPr>
            <a:r>
              <a:rPr sz="1800" b="0" lang="en-GB">
                <a:solidFill>
                  <a:srgbClr val="FFFFFF"/>
                </a:solidFill>
                <a:latin typeface="Google Sans Flex SemiBold"/>
              </a:rPr>
              <a:t>Kirchhoff by Ordinal</a:t>
            </a:r>
          </a:p>
        </p:txBody>
      </p:sp>
      <p:sp>
        <p:nvSpPr>
          <p:cNvPr id="174" name="closing tagline"/>
          <p:cNvSpPr txBox="1"/>
          <p:nvPr/>
        </p:nvSpPr>
        <p:spPr>
          <a:xfrm>
            <a:off x="4846320" y="2596896"/>
            <a:ext cx="3931920" cy="310896"/>
          </a:xfrm>
          <a:prstGeom prst="rect">
            <a:avLst/>
          </a:prstGeom>
          <a:noFill/>
        </p:spPr>
        <p:txBody>
          <a:bodyPr wrap="square" lIns="0" tIns="0" rIns="0" bIns="0" anchor="t">
            <a:noAutofit/>
          </a:bodyPr>
          <a:lstStyle/>
          <a:p>
            <a:pPr algn="l" marL="0" indent="0">
              <a:lnSpc>
                <a:spcPct val="100000"/>
              </a:lnSpc>
              <a:buNone/>
            </a:pPr>
            <a:r>
              <a:rPr sz="1250" b="0" lang="en-GB">
                <a:solidFill>
                  <a:srgbClr val="E8EAED"/>
                </a:solidFill>
                <a:latin typeface="Google Sans Flex"/>
              </a:rPr>
              <a:t>AI designs. Physics checks. An engineer signs.</a:t>
            </a:r>
          </a:p>
        </p:txBody>
      </p:sp>
      <p:sp>
        <p:nvSpPr>
          <p:cNvPr id="175" name="closing url"/>
          <p:cNvSpPr txBox="1"/>
          <p:nvPr/>
        </p:nvSpPr>
        <p:spPr>
          <a:xfrm>
            <a:off x="4846320" y="2944368"/>
            <a:ext cx="3931920" cy="274320"/>
          </a:xfrm>
          <a:prstGeom prst="rect">
            <a:avLst/>
          </a:prstGeom>
          <a:noFill/>
        </p:spPr>
        <p:txBody>
          <a:bodyPr wrap="square" lIns="0" tIns="0" rIns="0" bIns="0" anchor="t">
            <a:noAutofit/>
          </a:bodyPr>
          <a:lstStyle/>
          <a:p>
            <a:pPr algn="l" marL="0" indent="0">
              <a:lnSpc>
                <a:spcPct val="100000"/>
              </a:lnSpc>
              <a:buNone/>
            </a:pPr>
            <a:r>
              <a:rPr sz="1200" b="0" lang="en-GB">
                <a:solidFill>
                  <a:srgbClr val="E8EAED"/>
                </a:solidFill>
                <a:latin typeface="Roboto Mono"/>
                <a:hlinkClick r:id="rId5">
                  <a:extLst>
                    <a:ext uri="{A12FA001-AC4F-418D-AE19-62706E023703}">
                      <ahyp:hlinkClr val="tx"/>
                    </a:ext>
                  </a:extLst>
                </a:hlinkClick>
              </a:rPr>
              <a:t>kirchhoff.web.app</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Kirchhoff by Ordinal: AI Builder Cup 2026</dc:title>
  <cp:lastModifiedBy>Team Ordinal</cp:lastModifiedBy>
  <cp:revision>1</cp:revision>
  <dcterms:modified xsi:type="dcterms:W3CDTF">2026-10-17T00:00:00Z</dcterms:modified>
  <dc:creator>Team Ordinal</dc:creator>
  <dc:subject>AI Builder Cup 2026 submission</dc:subject>
  <cp:keywords/>
  <dc:description/>
  <dcterms:created xsi:type="dcterms:W3CDTF">2026-10-17T00:00:00Z</dcterms:created>
</cp:coreProperties>
</file>
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Mehul Arora, who leads, and Jayadratha.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Gemini agents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Voice. Gemini Live can call what_if, explain_finding and focus_element.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a live run, 15 Oct 2026: a full P1→P4 run on Vertex AI took 176.5 s and used 10,432 input tokens and 12,991 output tokens, about $0.057 per design at $0.75 per million input and $3.75 per million output tokens. The golden capture may replace this figure.</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The footage is time-compressed and carries an elapsed-time clock.</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The spec's first-design baseline is 4–8 weeks for a first coordinated electrical package (spec; [TBD: source citation]). Kirchhoff produces a checked concept design, not construction drawings, so the honest comparison is first checked concept against first concept. [TBD: measured time from upload to a checker-clean revision, median of 5 live runs, excluding time at human gates (spec §4, metric 1).] Measured on a live intake run on Vertex AI, 15 Oct 2026: requirement recall 0.84 against our hand-labelled ground truth for the Hall A tender, with 27 of 28 extracted quotes verified word for word against the tender PDF; the one unverified quote was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ERP and CRM connectors,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[TBD: two sentences per person on what each of us built and the background that makes us credible here.]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1.png"/><Relationship Id="rId6"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10.png"/><Relationship Id="rId10"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 Id="rId6" Type="http://schemas.openxmlformats.org/officeDocument/2006/relationships/hyperlink" Target="https://github.com/mehular0ra/kirchhoff" TargetMode="External"/><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hyperlink" Target="https://kirchhoff.web.app" TargetMode="External"/><Relationship Id="rId11"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5.jpg"/><Relationship Id="rId6" Type="http://schemas.openxmlformats.org/officeDocument/2006/relationships/image" Target="../media/image3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Mehul Arora (with Jayadratha)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sp>
        <p:nvSpPr>
          <p:cNvPr id="86" name="SHOT placeholder shots/s03-workspace-signed.png"/>
          <p:cNvSpPr/>
          <p:nvPr/>
        </p:nvSpPr>
        <p:spPr>
          <a:xfrm>
            <a:off x="4041648" y="1499616"/>
            <a:ext cx="4745736" cy="2669476"/>
          </a:xfrm>
          <a:prstGeom prst="roundRect">
            <a:avLst>
              <a:gd name="adj" fmla="val 2055"/>
            </a:avLst>
          </a:prstGeom>
          <a:solidFill>
            <a:srgbClr val="FFF4EC"/>
          </a:solidFill>
          <a:ln w="12700">
            <a:solidFill>
              <a:srgbClr val="C2410C"/>
            </a:solidFill>
            <a:prstDash val="dash"/>
          </a:ln>
        </p:spPr>
        <p:txBody>
          <a:bodyPr rtlCol="0" anchor="ctr" lIns="0" rIns="0" tIns="0" bIns="0"/>
          <a:lstStyle/>
          <a:p>
            <a:pPr algn="ctr"/>
          </a:p>
        </p:txBody>
      </p:sp>
      <p:pic>
        <p:nvPicPr>
          <p:cNvPr id="87" name="icon camera" descr=""/>
          <p:cNvPicPr>
            <a:picLocks noChangeAspect="1"/>
          </p:cNvPicPr>
          <p:nvPr/>
        </p:nvPicPr>
        <p:blipFill>
          <a:blip r:embed="rId8"/>
          <a:stretch>
            <a:fillRect/>
          </a:stretch>
        </p:blipFill>
        <p:spPr>
          <a:xfrm>
            <a:off x="4151376" y="1609344"/>
            <a:ext cx="201168" cy="201168"/>
          </a:xfrm>
          <a:prstGeom prst="rect">
            <a:avLst/>
          </a:prstGeom>
        </p:spPr>
      </p:pic>
      <p:sp>
        <p:nvSpPr>
          <p:cNvPr id="88" name="SHOT label"/>
          <p:cNvSpPr txBox="1"/>
          <p:nvPr/>
        </p:nvSpPr>
        <p:spPr>
          <a:xfrm>
            <a:off x="4407408" y="1600200"/>
            <a:ext cx="42702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shots/s03-workspace-signed.png</a:t>
            </a:r>
          </a:p>
        </p:txBody>
      </p:sp>
      <p:sp>
        <p:nvSpPr>
          <p:cNvPr id="89" name="SHOT text"/>
          <p:cNvSpPr txBox="1"/>
          <p:nvPr/>
        </p:nvSpPr>
        <p:spPr>
          <a:xfrm>
            <a:off x="4151376" y="1856232"/>
            <a:ext cx="4526280" cy="2203132"/>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Hall A (signed). 3D hall all green; agent lanes on the left all ✓; co-pilot on the right; revision bar reads "r1 (2 fail) → r2 ✓ → signed by Priya Raman (Reviewer)".</a:t>
            </a:r>
          </a:p>
        </p:txBody>
      </p:sp>
      <p:sp>
        <p:nvSpPr>
          <p:cNvPr id="9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r>
              <a:rPr sz="650" b="0" lang="en-GB">
                <a:solidFill>
                  <a:srgbClr val="8A4B00"/>
                </a:solidFill>
                <a:highlight>
                  <a:srgbClr val="FDEBD0"/>
                </a:highlight>
                <a:latin typeface="Google Sans Flex Medium"/>
              </a:rPr>
              <a:t> (spec)</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Tender intake with verified quotes</a:t>
            </a:r>
          </a:p>
        </p:txBody>
      </p:sp>
      <p:sp>
        <p:nvSpPr>
          <p:cNvPr id="92" name="SHOT placeholder shots/s05-1-intake-quotes.png"/>
          <p:cNvSpPr/>
          <p:nvPr/>
        </p:nvSpPr>
        <p:spPr>
          <a:xfrm>
            <a:off x="1600200"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93" name="icon camera" descr=""/>
          <p:cNvPicPr>
            <a:picLocks noChangeAspect="1"/>
          </p:cNvPicPr>
          <p:nvPr/>
        </p:nvPicPr>
        <p:blipFill>
          <a:blip r:embed="rId6"/>
          <a:stretch>
            <a:fillRect/>
          </a:stretch>
        </p:blipFill>
        <p:spPr>
          <a:xfrm>
            <a:off x="1664208" y="1271016"/>
            <a:ext cx="146304" cy="146304"/>
          </a:xfrm>
          <a:prstGeom prst="rect">
            <a:avLst/>
          </a:prstGeom>
        </p:spPr>
      </p:pic>
      <p:sp>
        <p:nvSpPr>
          <p:cNvPr id="94" name="SHOT label"/>
          <p:cNvSpPr txBox="1"/>
          <p:nvPr/>
        </p:nvSpPr>
        <p:spPr>
          <a:xfrm>
            <a:off x="1865376"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shots/s05-1-intake-quotes.png</a:t>
            </a:r>
          </a:p>
        </p:txBody>
      </p:sp>
      <p:sp>
        <p:nvSpPr>
          <p:cNvPr id="95" name="SHOT text"/>
          <p:cNvSpPr txBox="1"/>
          <p:nvPr/>
        </p:nvSpPr>
        <p:spPr>
          <a:xfrm>
            <a:off x="1664208"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Intake lane, "✓ quote verified" cards</a:t>
            </a:r>
          </a:p>
        </p:txBody>
      </p:sp>
      <p:sp>
        <p:nvSpPr>
          <p:cNvPr id="96"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7"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8"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9"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sp>
        <p:nvSpPr>
          <p:cNvPr id="100" name="SHOT placeholder shots/s05-2-hall-3d-tiers.png"/>
          <p:cNvSpPr/>
          <p:nvPr/>
        </p:nvSpPr>
        <p:spPr>
          <a:xfrm>
            <a:off x="4453128"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1" name="icon camera" descr=""/>
          <p:cNvPicPr>
            <a:picLocks noChangeAspect="1"/>
          </p:cNvPicPr>
          <p:nvPr/>
        </p:nvPicPr>
        <p:blipFill>
          <a:blip r:embed="rId6"/>
          <a:stretch>
            <a:fillRect/>
          </a:stretch>
        </p:blipFill>
        <p:spPr>
          <a:xfrm>
            <a:off x="4517136" y="1271016"/>
            <a:ext cx="146304" cy="146304"/>
          </a:xfrm>
          <a:prstGeom prst="rect">
            <a:avLst/>
          </a:prstGeom>
        </p:spPr>
      </p:pic>
      <p:sp>
        <p:nvSpPr>
          <p:cNvPr id="102" name="SHOT label"/>
          <p:cNvSpPr txBox="1"/>
          <p:nvPr/>
        </p:nvSpPr>
        <p:spPr>
          <a:xfrm>
            <a:off x="4718304"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shots/s05-2-hall-3d-tiers.png</a:t>
            </a:r>
          </a:p>
        </p:txBody>
      </p:sp>
      <p:sp>
        <p:nvSpPr>
          <p:cNvPr id="103" name="SHOT text"/>
          <p:cNvSpPr txBox="1"/>
          <p:nvPr/>
        </p:nvSpPr>
        <p:spPr>
          <a:xfrm>
            <a:off x="4517136"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3D hall, busways and pipes on their tiers</a:t>
            </a:r>
          </a:p>
        </p:txBody>
      </p:sp>
      <p:sp>
        <p:nvSpPr>
          <p:cNvPr id="104"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5"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6" name="icon shield-check" descr=""/>
          <p:cNvPicPr>
            <a:picLocks noChangeAspect="1"/>
          </p:cNvPicPr>
          <p:nvPr/>
        </p:nvPicPr>
        <p:blipFill>
          <a:blip r:embed="rId8"/>
          <a:stretch>
            <a:fillRect/>
          </a:stretch>
        </p:blipFill>
        <p:spPr>
          <a:xfrm>
            <a:off x="6246815" y="1318199"/>
            <a:ext cx="161666" cy="161666"/>
          </a:xfrm>
          <a:prstGeom prst="rect">
            <a:avLst/>
          </a:prstGeom>
        </p:spPr>
      </p:pic>
      <p:sp>
        <p:nvSpPr>
          <p:cNvPr id="107"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sp>
        <p:nvSpPr>
          <p:cNvPr id="108" name="SHOT placeholder shots/s05-3-compliance-matrix.png"/>
          <p:cNvSpPr/>
          <p:nvPr/>
        </p:nvSpPr>
        <p:spPr>
          <a:xfrm>
            <a:off x="7306056"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9" name="icon camera" descr=""/>
          <p:cNvPicPr>
            <a:picLocks noChangeAspect="1"/>
          </p:cNvPicPr>
          <p:nvPr/>
        </p:nvPicPr>
        <p:blipFill>
          <a:blip r:embed="rId6"/>
          <a:stretch>
            <a:fillRect/>
          </a:stretch>
        </p:blipFill>
        <p:spPr>
          <a:xfrm>
            <a:off x="7370064" y="1271016"/>
            <a:ext cx="146304" cy="146304"/>
          </a:xfrm>
          <a:prstGeom prst="rect">
            <a:avLst/>
          </a:prstGeom>
        </p:spPr>
      </p:pic>
      <p:sp>
        <p:nvSpPr>
          <p:cNvPr id="110" name="SHOT label"/>
          <p:cNvSpPr txBox="1"/>
          <p:nvPr/>
        </p:nvSpPr>
        <p:spPr>
          <a:xfrm>
            <a:off x="7571232"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shots/s05-3-compliance-matrix.png</a:t>
            </a:r>
          </a:p>
        </p:txBody>
      </p:sp>
      <p:sp>
        <p:nvSpPr>
          <p:cNvPr id="111" name="SHOT text"/>
          <p:cNvSpPr txBox="1"/>
          <p:nvPr/>
        </p:nvSpPr>
        <p:spPr>
          <a:xfrm>
            <a:off x="7370064"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compliance matrix</a:t>
            </a:r>
          </a:p>
        </p:txBody>
      </p:sp>
      <p:sp>
        <p:nvSpPr>
          <p:cNvPr id="112"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3"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14" name="icon truck" descr=""/>
          <p:cNvPicPr>
            <a:picLocks noChangeAspect="1"/>
          </p:cNvPicPr>
          <p:nvPr/>
        </p:nvPicPr>
        <p:blipFill>
          <a:blip r:embed="rId9"/>
          <a:stretch>
            <a:fillRect/>
          </a:stretch>
        </p:blipFill>
        <p:spPr>
          <a:xfrm>
            <a:off x="540959" y="2546543"/>
            <a:ext cx="161666" cy="161666"/>
          </a:xfrm>
          <a:prstGeom prst="rect">
            <a:avLst/>
          </a:prstGeom>
        </p:spPr>
      </p:pic>
      <p:sp>
        <p:nvSpPr>
          <p:cNvPr id="115"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sp>
        <p:nvSpPr>
          <p:cNvPr id="116" name="SHOT placeholder shots/s05-4-option-r15-swap.png"/>
          <p:cNvSpPr/>
          <p:nvPr/>
        </p:nvSpPr>
        <p:spPr>
          <a:xfrm>
            <a:off x="1600200"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17" name="icon camera" descr=""/>
          <p:cNvPicPr>
            <a:picLocks noChangeAspect="1"/>
          </p:cNvPicPr>
          <p:nvPr/>
        </p:nvPicPr>
        <p:blipFill>
          <a:blip r:embed="rId6"/>
          <a:stretch>
            <a:fillRect/>
          </a:stretch>
        </p:blipFill>
        <p:spPr>
          <a:xfrm>
            <a:off x="1664208" y="2499360"/>
            <a:ext cx="146304" cy="146304"/>
          </a:xfrm>
          <a:prstGeom prst="rect">
            <a:avLst/>
          </a:prstGeom>
        </p:spPr>
      </p:pic>
      <p:sp>
        <p:nvSpPr>
          <p:cNvPr id="118" name="SHOT label"/>
          <p:cNvSpPr txBox="1"/>
          <p:nvPr/>
        </p:nvSpPr>
        <p:spPr>
          <a:xfrm>
            <a:off x="1865376"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shots/s05-4-option-r15-swap.png</a:t>
            </a:r>
          </a:p>
        </p:txBody>
      </p:sp>
      <p:sp>
        <p:nvSpPr>
          <p:cNvPr id="119" name="SHOT text"/>
          <p:cNvSpPr txBox="1"/>
          <p:nvPr/>
        </p:nvSpPr>
        <p:spPr>
          <a:xfrm>
            <a:off x="1664208"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option card showing the R15 swap</a:t>
            </a:r>
          </a:p>
        </p:txBody>
      </p:sp>
      <p:sp>
        <p:nvSpPr>
          <p:cNvPr id="120"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1"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22" name="icon waypoints" descr=""/>
          <p:cNvPicPr>
            <a:picLocks noChangeAspect="1"/>
          </p:cNvPicPr>
          <p:nvPr/>
        </p:nvPicPr>
        <p:blipFill>
          <a:blip r:embed="rId10"/>
          <a:stretch>
            <a:fillRect/>
          </a:stretch>
        </p:blipFill>
        <p:spPr>
          <a:xfrm>
            <a:off x="3393887" y="2546543"/>
            <a:ext cx="161666" cy="161666"/>
          </a:xfrm>
          <a:prstGeom prst="rect">
            <a:avLst/>
          </a:prstGeom>
        </p:spPr>
      </p:pic>
      <p:sp>
        <p:nvSpPr>
          <p:cNvPr id="123"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sp>
        <p:nvSpPr>
          <p:cNvPr id="124" name="SHOT placeholder shots/s05-5-impact-chain.png"/>
          <p:cNvSpPr/>
          <p:nvPr/>
        </p:nvSpPr>
        <p:spPr>
          <a:xfrm>
            <a:off x="4453128"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25" name="icon camera" descr=""/>
          <p:cNvPicPr>
            <a:picLocks noChangeAspect="1"/>
          </p:cNvPicPr>
          <p:nvPr/>
        </p:nvPicPr>
        <p:blipFill>
          <a:blip r:embed="rId6"/>
          <a:stretch>
            <a:fillRect/>
          </a:stretch>
        </p:blipFill>
        <p:spPr>
          <a:xfrm>
            <a:off x="4517136" y="2499360"/>
            <a:ext cx="146304" cy="146304"/>
          </a:xfrm>
          <a:prstGeom prst="rect">
            <a:avLst/>
          </a:prstGeom>
        </p:spPr>
      </p:pic>
      <p:sp>
        <p:nvSpPr>
          <p:cNvPr id="126" name="SHOT label"/>
          <p:cNvSpPr txBox="1"/>
          <p:nvPr/>
        </p:nvSpPr>
        <p:spPr>
          <a:xfrm>
            <a:off x="4718304"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shots/s05-5-impact-chain.png</a:t>
            </a:r>
          </a:p>
        </p:txBody>
      </p:sp>
      <p:sp>
        <p:nvSpPr>
          <p:cNvPr id="127" name="SHOT text"/>
          <p:cNvSpPr txBox="1"/>
          <p:nvPr/>
        </p:nvSpPr>
        <p:spPr>
          <a:xfrm>
            <a:off x="4517136"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impact chain lit in two colours</a:t>
            </a:r>
          </a:p>
        </p:txBody>
      </p:sp>
      <p:sp>
        <p:nvSpPr>
          <p:cNvPr id="128"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30" name="icon mic" descr=""/>
          <p:cNvPicPr>
            <a:picLocks noChangeAspect="1"/>
          </p:cNvPicPr>
          <p:nvPr/>
        </p:nvPicPr>
        <p:blipFill>
          <a:blip r:embed="rId11"/>
          <a:stretch>
            <a:fillRect/>
          </a:stretch>
        </p:blipFill>
        <p:spPr>
          <a:xfrm>
            <a:off x="6246815" y="2546543"/>
            <a:ext cx="161666" cy="161666"/>
          </a:xfrm>
          <a:prstGeom prst="rect">
            <a:avLst/>
          </a:prstGeom>
        </p:spPr>
      </p:pic>
      <p:sp>
        <p:nvSpPr>
          <p:cNvPr id="131"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Live voice co-pilot</a:t>
            </a:r>
          </a:p>
        </p:txBody>
      </p:sp>
      <p:sp>
        <p:nvSpPr>
          <p:cNvPr id="132" name="SHOT placeholder shots/s05-6-copilot-voice.png"/>
          <p:cNvSpPr/>
          <p:nvPr/>
        </p:nvSpPr>
        <p:spPr>
          <a:xfrm>
            <a:off x="7306056"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33" name="icon camera" descr=""/>
          <p:cNvPicPr>
            <a:picLocks noChangeAspect="1"/>
          </p:cNvPicPr>
          <p:nvPr/>
        </p:nvPicPr>
        <p:blipFill>
          <a:blip r:embed="rId6"/>
          <a:stretch>
            <a:fillRect/>
          </a:stretch>
        </p:blipFill>
        <p:spPr>
          <a:xfrm>
            <a:off x="7370064" y="2499360"/>
            <a:ext cx="146304" cy="146304"/>
          </a:xfrm>
          <a:prstGeom prst="rect">
            <a:avLst/>
          </a:prstGeom>
        </p:spPr>
      </p:pic>
      <p:sp>
        <p:nvSpPr>
          <p:cNvPr id="134" name="SHOT label"/>
          <p:cNvSpPr txBox="1"/>
          <p:nvPr/>
        </p:nvSpPr>
        <p:spPr>
          <a:xfrm>
            <a:off x="7571232"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shots/s05-6-copilot-voice.png</a:t>
            </a:r>
          </a:p>
        </p:txBody>
      </p:sp>
      <p:sp>
        <p:nvSpPr>
          <p:cNvPr id="135" name="SHOT text"/>
          <p:cNvSpPr txBox="1"/>
          <p:nvPr/>
        </p:nvSpPr>
        <p:spPr>
          <a:xfrm>
            <a:off x="7370064"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co-pilot voice button with on-screen transcript</a:t>
            </a:r>
          </a:p>
        </p:txBody>
      </p:sp>
      <p:sp>
        <p:nvSpPr>
          <p:cNvPr id="136"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37"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38" name="icon stamp" descr=""/>
          <p:cNvPicPr>
            <a:picLocks noChangeAspect="1"/>
          </p:cNvPicPr>
          <p:nvPr/>
        </p:nvPicPr>
        <p:blipFill>
          <a:blip r:embed="rId12"/>
          <a:stretch>
            <a:fillRect/>
          </a:stretch>
        </p:blipFill>
        <p:spPr>
          <a:xfrm>
            <a:off x="540959" y="3774887"/>
            <a:ext cx="161666" cy="161666"/>
          </a:xfrm>
          <a:prstGeom prst="rect">
            <a:avLst/>
          </a:prstGeom>
        </p:spPr>
      </p:pic>
      <p:sp>
        <p:nvSpPr>
          <p:cNvPr id="139"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sp>
        <p:nvSpPr>
          <p:cNvPr id="140" name="SHOT placeholder shots/s05-7-review-stamp.png"/>
          <p:cNvSpPr/>
          <p:nvPr/>
        </p:nvSpPr>
        <p:spPr>
          <a:xfrm>
            <a:off x="1600200"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1" name="icon camera" descr=""/>
          <p:cNvPicPr>
            <a:picLocks noChangeAspect="1"/>
          </p:cNvPicPr>
          <p:nvPr/>
        </p:nvPicPr>
        <p:blipFill>
          <a:blip r:embed="rId6"/>
          <a:stretch>
            <a:fillRect/>
          </a:stretch>
        </p:blipFill>
        <p:spPr>
          <a:xfrm>
            <a:off x="1664208" y="3727704"/>
            <a:ext cx="146304" cy="146304"/>
          </a:xfrm>
          <a:prstGeom prst="rect">
            <a:avLst/>
          </a:prstGeom>
        </p:spPr>
      </p:pic>
      <p:sp>
        <p:nvSpPr>
          <p:cNvPr id="142" name="SHOT label"/>
          <p:cNvSpPr txBox="1"/>
          <p:nvPr/>
        </p:nvSpPr>
        <p:spPr>
          <a:xfrm>
            <a:off x="1865376"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shots/s05-7-review-stamp.png</a:t>
            </a:r>
          </a:p>
        </p:txBody>
      </p:sp>
      <p:sp>
        <p:nvSpPr>
          <p:cNvPr id="143" name="SHOT text"/>
          <p:cNvSpPr txBox="1"/>
          <p:nvPr/>
        </p:nvSpPr>
        <p:spPr>
          <a:xfrm>
            <a:off x="1664208"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review stamp with hash</a:t>
            </a:r>
          </a:p>
        </p:txBody>
      </p:sp>
      <p:sp>
        <p:nvSpPr>
          <p:cNvPr id="144"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45"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46" name="icon arrow-right-left" descr=""/>
          <p:cNvPicPr>
            <a:picLocks noChangeAspect="1"/>
          </p:cNvPicPr>
          <p:nvPr/>
        </p:nvPicPr>
        <p:blipFill>
          <a:blip r:embed="rId13"/>
          <a:stretch>
            <a:fillRect/>
          </a:stretch>
        </p:blipFill>
        <p:spPr>
          <a:xfrm>
            <a:off x="3393887" y="3774887"/>
            <a:ext cx="161666" cy="161666"/>
          </a:xfrm>
          <a:prstGeom prst="rect">
            <a:avLst/>
          </a:prstGeom>
        </p:spPr>
      </p:pic>
      <p:sp>
        <p:nvSpPr>
          <p:cNvPr id="147"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sp>
        <p:nvSpPr>
          <p:cNvPr id="148" name="SHOT placeholder shots/s05-8-integrations.png"/>
          <p:cNvSpPr/>
          <p:nvPr/>
        </p:nvSpPr>
        <p:spPr>
          <a:xfrm>
            <a:off x="4453128"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6"/>
          <a:stretch>
            <a:fillRect/>
          </a:stretch>
        </p:blipFill>
        <p:spPr>
          <a:xfrm>
            <a:off x="4517136" y="3727704"/>
            <a:ext cx="146304" cy="146304"/>
          </a:xfrm>
          <a:prstGeom prst="rect">
            <a:avLst/>
          </a:prstGeom>
        </p:spPr>
      </p:pic>
      <p:sp>
        <p:nvSpPr>
          <p:cNvPr id="150" name="SHOT label"/>
          <p:cNvSpPr txBox="1"/>
          <p:nvPr/>
        </p:nvSpPr>
        <p:spPr>
          <a:xfrm>
            <a:off x="4718304"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shots/s05-8-integrations.png</a:t>
            </a:r>
          </a:p>
        </p:txBody>
      </p:sp>
      <p:sp>
        <p:nvSpPr>
          <p:cNvPr id="151" name="SHOT text"/>
          <p:cNvSpPr txBox="1"/>
          <p:nvPr/>
        </p:nvSpPr>
        <p:spPr>
          <a:xfrm>
            <a:off x="4517136"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Integrations page</a:t>
            </a:r>
          </a:p>
        </p:txBody>
      </p:sp>
      <p:sp>
        <p:nvSpPr>
          <p:cNvPr id="152"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53"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54" name="icon sun" descr=""/>
          <p:cNvPicPr>
            <a:picLocks noChangeAspect="1"/>
          </p:cNvPicPr>
          <p:nvPr/>
        </p:nvPicPr>
        <p:blipFill>
          <a:blip r:embed="rId14"/>
          <a:stretch>
            <a:fillRect/>
          </a:stretch>
        </p:blipFill>
        <p:spPr>
          <a:xfrm>
            <a:off x="6246815" y="3774887"/>
            <a:ext cx="161666" cy="161666"/>
          </a:xfrm>
          <a:prstGeom prst="rect">
            <a:avLst/>
          </a:prstGeom>
        </p:spPr>
      </p:pic>
      <p:sp>
        <p:nvSpPr>
          <p:cNvPr id="155"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sp>
        <p:nvSpPr>
          <p:cNvPr id="156" name="SHOT placeholder shots/s05-9-solar-field.png"/>
          <p:cNvSpPr/>
          <p:nvPr/>
        </p:nvSpPr>
        <p:spPr>
          <a:xfrm>
            <a:off x="7306056"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57" name="icon camera" descr=""/>
          <p:cNvPicPr>
            <a:picLocks noChangeAspect="1"/>
          </p:cNvPicPr>
          <p:nvPr/>
        </p:nvPicPr>
        <p:blipFill>
          <a:blip r:embed="rId6"/>
          <a:stretch>
            <a:fillRect/>
          </a:stretch>
        </p:blipFill>
        <p:spPr>
          <a:xfrm>
            <a:off x="7370064" y="3727704"/>
            <a:ext cx="146304" cy="146304"/>
          </a:xfrm>
          <a:prstGeom prst="rect">
            <a:avLst/>
          </a:prstGeom>
        </p:spPr>
      </p:pic>
      <p:sp>
        <p:nvSpPr>
          <p:cNvPr id="158" name="SHOT label"/>
          <p:cNvSpPr txBox="1"/>
          <p:nvPr/>
        </p:nvSpPr>
        <p:spPr>
          <a:xfrm>
            <a:off x="7571232"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shots/s05-9-solar-field.png</a:t>
            </a:r>
          </a:p>
        </p:txBody>
      </p:sp>
      <p:sp>
        <p:nvSpPr>
          <p:cNvPr id="159" name="SHOT text"/>
          <p:cNvSpPr txBox="1"/>
          <p:nvPr/>
        </p:nvSpPr>
        <p:spPr>
          <a:xfrm>
            <a:off x="7370064"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Solar field layout</a:t>
            </a:r>
          </a:p>
        </p:txBody>
      </p:sp>
      <p:sp>
        <p:nvSpPr>
          <p:cNvPr id="16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r>
              <a:rPr sz="1150" b="0" lang="en-GB">
                <a:solidFill>
                  <a:srgbClr val="8A4B00"/>
                </a:solidFill>
                <a:highlight>
                  <a:srgbClr val="FDEBD0"/>
                </a:highlight>
                <a:latin typeface="Google Sans Flex Medium"/>
              </a:rPr>
              <a:t> (spec)</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sp>
        <p:nvSpPr>
          <p:cNvPr id="180" name="SHOT placeholder shots/s07-finding-drawer-r05.png"/>
          <p:cNvSpPr/>
          <p:nvPr/>
        </p:nvSpPr>
        <p:spPr>
          <a:xfrm>
            <a:off x="6446520" y="1133856"/>
            <a:ext cx="2340864" cy="3575304"/>
          </a:xfrm>
          <a:prstGeom prst="roundRect">
            <a:avLst>
              <a:gd name="adj" fmla="val 2343"/>
            </a:avLst>
          </a:prstGeom>
          <a:solidFill>
            <a:srgbClr val="FFF4EC"/>
          </a:solidFill>
          <a:ln w="12700">
            <a:solidFill>
              <a:srgbClr val="C2410C"/>
            </a:solidFill>
            <a:prstDash val="dash"/>
          </a:ln>
        </p:spPr>
        <p:txBody>
          <a:bodyPr rtlCol="0" anchor="ctr" lIns="0" rIns="0" tIns="0" bIns="0"/>
          <a:lstStyle/>
          <a:p>
            <a:pPr algn="ctr"/>
          </a:p>
        </p:txBody>
      </p:sp>
      <p:pic>
        <p:nvPicPr>
          <p:cNvPr id="181" name="icon camera" descr=""/>
          <p:cNvPicPr>
            <a:picLocks noChangeAspect="1"/>
          </p:cNvPicPr>
          <p:nvPr/>
        </p:nvPicPr>
        <p:blipFill>
          <a:blip r:embed="rId5"/>
          <a:stretch>
            <a:fillRect/>
          </a:stretch>
        </p:blipFill>
        <p:spPr>
          <a:xfrm>
            <a:off x="6556248" y="1243584"/>
            <a:ext cx="201168" cy="201168"/>
          </a:xfrm>
          <a:prstGeom prst="rect">
            <a:avLst/>
          </a:prstGeom>
        </p:spPr>
      </p:pic>
      <p:sp>
        <p:nvSpPr>
          <p:cNvPr id="182" name="SHOT label"/>
          <p:cNvSpPr txBox="1"/>
          <p:nvPr/>
        </p:nvSpPr>
        <p:spPr>
          <a:xfrm>
            <a:off x="6812280" y="1234440"/>
            <a:ext cx="186537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shots/s07-finding-drawer-r05.png</a:t>
            </a:r>
          </a:p>
        </p:txBody>
      </p:sp>
      <p:sp>
        <p:nvSpPr>
          <p:cNvPr id="183" name="SHOT text"/>
          <p:cNvSpPr txBox="1"/>
          <p:nvPr/>
        </p:nvSpPr>
        <p:spPr>
          <a:xfrm>
            <a:off x="6556248" y="1490472"/>
            <a:ext cx="2121408" cy="3108960"/>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Finding drawer open on R05 for FA-01: 82 m feeder, ΔV 2.16% against the 2.0% limit, §4.6 chip; fix options "2,000 A busway · 1.66% · +$11,480" and "parallel cable · 0.84% · +$15,580".</a:t>
            </a:r>
          </a:p>
        </p:txBody>
      </p:sp>
      <p:sp>
        <p:nvSpPr>
          <p:cNvPr id="18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1 warm Cloud Run instance</a:t>
            </a:r>
            <a:r>
              <a:rPr sz="900" b="0" lang="en-GB">
                <a:solidFill>
                  <a:srgbClr val="8A4B00"/>
                </a:solidFill>
                <a:highlight>
                  <a:srgbClr val="FDEBD0"/>
                </a:highlight>
                <a:latin typeface="Google Sans Flex"/>
              </a:rPr>
              <a:t> (spec)</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USD 200 budget with alerts</a:t>
            </a:r>
            <a:r>
              <a:rPr sz="900" b="0" lang="en-GB">
                <a:solidFill>
                  <a:srgbClr val="8A4B00"/>
                </a:solidFill>
                <a:highlight>
                  <a:srgbClr val="FDEBD0"/>
                </a:highlight>
                <a:latin typeface="Google Sans Flex"/>
              </a:rPr>
              <a:t> (spec)</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Gemini 3.8 Flash: $0.75 / $3.75 per 1M tokens¹²</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Per design: </a:t>
            </a:r>
            <a:r>
              <a:rPr sz="1150" b="0" lang="en-GB">
                <a:solidFill>
                  <a:srgbClr val="3C4043"/>
                </a:solidFill>
                <a:latin typeface="Google Sans Flex"/>
              </a:rPr>
              <a:t>~$0.057 (measured on a live run, 15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SHOT placeholder shots/s11-1-projects-dashboard.png"/>
          <p:cNvSpPr/>
          <p:nvPr/>
        </p:nvSpPr>
        <p:spPr>
          <a:xfrm>
            <a:off x="356616"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37" name="icon camera" descr=""/>
          <p:cNvPicPr>
            <a:picLocks noChangeAspect="1"/>
          </p:cNvPicPr>
          <p:nvPr/>
        </p:nvPicPr>
        <p:blipFill>
          <a:blip r:embed="rId5"/>
          <a:stretch>
            <a:fillRect/>
          </a:stretch>
        </p:blipFill>
        <p:spPr>
          <a:xfrm>
            <a:off x="466344" y="1243584"/>
            <a:ext cx="201168" cy="201168"/>
          </a:xfrm>
          <a:prstGeom prst="rect">
            <a:avLst/>
          </a:prstGeom>
        </p:spPr>
      </p:pic>
      <p:sp>
        <p:nvSpPr>
          <p:cNvPr id="138" name="SHOT label"/>
          <p:cNvSpPr txBox="1"/>
          <p:nvPr/>
        </p:nvSpPr>
        <p:spPr>
          <a:xfrm>
            <a:off x="722376"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shots/s11-1-projects-dashboard.png</a:t>
            </a:r>
          </a:p>
        </p:txBody>
      </p:sp>
      <p:sp>
        <p:nvSpPr>
          <p:cNvPr id="139" name="SHOT text"/>
          <p:cNvSpPr txBox="1"/>
          <p:nvPr/>
        </p:nvSpPr>
        <p:spPr>
          <a:xfrm>
            <a:off x="466344"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Projects dashboard. Hall A "Signed", Hall B "Not started", Grid and Solar cards; fictional-data banner visible.</a:t>
            </a:r>
          </a:p>
        </p:txBody>
      </p:sp>
      <p:sp>
        <p:nvSpPr>
          <p:cNvPr id="140"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41"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sp>
        <p:nvSpPr>
          <p:cNvPr id="142" name="SHOT placeholder shots/s11-2-hall-b-live-run.png"/>
          <p:cNvSpPr/>
          <p:nvPr/>
        </p:nvSpPr>
        <p:spPr>
          <a:xfrm>
            <a:off x="3227832"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3" name="icon camera" descr=""/>
          <p:cNvPicPr>
            <a:picLocks noChangeAspect="1"/>
          </p:cNvPicPr>
          <p:nvPr/>
        </p:nvPicPr>
        <p:blipFill>
          <a:blip r:embed="rId5"/>
          <a:stretch>
            <a:fillRect/>
          </a:stretch>
        </p:blipFill>
        <p:spPr>
          <a:xfrm>
            <a:off x="3337560" y="1243584"/>
            <a:ext cx="201168" cy="201168"/>
          </a:xfrm>
          <a:prstGeom prst="rect">
            <a:avLst/>
          </a:prstGeom>
        </p:spPr>
      </p:pic>
      <p:sp>
        <p:nvSpPr>
          <p:cNvPr id="144" name="SHOT label"/>
          <p:cNvSpPr txBox="1"/>
          <p:nvPr/>
        </p:nvSpPr>
        <p:spPr>
          <a:xfrm>
            <a:off x="3593592"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shots/s11-2-hall-b-live-run.png</a:t>
            </a:r>
          </a:p>
        </p:txBody>
      </p:sp>
      <p:sp>
        <p:nvSpPr>
          <p:cNvPr id="145" name="SHOT text"/>
          <p:cNvSpPr txBox="1"/>
          <p:nvPr/>
        </p:nvSpPr>
        <p:spPr>
          <a:xfrm>
            <a:off x="3337560"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during the Hall B live run. Power and Cooling lanes both active; elapsed-time clock; SLD staging in.</a:t>
            </a:r>
          </a:p>
        </p:txBody>
      </p:sp>
      <p:sp>
        <p:nvSpPr>
          <p:cNvPr id="146"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7"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sp>
        <p:nvSpPr>
          <p:cNvPr id="148" name="SHOT placeholder shots/s11-3-finding-drawer-r11.png"/>
          <p:cNvSpPr/>
          <p:nvPr/>
        </p:nvSpPr>
        <p:spPr>
          <a:xfrm>
            <a:off x="6099048"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5"/>
          <a:stretch>
            <a:fillRect/>
          </a:stretch>
        </p:blipFill>
        <p:spPr>
          <a:xfrm>
            <a:off x="6208776" y="1243584"/>
            <a:ext cx="201168" cy="201168"/>
          </a:xfrm>
          <a:prstGeom prst="rect">
            <a:avLst/>
          </a:prstGeom>
        </p:spPr>
      </p:pic>
      <p:sp>
        <p:nvSpPr>
          <p:cNvPr id="150" name="SHOT label"/>
          <p:cNvSpPr txBox="1"/>
          <p:nvPr/>
        </p:nvSpPr>
        <p:spPr>
          <a:xfrm>
            <a:off x="6464808"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shots/s11-3-finding-drawer-r11.png</a:t>
            </a:r>
          </a:p>
        </p:txBody>
      </p:sp>
      <p:sp>
        <p:nvSpPr>
          <p:cNvPr id="151" name="SHOT text"/>
          <p:cNvSpPr txBox="1"/>
          <p:nvPr/>
        </p:nvSpPr>
        <p:spPr>
          <a:xfrm>
            <a:off x="6208776"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3D hall, R11 finding drawer open. H-Z2 red where it crosses FB-03; §6.3.4 clause chip; both fix options with cost deltas.</a:t>
            </a:r>
          </a:p>
        </p:txBody>
      </p:sp>
      <p:sp>
        <p:nvSpPr>
          <p:cNvPr id="152"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53"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sp>
        <p:nvSpPr>
          <p:cNvPr id="154" name="SHOT placeholder shots/s11-4-options-r15-swap.png"/>
          <p:cNvSpPr/>
          <p:nvPr/>
        </p:nvSpPr>
        <p:spPr>
          <a:xfrm>
            <a:off x="356616"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55" name="icon camera" descr=""/>
          <p:cNvPicPr>
            <a:picLocks noChangeAspect="1"/>
          </p:cNvPicPr>
          <p:nvPr/>
        </p:nvPicPr>
        <p:blipFill>
          <a:blip r:embed="rId5"/>
          <a:stretch>
            <a:fillRect/>
          </a:stretch>
        </p:blipFill>
        <p:spPr>
          <a:xfrm>
            <a:off x="466344" y="3066669"/>
            <a:ext cx="201168" cy="201168"/>
          </a:xfrm>
          <a:prstGeom prst="rect">
            <a:avLst/>
          </a:prstGeom>
        </p:spPr>
      </p:pic>
      <p:sp>
        <p:nvSpPr>
          <p:cNvPr id="156" name="SHOT label"/>
          <p:cNvSpPr txBox="1"/>
          <p:nvPr/>
        </p:nvSpPr>
        <p:spPr>
          <a:xfrm>
            <a:off x="722376"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shots/s11-4-options-r15-swap.png</a:t>
            </a:r>
          </a:p>
        </p:txBody>
      </p:sp>
      <p:sp>
        <p:nvSpPr>
          <p:cNvPr id="157" name="SHOT text"/>
          <p:cNvSpPr txBox="1"/>
          <p:nvPr/>
        </p:nvSpPr>
        <p:spPr>
          <a:xfrm>
            <a:off x="466344"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Options tab, 2N card. "2.5 MVA · stock 0 · 98 wk &gt; 26 wk (§2.3)" struck through; "3.15 MVA · stock 6 · 38.07% / 76.15%"; fault level 65.42 kA.</a:t>
            </a:r>
          </a:p>
        </p:txBody>
      </p:sp>
      <p:sp>
        <p:nvSpPr>
          <p:cNvPr id="158"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59"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sp>
        <p:nvSpPr>
          <p:cNvPr id="160" name="SHOT placeholder shots/s11-5-what-if-200kw.png"/>
          <p:cNvSpPr/>
          <p:nvPr/>
        </p:nvSpPr>
        <p:spPr>
          <a:xfrm>
            <a:off x="3227832"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5"/>
          <a:stretch>
            <a:fillRect/>
          </a:stretch>
        </p:blipFill>
        <p:spPr>
          <a:xfrm>
            <a:off x="3337560" y="3066669"/>
            <a:ext cx="201168" cy="201168"/>
          </a:xfrm>
          <a:prstGeom prst="rect">
            <a:avLst/>
          </a:prstGeom>
        </p:spPr>
      </p:pic>
      <p:sp>
        <p:nvSpPr>
          <p:cNvPr id="162" name="SHOT label"/>
          <p:cNvSpPr txBox="1"/>
          <p:nvPr/>
        </p:nvSpPr>
        <p:spPr>
          <a:xfrm>
            <a:off x="3593592"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shots/s11-5-what-if-200kw.png</a:t>
            </a:r>
          </a:p>
        </p:txBody>
      </p:sp>
      <p:sp>
        <p:nvSpPr>
          <p:cNvPr id="163" name="SHOT text"/>
          <p:cNvSpPr txBox="1"/>
          <p:nvPr/>
        </p:nvSpPr>
        <p:spPr>
          <a:xfrm>
            <a:off x="3337560"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What-if at 200 kW per rack. Impact chain lit rack → busway → board → transformer (power colour) and rack → zone → CDU (cooling colour); counters "60 findings · 18 impact chains".</a:t>
            </a:r>
          </a:p>
        </p:txBody>
      </p:sp>
      <p:sp>
        <p:nvSpPr>
          <p:cNvPr id="164"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65"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sp>
        <p:nvSpPr>
          <p:cNvPr id="166" name="SHOT placeholder shots/s11-6-review-approved.png"/>
          <p:cNvSpPr/>
          <p:nvPr/>
        </p:nvSpPr>
        <p:spPr>
          <a:xfrm>
            <a:off x="6099048"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7" name="icon camera" descr=""/>
          <p:cNvPicPr>
            <a:picLocks noChangeAspect="1"/>
          </p:cNvPicPr>
          <p:nvPr/>
        </p:nvPicPr>
        <p:blipFill>
          <a:blip r:embed="rId5"/>
          <a:stretch>
            <a:fillRect/>
          </a:stretch>
        </p:blipFill>
        <p:spPr>
          <a:xfrm>
            <a:off x="6208776" y="3066669"/>
            <a:ext cx="201168" cy="201168"/>
          </a:xfrm>
          <a:prstGeom prst="rect">
            <a:avLst/>
          </a:prstGeom>
        </p:spPr>
      </p:pic>
      <p:sp>
        <p:nvSpPr>
          <p:cNvPr id="168" name="SHOT label"/>
          <p:cNvSpPr txBox="1"/>
          <p:nvPr/>
        </p:nvSpPr>
        <p:spPr>
          <a:xfrm>
            <a:off x="6464808"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shots/s11-6-review-approved.png</a:t>
            </a:r>
          </a:p>
        </p:txBody>
      </p:sp>
      <p:sp>
        <p:nvSpPr>
          <p:cNvPr id="169" name="SHOT text"/>
          <p:cNvSpPr txBox="1"/>
          <p:nvPr/>
        </p:nvSpPr>
        <p:spPr>
          <a:xfrm>
            <a:off x="6208776"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Review page after approval. Diff, ledger with its "not checked" list, stamp "You (Demo Reviewer) · time · revision hash".</a:t>
            </a:r>
          </a:p>
        </p:txBody>
      </p:sp>
      <p:sp>
        <p:nvSpPr>
          <p:cNvPr id="170"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71"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sp>
        <p:nvSpPr>
          <p:cNvPr id="160" name="SHOT placeholder shots/s12-compliance-matrix-first-pass.png"/>
          <p:cNvSpPr/>
          <p:nvPr/>
        </p:nvSpPr>
        <p:spPr>
          <a:xfrm>
            <a:off x="356616" y="2487168"/>
            <a:ext cx="3950208" cy="2221992"/>
          </a:xfrm>
          <a:prstGeom prst="roundRect">
            <a:avLst>
              <a:gd name="adj" fmla="val 2469"/>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9"/>
          <a:stretch>
            <a:fillRect/>
          </a:stretch>
        </p:blipFill>
        <p:spPr>
          <a:xfrm>
            <a:off x="466344" y="2596896"/>
            <a:ext cx="201168" cy="201168"/>
          </a:xfrm>
          <a:prstGeom prst="rect">
            <a:avLst/>
          </a:prstGeom>
        </p:spPr>
      </p:pic>
      <p:sp>
        <p:nvSpPr>
          <p:cNvPr id="162" name="SHOT label"/>
          <p:cNvSpPr txBox="1"/>
          <p:nvPr/>
        </p:nvSpPr>
        <p:spPr>
          <a:xfrm>
            <a:off x="722376" y="2587752"/>
            <a:ext cx="3474720"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shots/s12-compliance-matrix-first-pass.png</a:t>
            </a:r>
          </a:p>
        </p:txBody>
      </p:sp>
      <p:sp>
        <p:nvSpPr>
          <p:cNvPr id="163" name="SHOT text"/>
          <p:cNvSpPr txBox="1"/>
          <p:nvPr/>
        </p:nvSpPr>
        <p:spPr>
          <a:xfrm>
            <a:off x="466344" y="2843784"/>
            <a:ext cx="3730752" cy="175564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Compliance matrix at the end of the first pass. Counter "149 checks · 147 pass · 2 fail" with the two red cells (R05 FA-01, R11 H-Z2).</a:t>
            </a:r>
          </a:p>
        </p:txBody>
      </p:sp>
      <p:sp>
        <p:nvSpPr>
          <p:cNvPr id="164"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5"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6"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7"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8"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9"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Real SAP and Salesforce connectors,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sp>
        <p:nvSpPr>
          <p:cNvPr id="164" name="SHOT placeholder shots/s13-grid-pack.png"/>
          <p:cNvSpPr/>
          <p:nvPr/>
        </p:nvSpPr>
        <p:spPr>
          <a:xfrm>
            <a:off x="356616"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5" name="icon camera" descr=""/>
          <p:cNvPicPr>
            <a:picLocks noChangeAspect="1"/>
          </p:cNvPicPr>
          <p:nvPr/>
        </p:nvPicPr>
        <p:blipFill>
          <a:blip r:embed="rId8"/>
          <a:stretch>
            <a:fillRect/>
          </a:stretch>
        </p:blipFill>
        <p:spPr>
          <a:xfrm>
            <a:off x="466344" y="2505456"/>
            <a:ext cx="201168" cy="201168"/>
          </a:xfrm>
          <a:prstGeom prst="rect">
            <a:avLst/>
          </a:prstGeom>
        </p:spPr>
      </p:pic>
      <p:sp>
        <p:nvSpPr>
          <p:cNvPr id="166" name="SHOT label"/>
          <p:cNvSpPr txBox="1"/>
          <p:nvPr/>
        </p:nvSpPr>
        <p:spPr>
          <a:xfrm>
            <a:off x="722376"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shots/s13-grid-pack.png</a:t>
            </a:r>
          </a:p>
        </p:txBody>
      </p:sp>
      <p:sp>
        <p:nvSpPr>
          <p:cNvPr id="167" name="SHOT text"/>
          <p:cNvSpPr txBox="1"/>
          <p:nvPr/>
        </p:nvSpPr>
        <p:spPr>
          <a:xfrm>
            <a:off x="466344"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Grid pack. 132 kV line on the static map, conductor comparison cards, mini SLD.</a:t>
            </a:r>
          </a:p>
        </p:txBody>
      </p:sp>
      <p:sp>
        <p:nvSpPr>
          <p:cNvPr id="168" name="SHOT placeholder shots/s13-solar-pack.png"/>
          <p:cNvSpPr/>
          <p:nvPr/>
        </p:nvSpPr>
        <p:spPr>
          <a:xfrm>
            <a:off x="4663440"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9" name="icon camera" descr=""/>
          <p:cNvPicPr>
            <a:picLocks noChangeAspect="1"/>
          </p:cNvPicPr>
          <p:nvPr/>
        </p:nvPicPr>
        <p:blipFill>
          <a:blip r:embed="rId8"/>
          <a:stretch>
            <a:fillRect/>
          </a:stretch>
        </p:blipFill>
        <p:spPr>
          <a:xfrm>
            <a:off x="4773168" y="2505456"/>
            <a:ext cx="201168" cy="201168"/>
          </a:xfrm>
          <a:prstGeom prst="rect">
            <a:avLst/>
          </a:prstGeom>
        </p:spPr>
      </p:pic>
      <p:sp>
        <p:nvSpPr>
          <p:cNvPr id="170" name="SHOT label"/>
          <p:cNvSpPr txBox="1"/>
          <p:nvPr/>
        </p:nvSpPr>
        <p:spPr>
          <a:xfrm>
            <a:off x="5029200"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shots/s13-solar-pack.png</a:t>
            </a:r>
          </a:p>
        </p:txBody>
      </p:sp>
      <p:sp>
        <p:nvSpPr>
          <p:cNvPr id="171" name="SHOT text"/>
          <p:cNvSpPr txBox="1"/>
          <p:nvPr/>
        </p:nvSpPr>
        <p:spPr>
          <a:xfrm>
            <a:off x="4773168"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Solar pack. Field layout with tables; card "STR-28 recommended · 327 tables · ~5,036 kWp · DC/AC 1.26 · clear-sky yield ~2,639 kWh/kWp (clear-sky only)".</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2:45)</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9"/>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0">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1"/>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Mehul Arora" descr="mehul.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1"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Team lead. </a:t>
            </a:r>
            <a:r>
              <a:rPr sz="1100" b="0" lang="en-GB">
                <a:solidFill>
                  <a:srgbClr val="5C3D00"/>
                </a:solidFill>
                <a:highlight>
                  <a:srgbClr val="FFE58F"/>
                </a:highlight>
                <a:latin typeface="Google Sans Flex SemiBold"/>
              </a:rPr>
              <a:t>[TBD: role and one-line background]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Jayadratha" descr="jayadratha.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a:t>
            </a:r>
          </a:p>
        </p:txBody>
      </p:sp>
      <p:sp>
        <p:nvSpPr>
          <p:cNvPr id="175"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1100" b="0" lang="en-GB">
                <a:solidFill>
                  <a:srgbClr val="5C3D00"/>
                </a:solidFill>
                <a:highlight>
                  <a:srgbClr val="FFE58F"/>
                </a:highlight>
                <a:latin typeface="Google Sans Flex SemiBold"/>
              </a:rPr>
              <a:t>[TBD: role and one-line background]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
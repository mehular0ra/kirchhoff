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Jayadratha Gayen, who leads, and Mehul Arora.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It starts in the bids inbox, where an agent reads the tender email and decides whether to pursue. Gemini agents then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Bids inbox. A tender starts as an email in a simulated mailbox. The inbox agent reads the mail and its attachments, pulls out the client, site, load and bid date, and shows the source of each quote (the email body or the PDF page). A fit verdict (Pursue, Clarify or Decline) then comes from deterministic rules from the firm's appetite, the engine and the ERP, with no AI in the verdict, and Pursue creates or advances the deal in the CRM sandbox. The mailbox, ERP, CRM and documents are simulated in this demo; real Gmail, ERP and document connectors are on the roadmap.</a:t>
            </a:r>
          </a:p>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Co-pilot. Type or speak. Each question becomes a card in the Conversation panel, with the engine check behind the answer and what changed on screen, and the conversation is kept per project. Gemini Live can call what_if, explain_finding and focus_element; it only chooses which check to run, and the engine writes every answer. Gemini's spoken words stay off screen unless the visitor switches them on.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agents call engine tools; the run orchestrator orders the phases,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Measured on the golden-capture run on Vertex AI, 16 Oct 2026: a full P1→P4 run took 177.5 s and used 10,628 input and 15,566 output tokens, about $0.066 per design at $0.75 per million input and $3.75 per million output tokens; two other live runs cost $0.068 and $0.101.</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2 minutes 48 seconds in, in Ask mode. Power and Cooling are still working, and the elapsed-time clock is running.</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We found no published figure for how long a first coordinated electrical package takes, so we don't quote one. Kirchhoff produces a checked concept design, not construction drawings, so the honest comparison is first checked concept against first concept. Median 149 s from the start of a run to a checker-clean revision over 3 live runs on the deployed site (143.8 s, 149.2 s and 211.4 s), excluding the time spent waiting at gates. Requirement recall of 0.78 to 0.84 against our hand-labelled ground truth over four live runs (0.78 on the golden-capture run the site shows), with 25 of 26 extracted quotes verified word for word against the tender PDF on that run; unverified quotes are shown as unverified, never as fact.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mailbox, ERP and CRM connectors, client replies and change requests captured from the mail thread into the same project (the demo video simulates that step and says so), payment and completion tracking,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The Bids inbox in the top bar shows six sample emails, triaged.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Jayadratha Gayen built the bids inbox, the asset agent and the end-to-end test suite, and ran Kirchhoff's cloud deployments and golden capture. He is an AI researcher and former electrical engineer (B.Tech, IIEST Shibpur) who worked at Vikram Solar and trained in grid operations at the Eastern Regional Load Despatch Centre, with an MS by Research in graph machine learning from IIIT Hyderabad, published at TMLR and ASONAM 2025, and a GSoC 2025 contributor (INCF); he also trained on low- and high-tension systems at CESC. Mehul Arora built Kirchhoff's agent layer, its deterministic engine and the web app. He builds production multi-agent LLM systems on Gemini, Google ADK and Cloud Run, and earlier did graph neural network research for his MS by Research at IIIT Hyderabad and data science on US power-market datasets.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22.png"/><Relationship Id="rId16" Type="http://schemas.openxmlformats.org/officeDocument/2006/relationships/image" Target="../media/image23.png"/><Relationship Id="rId17" Type="http://schemas.openxmlformats.org/officeDocument/2006/relationships/image" Target="../media/image24.png"/><Relationship Id="rId18" Type="http://schemas.openxmlformats.org/officeDocument/2006/relationships/image" Target="../media/image25.png"/><Relationship Id="rId19" Type="http://schemas.openxmlformats.org/officeDocument/2006/relationships/image" Target="../media/image26.png"/><Relationship Id="rId20" Type="http://schemas.openxmlformats.org/officeDocument/2006/relationships/image" Target="../media/image27.png"/><Relationship Id="rId21" Type="http://schemas.openxmlformats.org/officeDocument/2006/relationships/image" Target="../media/image28.png"/><Relationship Id="rId22"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1.png"/><Relationship Id="rId6"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9.png"/><Relationship Id="rId6" Type="http://schemas.openxmlformats.org/officeDocument/2006/relationships/hyperlink" Target="https://github.com/mehular0ra/kirchhoff" TargetMode="External"/><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hyperlink" Target="https://youtu.be/lSz7jH-CUuM" TargetMode="External"/><Relationship Id="rId10" Type="http://schemas.openxmlformats.org/officeDocument/2006/relationships/image" Target="../media/image52.png"/><Relationship Id="rId11" Type="http://schemas.openxmlformats.org/officeDocument/2006/relationships/image" Target="../media/image53.png"/><Relationship Id="rId12" Type="http://schemas.openxmlformats.org/officeDocument/2006/relationships/hyperlink" Target="https://kirchhoff.web.app" TargetMode="External"/><Relationship Id="rId13" Type="http://schemas.openxmlformats.org/officeDocument/2006/relationships/image" Target="../media/image5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5.jpg"/><Relationship Id="rId6" Type="http://schemas.openxmlformats.org/officeDocument/2006/relationships/image" Target="../media/image5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leader name: </a:t>
            </a:r>
            <a:r>
              <a:rPr sz="1250" lang="en-GB">
                <a:solidFill>
                  <a:srgbClr val="202124"/>
                </a:solidFill>
                <a:latin typeface="Google Sans Flex SemiBold"/>
              </a:rPr>
              <a:t>Jayadratha Gayen (with Mehul Arora)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3C4043"/>
                </a:solidFill>
                <a:latin typeface="Google Sans Flex"/>
              </a:rPr>
              <a:t>AI data halls need power and liquid cooling designed together, around equipment that can actually ship, by senior engineers in short supply. And only 6% of engineers trust AI results without checking.¹</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
        <p:nvSpPr>
          <p:cNvPr id="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 Omni Calculator, AI adoption in engineering.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pic>
        <p:nvPicPr>
          <p:cNvPr id="86" name="screenshot s03-workspace-signed" descr="Workspace, Hall A (signed). 3D hall all green; agent lanes on the left all ✓; co-pilot on the right; revision bar reads &quot;r1 (2 fail) → r2 ✓ → signed by Priya Raman (Reviewer)&quot;."/>
          <p:cNvPicPr>
            <a:picLocks noChangeAspect="1"/>
          </p:cNvPicPr>
          <p:nvPr/>
        </p:nvPicPr>
        <p:blipFill>
          <a:blip r:embed="rId8"/>
          <a:stretch>
            <a:fillRect/>
          </a:stretch>
        </p:blipFill>
        <p:spPr>
          <a:xfrm>
            <a:off x="4041648" y="1499616"/>
            <a:ext cx="4745736" cy="2669476"/>
          </a:xfrm>
          <a:prstGeom prst="rect">
            <a:avLst/>
          </a:prstGeom>
          <a:ln w="9525">
            <a:solidFill>
              <a:srgbClr val="DADCE0"/>
            </a:solidFill>
          </a:ln>
        </p:spPr>
      </p:pic>
      <p:sp>
        <p:nvSpPr>
          <p:cNvPr id="8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Bids inbox and verified tender intake</a:t>
            </a:r>
          </a:p>
        </p:txBody>
      </p:sp>
      <p:pic>
        <p:nvPicPr>
          <p:cNvPr id="92" name="screenshot s05-1-intake-quotes" descr="Bids inbox, Hall B tender: the extracted fields each marked &quot;quote verified&quot; and the Pursue verdict"/>
          <p:cNvPicPr>
            <a:picLocks noChangeAspect="1"/>
          </p:cNvPicPr>
          <p:nvPr/>
        </p:nvPicPr>
        <p:blipFill>
          <a:blip r:embed="rId6"/>
          <a:srcRect l="827" r="827"/>
          <a:stretch>
            <a:fillRect/>
          </a:stretch>
        </p:blipFill>
        <p:spPr>
          <a:xfrm>
            <a:off x="1600200" y="1207008"/>
            <a:ext cx="1408176" cy="954024"/>
          </a:xfrm>
          <a:prstGeom prst="rect">
            <a:avLst/>
          </a:prstGeom>
          <a:ln w="9525">
            <a:solidFill>
              <a:srgbClr val="DADCE0"/>
            </a:solidFill>
          </a:ln>
        </p:spPr>
      </p:pic>
      <p:sp>
        <p:nvSpPr>
          <p:cNvPr id="93"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4"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5"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6"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pic>
        <p:nvPicPr>
          <p:cNvPr id="97" name="screenshot s05-2-hall-3d-tiers" descr="3D hall, busways and pipes on their tiers"/>
          <p:cNvPicPr>
            <a:picLocks noChangeAspect="1"/>
          </p:cNvPicPr>
          <p:nvPr/>
        </p:nvPicPr>
        <p:blipFill>
          <a:blip r:embed="rId8"/>
          <a:srcRect l="781" r="781"/>
          <a:stretch>
            <a:fillRect/>
          </a:stretch>
        </p:blipFill>
        <p:spPr>
          <a:xfrm>
            <a:off x="4453128" y="1207008"/>
            <a:ext cx="1408176" cy="954024"/>
          </a:xfrm>
          <a:prstGeom prst="rect">
            <a:avLst/>
          </a:prstGeom>
          <a:ln w="9525">
            <a:solidFill>
              <a:srgbClr val="DADCE0"/>
            </a:solidFill>
          </a:ln>
        </p:spPr>
      </p:pic>
      <p:sp>
        <p:nvSpPr>
          <p:cNvPr id="98"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9"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0" name="icon shield-check" descr=""/>
          <p:cNvPicPr>
            <a:picLocks noChangeAspect="1"/>
          </p:cNvPicPr>
          <p:nvPr/>
        </p:nvPicPr>
        <p:blipFill>
          <a:blip r:embed="rId9"/>
          <a:stretch>
            <a:fillRect/>
          </a:stretch>
        </p:blipFill>
        <p:spPr>
          <a:xfrm>
            <a:off x="6246815" y="1318199"/>
            <a:ext cx="161666" cy="161666"/>
          </a:xfrm>
          <a:prstGeom prst="rect">
            <a:avLst/>
          </a:prstGeom>
        </p:spPr>
      </p:pic>
      <p:sp>
        <p:nvSpPr>
          <p:cNvPr id="101"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pic>
        <p:nvPicPr>
          <p:cNvPr id="102" name="screenshot s05-3-compliance-matrix" descr="compliance matrix"/>
          <p:cNvPicPr>
            <a:picLocks noChangeAspect="1"/>
          </p:cNvPicPr>
          <p:nvPr/>
        </p:nvPicPr>
        <p:blipFill>
          <a:blip r:embed="rId10"/>
          <a:srcRect l="817" r="817"/>
          <a:stretch>
            <a:fillRect/>
          </a:stretch>
        </p:blipFill>
        <p:spPr>
          <a:xfrm>
            <a:off x="7306056" y="1207008"/>
            <a:ext cx="1408176" cy="954024"/>
          </a:xfrm>
          <a:prstGeom prst="rect">
            <a:avLst/>
          </a:prstGeom>
          <a:ln w="9525">
            <a:solidFill>
              <a:srgbClr val="DADCE0"/>
            </a:solidFill>
          </a:ln>
        </p:spPr>
      </p:pic>
      <p:sp>
        <p:nvSpPr>
          <p:cNvPr id="103"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4"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05" name="icon truck" descr=""/>
          <p:cNvPicPr>
            <a:picLocks noChangeAspect="1"/>
          </p:cNvPicPr>
          <p:nvPr/>
        </p:nvPicPr>
        <p:blipFill>
          <a:blip r:embed="rId11"/>
          <a:stretch>
            <a:fillRect/>
          </a:stretch>
        </p:blipFill>
        <p:spPr>
          <a:xfrm>
            <a:off x="540959" y="2546543"/>
            <a:ext cx="161666" cy="161666"/>
          </a:xfrm>
          <a:prstGeom prst="rect">
            <a:avLst/>
          </a:prstGeom>
        </p:spPr>
      </p:pic>
      <p:sp>
        <p:nvSpPr>
          <p:cNvPr id="106"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pic>
        <p:nvPicPr>
          <p:cNvPr id="107" name="screenshot s05-4-option-r15-swap" descr="option card showing the R15 swap"/>
          <p:cNvPicPr>
            <a:picLocks noChangeAspect="1"/>
          </p:cNvPicPr>
          <p:nvPr/>
        </p:nvPicPr>
        <p:blipFill>
          <a:blip r:embed="rId12"/>
          <a:srcRect l="799" r="799"/>
          <a:stretch>
            <a:fillRect/>
          </a:stretch>
        </p:blipFill>
        <p:spPr>
          <a:xfrm>
            <a:off x="1600200" y="2435352"/>
            <a:ext cx="1408176" cy="954024"/>
          </a:xfrm>
          <a:prstGeom prst="rect">
            <a:avLst/>
          </a:prstGeom>
          <a:ln w="9525">
            <a:solidFill>
              <a:srgbClr val="DADCE0"/>
            </a:solidFill>
          </a:ln>
        </p:spPr>
      </p:pic>
      <p:sp>
        <p:nvSpPr>
          <p:cNvPr id="108"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9"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10" name="icon waypoints" descr=""/>
          <p:cNvPicPr>
            <a:picLocks noChangeAspect="1"/>
          </p:cNvPicPr>
          <p:nvPr/>
        </p:nvPicPr>
        <p:blipFill>
          <a:blip r:embed="rId13"/>
          <a:stretch>
            <a:fillRect/>
          </a:stretch>
        </p:blipFill>
        <p:spPr>
          <a:xfrm>
            <a:off x="3393887" y="2546543"/>
            <a:ext cx="161666" cy="161666"/>
          </a:xfrm>
          <a:prstGeom prst="rect">
            <a:avLst/>
          </a:prstGeom>
        </p:spPr>
      </p:pic>
      <p:sp>
        <p:nvSpPr>
          <p:cNvPr id="111"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pic>
        <p:nvPicPr>
          <p:cNvPr id="112" name="screenshot s05-5-impact-chain" descr="impact chain lit in two colours"/>
          <p:cNvPicPr>
            <a:picLocks noChangeAspect="1"/>
          </p:cNvPicPr>
          <p:nvPr/>
        </p:nvPicPr>
        <p:blipFill>
          <a:blip r:embed="rId14"/>
          <a:srcRect l="874" r="874"/>
          <a:stretch>
            <a:fillRect/>
          </a:stretch>
        </p:blipFill>
        <p:spPr>
          <a:xfrm>
            <a:off x="4453128" y="2435352"/>
            <a:ext cx="1408176" cy="954024"/>
          </a:xfrm>
          <a:prstGeom prst="rect">
            <a:avLst/>
          </a:prstGeom>
          <a:ln w="9525">
            <a:solidFill>
              <a:srgbClr val="DADCE0"/>
            </a:solidFill>
          </a:ln>
        </p:spPr>
      </p:pic>
      <p:sp>
        <p:nvSpPr>
          <p:cNvPr id="113"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4"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15" name="icon mic" descr=""/>
          <p:cNvPicPr>
            <a:picLocks noChangeAspect="1"/>
          </p:cNvPicPr>
          <p:nvPr/>
        </p:nvPicPr>
        <p:blipFill>
          <a:blip r:embed="rId15"/>
          <a:stretch>
            <a:fillRect/>
          </a:stretch>
        </p:blipFill>
        <p:spPr>
          <a:xfrm>
            <a:off x="6246815" y="2546543"/>
            <a:ext cx="161666" cy="161666"/>
          </a:xfrm>
          <a:prstGeom prst="rect">
            <a:avLst/>
          </a:prstGeom>
        </p:spPr>
      </p:pic>
      <p:sp>
        <p:nvSpPr>
          <p:cNvPr id="116"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Voice and text co-pilot, engine answers</a:t>
            </a:r>
          </a:p>
        </p:txBody>
      </p:sp>
      <p:pic>
        <p:nvPicPr>
          <p:cNvPr id="117" name="screenshot s05-6-copilot-voice" descr="co-pilot after one question: the Conversation panel card with its engine check, and the hall it moved"/>
          <p:cNvPicPr>
            <a:picLocks noChangeAspect="1"/>
          </p:cNvPicPr>
          <p:nvPr/>
        </p:nvPicPr>
        <p:blipFill>
          <a:blip r:embed="rId16"/>
          <a:srcRect l="819" r="819"/>
          <a:stretch>
            <a:fillRect/>
          </a:stretch>
        </p:blipFill>
        <p:spPr>
          <a:xfrm>
            <a:off x="7306056" y="2435352"/>
            <a:ext cx="1408176" cy="954024"/>
          </a:xfrm>
          <a:prstGeom prst="rect">
            <a:avLst/>
          </a:prstGeom>
          <a:ln w="9525">
            <a:solidFill>
              <a:srgbClr val="DADCE0"/>
            </a:solidFill>
          </a:ln>
        </p:spPr>
      </p:pic>
      <p:sp>
        <p:nvSpPr>
          <p:cNvPr id="118"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9"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20" name="icon stamp" descr=""/>
          <p:cNvPicPr>
            <a:picLocks noChangeAspect="1"/>
          </p:cNvPicPr>
          <p:nvPr/>
        </p:nvPicPr>
        <p:blipFill>
          <a:blip r:embed="rId17"/>
          <a:stretch>
            <a:fillRect/>
          </a:stretch>
        </p:blipFill>
        <p:spPr>
          <a:xfrm>
            <a:off x="540959" y="3774887"/>
            <a:ext cx="161666" cy="161666"/>
          </a:xfrm>
          <a:prstGeom prst="rect">
            <a:avLst/>
          </a:prstGeom>
        </p:spPr>
      </p:pic>
      <p:sp>
        <p:nvSpPr>
          <p:cNvPr id="121"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pic>
        <p:nvPicPr>
          <p:cNvPr id="122" name="screenshot s05-7-review-stamp" descr="review stamp with hash"/>
          <p:cNvPicPr>
            <a:picLocks noChangeAspect="1"/>
          </p:cNvPicPr>
          <p:nvPr/>
        </p:nvPicPr>
        <p:blipFill>
          <a:blip r:embed="rId18"/>
          <a:srcRect l="915" r="915"/>
          <a:stretch>
            <a:fillRect/>
          </a:stretch>
        </p:blipFill>
        <p:spPr>
          <a:xfrm>
            <a:off x="1600200" y="3663696"/>
            <a:ext cx="1408176" cy="954024"/>
          </a:xfrm>
          <a:prstGeom prst="rect">
            <a:avLst/>
          </a:prstGeom>
          <a:ln w="9525">
            <a:solidFill>
              <a:srgbClr val="DADCE0"/>
            </a:solidFill>
          </a:ln>
        </p:spPr>
      </p:pic>
      <p:sp>
        <p:nvSpPr>
          <p:cNvPr id="123"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4"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25" name="icon arrow-right-left" descr=""/>
          <p:cNvPicPr>
            <a:picLocks noChangeAspect="1"/>
          </p:cNvPicPr>
          <p:nvPr/>
        </p:nvPicPr>
        <p:blipFill>
          <a:blip r:embed="rId19"/>
          <a:stretch>
            <a:fillRect/>
          </a:stretch>
        </p:blipFill>
        <p:spPr>
          <a:xfrm>
            <a:off x="3393887" y="3774887"/>
            <a:ext cx="161666" cy="161666"/>
          </a:xfrm>
          <a:prstGeom prst="rect">
            <a:avLst/>
          </a:prstGeom>
        </p:spPr>
      </p:pic>
      <p:sp>
        <p:nvSpPr>
          <p:cNvPr id="126"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pic>
        <p:nvPicPr>
          <p:cNvPr id="127" name="screenshot s05-8-integrations" descr="Integrations page"/>
          <p:cNvPicPr>
            <a:picLocks noChangeAspect="1"/>
          </p:cNvPicPr>
          <p:nvPr/>
        </p:nvPicPr>
        <p:blipFill>
          <a:blip r:embed="rId20"/>
          <a:srcRect l="775" r="775"/>
          <a:stretch>
            <a:fillRect/>
          </a:stretch>
        </p:blipFill>
        <p:spPr>
          <a:xfrm>
            <a:off x="4453128" y="3663696"/>
            <a:ext cx="1408176" cy="954024"/>
          </a:xfrm>
          <a:prstGeom prst="rect">
            <a:avLst/>
          </a:prstGeom>
          <a:ln w="9525">
            <a:solidFill>
              <a:srgbClr val="DADCE0"/>
            </a:solidFill>
          </a:ln>
        </p:spPr>
      </p:pic>
      <p:sp>
        <p:nvSpPr>
          <p:cNvPr id="128"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30" name="icon sun" descr=""/>
          <p:cNvPicPr>
            <a:picLocks noChangeAspect="1"/>
          </p:cNvPicPr>
          <p:nvPr/>
        </p:nvPicPr>
        <p:blipFill>
          <a:blip r:embed="rId21"/>
          <a:stretch>
            <a:fillRect/>
          </a:stretch>
        </p:blipFill>
        <p:spPr>
          <a:xfrm>
            <a:off x="6246815" y="3774887"/>
            <a:ext cx="161666" cy="161666"/>
          </a:xfrm>
          <a:prstGeom prst="rect">
            <a:avLst/>
          </a:prstGeom>
        </p:spPr>
      </p:pic>
      <p:sp>
        <p:nvSpPr>
          <p:cNvPr id="131"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pic>
        <p:nvPicPr>
          <p:cNvPr id="132" name="screenshot s05-9-solar-field" descr="Solar field layout"/>
          <p:cNvPicPr>
            <a:picLocks noChangeAspect="1"/>
          </p:cNvPicPr>
          <p:nvPr/>
        </p:nvPicPr>
        <p:blipFill>
          <a:blip r:embed="rId22"/>
          <a:srcRect l="799" r="799"/>
          <a:stretch>
            <a:fillRect/>
          </a:stretch>
        </p:blipFill>
        <p:spPr>
          <a:xfrm>
            <a:off x="7306056" y="3663696"/>
            <a:ext cx="1408176" cy="954024"/>
          </a:xfrm>
          <a:prstGeom prst="rect">
            <a:avLst/>
          </a:prstGeom>
          <a:ln w="9525">
            <a:solidFill>
              <a:srgbClr val="DADCE0"/>
            </a:solidFill>
          </a:ln>
        </p:spPr>
      </p:pic>
      <p:sp>
        <p:nvSpPr>
          <p:cNvPr id="133"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pic>
        <p:nvPicPr>
          <p:cNvPr id="180" name="screenshot s07-finding-drawer-r05" descr="Finding drawer open on R05 for FA-01: 82 m feeder, ΔV 2.16% against the 2.0% limit, §4.6 chip; fix options &quot;2,000 A busway · 1.66% · +$11,480&quot; and &quot;parallel cable · 0.84% · +$15,580&quot;."/>
          <p:cNvPicPr>
            <a:picLocks noChangeAspect="1"/>
          </p:cNvPicPr>
          <p:nvPr/>
        </p:nvPicPr>
        <p:blipFill>
          <a:blip r:embed="rId5"/>
          <a:stretch>
            <a:fillRect/>
          </a:stretch>
        </p:blipFill>
        <p:spPr>
          <a:xfrm>
            <a:off x="6638237" y="1133856"/>
            <a:ext cx="1957429" cy="3575304"/>
          </a:xfrm>
          <a:prstGeom prst="rect">
            <a:avLst/>
          </a:prstGeom>
          <a:ln w="9525">
            <a:solidFill>
              <a:srgbClr val="DADCE0"/>
            </a:solidFill>
          </a:ln>
        </p:spPr>
      </p:pic>
      <p:sp>
        <p:nvSpPr>
          <p:cNvPr id="181"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1 warm Cloud Run instance</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USD 200 budget with alerts</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Gemini 3.8 Flash: $0.75 / $3.75 per 1M tokens¹²</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Per design: </a:t>
            </a:r>
            <a:r>
              <a:rPr sz="1100" b="0" lang="en-GB">
                <a:solidFill>
                  <a:srgbClr val="3C4043"/>
                </a:solidFill>
                <a:latin typeface="Google Sans Flex"/>
              </a:rPr>
              <a:t>~$0.066 (measured on the golden-capture run, 16 Oct 2026)</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screenshot s11-1-projects-dashboard" descr="Projects dashboard. Hall A &quot;Signed&quot;, Hall B &quot;Not started&quot;, Grid and Solar cards; fictional-data banner visible."/>
          <p:cNvPicPr>
            <a:picLocks noChangeAspect="1"/>
          </p:cNvPicPr>
          <p:nvPr/>
        </p:nvPicPr>
        <p:blipFill>
          <a:blip r:embed="rId5"/>
          <a:stretch>
            <a:fillRect/>
          </a:stretch>
        </p:blipFill>
        <p:spPr>
          <a:xfrm>
            <a:off x="356616" y="1133856"/>
            <a:ext cx="2688336" cy="1512189"/>
          </a:xfrm>
          <a:prstGeom prst="rect">
            <a:avLst/>
          </a:prstGeom>
          <a:ln w="9525">
            <a:solidFill>
              <a:srgbClr val="DADCE0"/>
            </a:solidFill>
          </a:ln>
        </p:spPr>
      </p:pic>
      <p:sp>
        <p:nvSpPr>
          <p:cNvPr id="137"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38"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pic>
        <p:nvPicPr>
          <p:cNvPr id="139" name="screenshot s11-2-hall-b-live-run" descr="Workspace during the Hall B live run (Ask mode, elapsed 02:48). &quot;Live run · 2 agents working&quot;; Power and Cooling lanes both Working; elapsed-time clock; the 3D hall drawn from the first revision with its two findings."/>
          <p:cNvPicPr>
            <a:picLocks noChangeAspect="1"/>
          </p:cNvPicPr>
          <p:nvPr/>
        </p:nvPicPr>
        <p:blipFill>
          <a:blip r:embed="rId6"/>
          <a:stretch>
            <a:fillRect/>
          </a:stretch>
        </p:blipFill>
        <p:spPr>
          <a:xfrm>
            <a:off x="3227832" y="1133856"/>
            <a:ext cx="2688336" cy="1512189"/>
          </a:xfrm>
          <a:prstGeom prst="rect">
            <a:avLst/>
          </a:prstGeom>
          <a:ln w="9525">
            <a:solidFill>
              <a:srgbClr val="DADCE0"/>
            </a:solidFill>
          </a:ln>
        </p:spPr>
      </p:pic>
      <p:sp>
        <p:nvSpPr>
          <p:cNvPr id="140"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1"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pic>
        <p:nvPicPr>
          <p:cNvPr id="142" name="screenshot s11-3-finding-drawer-r11" descr="3D hall, R11 finding drawer open. H-Z2 red where it crosses FB-03; §6.3.4 clause chip; both fix options with cost deltas."/>
          <p:cNvPicPr>
            <a:picLocks noChangeAspect="1"/>
          </p:cNvPicPr>
          <p:nvPr/>
        </p:nvPicPr>
        <p:blipFill>
          <a:blip r:embed="rId7"/>
          <a:stretch>
            <a:fillRect/>
          </a:stretch>
        </p:blipFill>
        <p:spPr>
          <a:xfrm>
            <a:off x="6099048" y="1133856"/>
            <a:ext cx="2688336" cy="1512189"/>
          </a:xfrm>
          <a:prstGeom prst="rect">
            <a:avLst/>
          </a:prstGeom>
          <a:ln w="9525">
            <a:solidFill>
              <a:srgbClr val="DADCE0"/>
            </a:solidFill>
          </a:ln>
        </p:spPr>
      </p:pic>
      <p:sp>
        <p:nvSpPr>
          <p:cNvPr id="143"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44"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pic>
        <p:nvPicPr>
          <p:cNvPr id="145" name="screenshot s11-4-options-r15-swap" descr="Options tab, 2N card Selected, with its swap line &quot;TX-2500 → TX-3150 (R15, line transformer)&quot;, loading 38.07% / 76.15% and max lead time 14 weeks. The card does not show the stock count or the 98 wk against 26 wk comparison."/>
          <p:cNvPicPr>
            <a:picLocks noChangeAspect="1"/>
          </p:cNvPicPr>
          <p:nvPr/>
        </p:nvPicPr>
        <p:blipFill>
          <a:blip r:embed="rId8"/>
          <a:stretch>
            <a:fillRect/>
          </a:stretch>
        </p:blipFill>
        <p:spPr>
          <a:xfrm>
            <a:off x="356616" y="2956941"/>
            <a:ext cx="2688336" cy="1512189"/>
          </a:xfrm>
          <a:prstGeom prst="rect">
            <a:avLst/>
          </a:prstGeom>
          <a:ln w="9525">
            <a:solidFill>
              <a:srgbClr val="DADCE0"/>
            </a:solidFill>
          </a:ln>
        </p:spPr>
      </p:pic>
      <p:sp>
        <p:nvSpPr>
          <p:cNvPr id="146"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47"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pic>
        <p:nvPicPr>
          <p:cNvPr id="148" name="screenshot s11-5-what-if-200kw" descr="What-if at 200 kW per rack. Impact chain lit rack → busway → board → transformer (power colour) and rack → zone → CDU (cooling colour); counters &quot;60 findings · 18 impact chains&quot;."/>
          <p:cNvPicPr>
            <a:picLocks noChangeAspect="1"/>
          </p:cNvPicPr>
          <p:nvPr/>
        </p:nvPicPr>
        <p:blipFill>
          <a:blip r:embed="rId9"/>
          <a:stretch>
            <a:fillRect/>
          </a:stretch>
        </p:blipFill>
        <p:spPr>
          <a:xfrm>
            <a:off x="3227832" y="2956941"/>
            <a:ext cx="2688336" cy="1512189"/>
          </a:xfrm>
          <a:prstGeom prst="rect">
            <a:avLst/>
          </a:prstGeom>
          <a:ln w="9525">
            <a:solidFill>
              <a:srgbClr val="DADCE0"/>
            </a:solidFill>
          </a:ln>
        </p:spPr>
      </p:pic>
      <p:sp>
        <p:nvSpPr>
          <p:cNvPr id="149"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50"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pic>
        <p:nvPicPr>
          <p:cNvPr id="151" name="screenshot s11-6-review-approved" descr="Review page after approval, of the recorded Hall A run. Diff, ledger with its &quot;not checked&quot; list, stamp &quot;Priya Raman · Lead Electrical Engineer (Reviewer) · time · revision hash&quot; (a live approval would read &quot;You (Demo Reviewer)&quot;)."/>
          <p:cNvPicPr>
            <a:picLocks noChangeAspect="1"/>
          </p:cNvPicPr>
          <p:nvPr/>
        </p:nvPicPr>
        <p:blipFill>
          <a:blip r:embed="rId10"/>
          <a:stretch>
            <a:fillRect/>
          </a:stretch>
        </p:blipFill>
        <p:spPr>
          <a:xfrm>
            <a:off x="6099048" y="2956941"/>
            <a:ext cx="2688336" cy="1512189"/>
          </a:xfrm>
          <a:prstGeom prst="rect">
            <a:avLst/>
          </a:prstGeom>
          <a:ln w="9525">
            <a:solidFill>
              <a:srgbClr val="DADCE0"/>
            </a:solidFill>
          </a:ln>
        </p:spPr>
      </p:pic>
      <p:sp>
        <p:nvSpPr>
          <p:cNvPr id="152"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53"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5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pic>
        <p:nvPicPr>
          <p:cNvPr id="160" name="screenshot s12-compliance-matrix-first-pass" descr="Compliance matrix at the end of the first pass. Counter &quot;149 checks · 147 pass · 2 fail&quot; with the two red cells (R05 FA-01, R11 H-Z2)."/>
          <p:cNvPicPr>
            <a:picLocks noChangeAspect="1"/>
          </p:cNvPicPr>
          <p:nvPr/>
        </p:nvPicPr>
        <p:blipFill>
          <a:blip r:embed="rId9"/>
          <a:stretch>
            <a:fillRect/>
          </a:stretch>
        </p:blipFill>
        <p:spPr>
          <a:xfrm>
            <a:off x="356616" y="2487168"/>
            <a:ext cx="3950208" cy="2221992"/>
          </a:xfrm>
          <a:prstGeom prst="rect">
            <a:avLst/>
          </a:prstGeom>
          <a:ln w="9525">
            <a:solidFill>
              <a:srgbClr val="DADCE0"/>
            </a:solidFill>
          </a:ln>
        </p:spPr>
      </p:pic>
      <p:sp>
        <p:nvSpPr>
          <p:cNvPr id="161"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2"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3"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4"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5"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00" b="0" lang="en-GB">
                <a:solidFill>
                  <a:srgbClr val="3C4043"/>
                </a:solidFill>
                <a:latin typeface="Google Sans Flex"/>
              </a:rPr>
              <a:t>Real Gmail, SAP and Salesforce connectors, client replies kept in the project,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pic>
        <p:nvPicPr>
          <p:cNvPr id="164" name="screenshot s13-grid-pack" descr="Grid pack. The 132 kV route drawn as a line (drawn geometry, not a basemap), the conductor comparison table, mini SLD."/>
          <p:cNvPicPr>
            <a:picLocks noChangeAspect="1"/>
          </p:cNvPicPr>
          <p:nvPr/>
        </p:nvPicPr>
        <p:blipFill>
          <a:blip r:embed="rId8"/>
          <a:stretch>
            <a:fillRect/>
          </a:stretch>
        </p:blipFill>
        <p:spPr>
          <a:xfrm>
            <a:off x="362204" y="2395728"/>
            <a:ext cx="4112768" cy="2313432"/>
          </a:xfrm>
          <a:prstGeom prst="rect">
            <a:avLst/>
          </a:prstGeom>
          <a:ln w="9525">
            <a:solidFill>
              <a:srgbClr val="DADCE0"/>
            </a:solidFill>
          </a:ln>
        </p:spPr>
      </p:pic>
      <p:pic>
        <p:nvPicPr>
          <p:cNvPr id="165" name="screenshot s13-solar-pack" descr="Solar pack. Field layout with tables; card &quot;STR-28 recommended · 327 tables · ~5,036 kWp · DC/AC 1.26 · clear-sky yield ~2,639 kWh/kWp (clear-sky only)&quot;."/>
          <p:cNvPicPr>
            <a:picLocks noChangeAspect="1"/>
          </p:cNvPicPr>
          <p:nvPr/>
        </p:nvPicPr>
        <p:blipFill>
          <a:blip r:embed="rId9"/>
          <a:stretch>
            <a:fillRect/>
          </a:stretch>
        </p:blipFill>
        <p:spPr>
          <a:xfrm>
            <a:off x="4669028" y="2395728"/>
            <a:ext cx="4112768" cy="2313432"/>
          </a:xfrm>
          <a:prstGeom prst="rect">
            <a:avLst/>
          </a:prstGeom>
          <a:ln w="9525">
            <a:solidFill>
              <a:srgbClr val="DADCE0"/>
            </a:solidFill>
          </a:ln>
        </p:spPr>
      </p:pic>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6">
                  <a:extLst>
                    <a:ext uri="{A12FA001-AC4F-418D-AE19-62706E023703}">
                      <ahyp:hlinkClr val="tx"/>
                    </a:ext>
                  </a:extLst>
                </a:hlinkClick>
              </a:rPr>
              <a:t>https://github.com/mehular0ra/kirchhoff</a:t>
            </a:r>
          </a:p>
        </p:txBody>
      </p:sp>
      <p:pic>
        <p:nvPicPr>
          <p:cNvPr id="165" name="QR GitHub Public Repository" descr="image.png"/>
          <p:cNvPicPr>
            <a:picLocks noChangeAspect="1"/>
          </p:cNvPicPr>
          <p:nvPr/>
        </p:nvPicPr>
        <p:blipFill>
          <a:blip r:embed="rId7"/>
          <a:stretch>
            <a:fillRect/>
          </a:stretch>
        </p:blipFill>
        <p:spPr>
          <a:xfrm>
            <a:off x="7781544" y="1261872"/>
            <a:ext cx="822960" cy="822960"/>
          </a:xfrm>
          <a:prstGeom prst="rect">
            <a:avLst/>
          </a:prstGeom>
        </p:spPr>
      </p:pic>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8"/>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9">
                  <a:extLst>
                    <a:ext uri="{A12FA001-AC4F-418D-AE19-62706E023703}">
                      <ahyp:hlinkClr val="tx"/>
                    </a:ext>
                  </a:extLst>
                </a:hlinkClick>
              </a:rPr>
              <a:t>https://youtu.be/lSz7jH-CUuM</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3:33)</a:t>
            </a:r>
          </a:p>
        </p:txBody>
      </p:sp>
      <p:pic>
        <p:nvPicPr>
          <p:cNvPr id="172" name="QR Demo Video Link (3 Minutes)" descr="image.png"/>
          <p:cNvPicPr>
            <a:picLocks noChangeAspect="1"/>
          </p:cNvPicPr>
          <p:nvPr/>
        </p:nvPicPr>
        <p:blipFill>
          <a:blip r:embed="rId10"/>
          <a:stretch>
            <a:fillRect/>
          </a:stretch>
        </p:blipFill>
        <p:spPr>
          <a:xfrm>
            <a:off x="7781544" y="2450592"/>
            <a:ext cx="822960" cy="822960"/>
          </a:xfrm>
          <a:prstGeom prst="rect">
            <a:avLst/>
          </a:prstGeom>
        </p:spPr>
      </p:pic>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11"/>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12">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13"/>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69" name="photo Jayadratha Gayen" descr="jayadratha.jpg"/>
          <p:cNvPicPr>
            <a:picLocks noChangeAspect="1"/>
          </p:cNvPicPr>
          <p:nvPr/>
        </p:nvPicPr>
        <p:blipFill>
          <a:blip r:embed="rId5"/>
          <a:srcRect/>
          <a:stretch>
            <a:fillRect/>
          </a:stretch>
        </p:blipFill>
        <p:spPr>
          <a:xfrm>
            <a:off x="585216" y="1408176"/>
            <a:ext cx="1371600" cy="1371600"/>
          </a:xfrm>
          <a:prstGeom prst="ellipse">
            <a:avLst/>
          </a:prstGeom>
        </p:spPr>
      </p:pic>
      <p:sp>
        <p:nvSpPr>
          <p:cNvPr id="170"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 Gayen</a:t>
            </a:r>
          </a:p>
        </p:txBody>
      </p:sp>
      <p:sp>
        <p:nvSpPr>
          <p:cNvPr id="171" name="person role"/>
          <p:cNvSpPr txBox="1"/>
          <p:nvPr/>
        </p:nvSpPr>
        <p:spPr>
          <a:xfrm>
            <a:off x="2231136"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Team leader. </a:t>
            </a:r>
            <a:r>
              <a:rPr sz="950" b="0" lang="en-GB">
                <a:solidFill>
                  <a:srgbClr val="3C4043"/>
                </a:solidFill>
                <a:latin typeface="Google Sans Flex"/>
              </a:rPr>
              <a:t>AI researcher and former electrical engineer (IIEST Shibpur, Vikram Solar) with an MS by Research in graph ML, IIIT Hyderabad; built the bids inbox, asset agent and test suite, ran cloud</a:t>
            </a:r>
          </a:p>
        </p:txBody>
      </p:sp>
      <p:sp>
        <p:nvSpPr>
          <p:cNvPr id="172"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73" name="photo Mehul Arora" descr="mehul.jpg"/>
          <p:cNvPicPr>
            <a:picLocks noChangeAspect="1"/>
          </p:cNvPicPr>
          <p:nvPr/>
        </p:nvPicPr>
        <p:blipFill>
          <a:blip r:embed="rId6"/>
          <a:srcRect/>
          <a:stretch>
            <a:fillRect/>
          </a:stretch>
        </p:blipFill>
        <p:spPr>
          <a:xfrm>
            <a:off x="4937760" y="1408176"/>
            <a:ext cx="1371600" cy="1371600"/>
          </a:xfrm>
          <a:prstGeom prst="ellipse">
            <a:avLst/>
          </a:prstGeom>
        </p:spPr>
      </p:pic>
      <p:sp>
        <p:nvSpPr>
          <p:cNvPr id="174"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5" name="person role"/>
          <p:cNvSpPr txBox="1"/>
          <p:nvPr/>
        </p:nvSpPr>
        <p:spPr>
          <a:xfrm>
            <a:off x="6583680" y="1956816"/>
            <a:ext cx="2020824" cy="91440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engineer · built Kirchhoff's agents, engine and app; builds production multi-agent systems on Gemini and Google ADK; MS by Research in ML, IIIT Hyderabad</a:t>
            </a:r>
          </a:p>
        </p:txBody>
      </p:sp>
      <p:sp>
        <p:nvSpPr>
          <p:cNvPr id="176"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77"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78"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79"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2026-10-17T00:00:00Z</dcterms:modified>
  <dc:creator>Team Ordinal</dc:creator>
  <dc:subject>AI Builder Cup 2026 submission</dc:subject>
  <cp:keywords/>
  <dc:description/>
  <dcterms:created xsi:type="dcterms:W3CDTF">2026-10-17T00:00:00Z</dcterms:created>
</cp:coreProperties>
</file>